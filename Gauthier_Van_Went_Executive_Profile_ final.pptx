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74" d="100"/>
          <a:sy n="74" d="100"/>
        </p:scale>
        <p:origin x="3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uthier VAN WENT" userId="506346ea562c8fed" providerId="LiveId" clId="{BBB84BDE-02F1-4FBB-B4BA-1EA560048CA1}"/>
    <pc:docChg chg="undo custSel modSld">
      <pc:chgData name="Gauthier VAN WENT" userId="506346ea562c8fed" providerId="LiveId" clId="{BBB84BDE-02F1-4FBB-B4BA-1EA560048CA1}" dt="2026-05-11T15:20:20.295" v="610" actId="20577"/>
      <pc:docMkLst>
        <pc:docMk/>
      </pc:docMkLst>
      <pc:sldChg chg="modSp mod">
        <pc:chgData name="Gauthier VAN WENT" userId="506346ea562c8fed" providerId="LiveId" clId="{BBB84BDE-02F1-4FBB-B4BA-1EA560048CA1}" dt="2026-05-11T15:09:01.546" v="160" actId="1036"/>
        <pc:sldMkLst>
          <pc:docMk/>
          <pc:sldMk cId="0" sldId="258"/>
        </pc:sldMkLst>
        <pc:spChg chg="mod">
          <ac:chgData name="Gauthier VAN WENT" userId="506346ea562c8fed" providerId="LiveId" clId="{BBB84BDE-02F1-4FBB-B4BA-1EA560048CA1}" dt="2026-05-11T15:09:01.546" v="160" actId="1036"/>
          <ac:spMkLst>
            <pc:docMk/>
            <pc:sldMk cId="0" sldId="258"/>
            <ac:spMk id="12" creationId="{00000000-0000-0000-0000-000000000000}"/>
          </ac:spMkLst>
        </pc:spChg>
        <pc:spChg chg="mod">
          <ac:chgData name="Gauthier VAN WENT" userId="506346ea562c8fed" providerId="LiveId" clId="{BBB84BDE-02F1-4FBB-B4BA-1EA560048CA1}" dt="2026-05-11T15:09:01.546" v="160" actId="1036"/>
          <ac:spMkLst>
            <pc:docMk/>
            <pc:sldMk cId="0" sldId="258"/>
            <ac:spMk id="13" creationId="{00000000-0000-0000-0000-000000000000}"/>
          </ac:spMkLst>
        </pc:spChg>
        <pc:spChg chg="mod">
          <ac:chgData name="Gauthier VAN WENT" userId="506346ea562c8fed" providerId="LiveId" clId="{BBB84BDE-02F1-4FBB-B4BA-1EA560048CA1}" dt="2026-05-11T15:09:01.546" v="160" actId="1036"/>
          <ac:spMkLst>
            <pc:docMk/>
            <pc:sldMk cId="0" sldId="258"/>
            <ac:spMk id="14" creationId="{00000000-0000-0000-0000-000000000000}"/>
          </ac:spMkLst>
        </pc:spChg>
        <pc:spChg chg="mod">
          <ac:chgData name="Gauthier VAN WENT" userId="506346ea562c8fed" providerId="LiveId" clId="{BBB84BDE-02F1-4FBB-B4BA-1EA560048CA1}" dt="2026-05-11T15:09:01.546" v="160" actId="1036"/>
          <ac:spMkLst>
            <pc:docMk/>
            <pc:sldMk cId="0" sldId="258"/>
            <ac:spMk id="15" creationId="{00000000-0000-0000-0000-000000000000}"/>
          </ac:spMkLst>
        </pc:spChg>
        <pc:spChg chg="mod">
          <ac:chgData name="Gauthier VAN WENT" userId="506346ea562c8fed" providerId="LiveId" clId="{BBB84BDE-02F1-4FBB-B4BA-1EA560048CA1}" dt="2026-05-11T15:09:01.546" v="160" actId="1036"/>
          <ac:spMkLst>
            <pc:docMk/>
            <pc:sldMk cId="0" sldId="258"/>
            <ac:spMk id="17" creationId="{00000000-0000-0000-0000-000000000000}"/>
          </ac:spMkLst>
        </pc:spChg>
        <pc:spChg chg="mod">
          <ac:chgData name="Gauthier VAN WENT" userId="506346ea562c8fed" providerId="LiveId" clId="{BBB84BDE-02F1-4FBB-B4BA-1EA560048CA1}" dt="2026-05-11T15:09:01.546" v="160" actId="1036"/>
          <ac:spMkLst>
            <pc:docMk/>
            <pc:sldMk cId="0" sldId="258"/>
            <ac:spMk id="19" creationId="{00000000-0000-0000-0000-000000000000}"/>
          </ac:spMkLst>
        </pc:spChg>
        <pc:spChg chg="mod">
          <ac:chgData name="Gauthier VAN WENT" userId="506346ea562c8fed" providerId="LiveId" clId="{BBB84BDE-02F1-4FBB-B4BA-1EA560048CA1}" dt="2026-05-11T15:09:01.546" v="160" actId="1036"/>
          <ac:spMkLst>
            <pc:docMk/>
            <pc:sldMk cId="0" sldId="258"/>
            <ac:spMk id="23" creationId="{00000000-0000-0000-0000-000000000000}"/>
          </ac:spMkLst>
        </pc:spChg>
        <pc:spChg chg="mod">
          <ac:chgData name="Gauthier VAN WENT" userId="506346ea562c8fed" providerId="LiveId" clId="{BBB84BDE-02F1-4FBB-B4BA-1EA560048CA1}" dt="2026-05-11T15:09:01.546" v="160" actId="1036"/>
          <ac:spMkLst>
            <pc:docMk/>
            <pc:sldMk cId="0" sldId="258"/>
            <ac:spMk id="24" creationId="{00000000-0000-0000-0000-000000000000}"/>
          </ac:spMkLst>
        </pc:spChg>
        <pc:spChg chg="mod">
          <ac:chgData name="Gauthier VAN WENT" userId="506346ea562c8fed" providerId="LiveId" clId="{BBB84BDE-02F1-4FBB-B4BA-1EA560048CA1}" dt="2026-05-11T15:09:01.546" v="160" actId="1036"/>
          <ac:spMkLst>
            <pc:docMk/>
            <pc:sldMk cId="0" sldId="258"/>
            <ac:spMk id="31" creationId="{00000000-0000-0000-0000-000000000000}"/>
          </ac:spMkLst>
        </pc:spChg>
        <pc:spChg chg="mod">
          <ac:chgData name="Gauthier VAN WENT" userId="506346ea562c8fed" providerId="LiveId" clId="{BBB84BDE-02F1-4FBB-B4BA-1EA560048CA1}" dt="2026-05-11T15:09:01.546" v="160" actId="1036"/>
          <ac:spMkLst>
            <pc:docMk/>
            <pc:sldMk cId="0" sldId="258"/>
            <ac:spMk id="35" creationId="{00000000-0000-0000-0000-000000000000}"/>
          </ac:spMkLst>
        </pc:spChg>
      </pc:sldChg>
      <pc:sldChg chg="modSp mod">
        <pc:chgData name="Gauthier VAN WENT" userId="506346ea562c8fed" providerId="LiveId" clId="{BBB84BDE-02F1-4FBB-B4BA-1EA560048CA1}" dt="2026-05-11T15:09:45.622" v="199" actId="1035"/>
        <pc:sldMkLst>
          <pc:docMk/>
          <pc:sldMk cId="0" sldId="259"/>
        </pc:sldMkLst>
        <pc:spChg chg="mod">
          <ac:chgData name="Gauthier VAN WENT" userId="506346ea562c8fed" providerId="LiveId" clId="{BBB84BDE-02F1-4FBB-B4BA-1EA560048CA1}" dt="2026-05-11T15:09:45.622" v="199" actId="1035"/>
          <ac:spMkLst>
            <pc:docMk/>
            <pc:sldMk cId="0" sldId="259"/>
            <ac:spMk id="12" creationId="{00000000-0000-0000-0000-000000000000}"/>
          </ac:spMkLst>
        </pc:spChg>
        <pc:spChg chg="mod">
          <ac:chgData name="Gauthier VAN WENT" userId="506346ea562c8fed" providerId="LiveId" clId="{BBB84BDE-02F1-4FBB-B4BA-1EA560048CA1}" dt="2026-05-11T15:09:45.622" v="199" actId="1035"/>
          <ac:spMkLst>
            <pc:docMk/>
            <pc:sldMk cId="0" sldId="259"/>
            <ac:spMk id="17" creationId="{00000000-0000-0000-0000-000000000000}"/>
          </ac:spMkLst>
        </pc:spChg>
        <pc:spChg chg="mod">
          <ac:chgData name="Gauthier VAN WENT" userId="506346ea562c8fed" providerId="LiveId" clId="{BBB84BDE-02F1-4FBB-B4BA-1EA560048CA1}" dt="2026-05-11T15:09:45.622" v="199" actId="1035"/>
          <ac:spMkLst>
            <pc:docMk/>
            <pc:sldMk cId="0" sldId="259"/>
            <ac:spMk id="21" creationId="{00000000-0000-0000-0000-000000000000}"/>
          </ac:spMkLst>
        </pc:spChg>
        <pc:spChg chg="mod">
          <ac:chgData name="Gauthier VAN WENT" userId="506346ea562c8fed" providerId="LiveId" clId="{BBB84BDE-02F1-4FBB-B4BA-1EA560048CA1}" dt="2026-05-11T15:09:45.622" v="199" actId="1035"/>
          <ac:spMkLst>
            <pc:docMk/>
            <pc:sldMk cId="0" sldId="259"/>
            <ac:spMk id="23" creationId="{00000000-0000-0000-0000-000000000000}"/>
          </ac:spMkLst>
        </pc:spChg>
        <pc:spChg chg="mod">
          <ac:chgData name="Gauthier VAN WENT" userId="506346ea562c8fed" providerId="LiveId" clId="{BBB84BDE-02F1-4FBB-B4BA-1EA560048CA1}" dt="2026-05-11T15:09:45.622" v="199" actId="1035"/>
          <ac:spMkLst>
            <pc:docMk/>
            <pc:sldMk cId="0" sldId="259"/>
            <ac:spMk id="24" creationId="{00000000-0000-0000-0000-000000000000}"/>
          </ac:spMkLst>
        </pc:spChg>
        <pc:spChg chg="mod">
          <ac:chgData name="Gauthier VAN WENT" userId="506346ea562c8fed" providerId="LiveId" clId="{BBB84BDE-02F1-4FBB-B4BA-1EA560048CA1}" dt="2026-05-11T15:09:45.622" v="199" actId="1035"/>
          <ac:spMkLst>
            <pc:docMk/>
            <pc:sldMk cId="0" sldId="259"/>
            <ac:spMk id="25" creationId="{00000000-0000-0000-0000-000000000000}"/>
          </ac:spMkLst>
        </pc:spChg>
        <pc:spChg chg="mod">
          <ac:chgData name="Gauthier VAN WENT" userId="506346ea562c8fed" providerId="LiveId" clId="{BBB84BDE-02F1-4FBB-B4BA-1EA560048CA1}" dt="2026-05-11T15:09:45.622" v="199" actId="1035"/>
          <ac:spMkLst>
            <pc:docMk/>
            <pc:sldMk cId="0" sldId="259"/>
            <ac:spMk id="33" creationId="{00000000-0000-0000-0000-000000000000}"/>
          </ac:spMkLst>
        </pc:spChg>
        <pc:spChg chg="mod">
          <ac:chgData name="Gauthier VAN WENT" userId="506346ea562c8fed" providerId="LiveId" clId="{BBB84BDE-02F1-4FBB-B4BA-1EA560048CA1}" dt="2026-05-11T15:09:45.622" v="199" actId="1035"/>
          <ac:spMkLst>
            <pc:docMk/>
            <pc:sldMk cId="0" sldId="259"/>
            <ac:spMk id="34" creationId="{00000000-0000-0000-0000-000000000000}"/>
          </ac:spMkLst>
        </pc:spChg>
        <pc:spChg chg="mod">
          <ac:chgData name="Gauthier VAN WENT" userId="506346ea562c8fed" providerId="LiveId" clId="{BBB84BDE-02F1-4FBB-B4BA-1EA560048CA1}" dt="2026-05-11T15:09:45.622" v="199" actId="1035"/>
          <ac:spMkLst>
            <pc:docMk/>
            <pc:sldMk cId="0" sldId="259"/>
            <ac:spMk id="40" creationId="{00000000-0000-0000-0000-000000000000}"/>
          </ac:spMkLst>
        </pc:spChg>
        <pc:spChg chg="mod">
          <ac:chgData name="Gauthier VAN WENT" userId="506346ea562c8fed" providerId="LiveId" clId="{BBB84BDE-02F1-4FBB-B4BA-1EA560048CA1}" dt="2026-05-11T15:09:45.622" v="199" actId="1035"/>
          <ac:spMkLst>
            <pc:docMk/>
            <pc:sldMk cId="0" sldId="259"/>
            <ac:spMk id="41" creationId="{00000000-0000-0000-0000-000000000000}"/>
          </ac:spMkLst>
        </pc:spChg>
        <pc:spChg chg="mod">
          <ac:chgData name="Gauthier VAN WENT" userId="506346ea562c8fed" providerId="LiveId" clId="{BBB84BDE-02F1-4FBB-B4BA-1EA560048CA1}" dt="2026-05-11T15:09:39.220" v="195" actId="1036"/>
          <ac:spMkLst>
            <pc:docMk/>
            <pc:sldMk cId="0" sldId="259"/>
            <ac:spMk id="44" creationId="{00000000-0000-0000-0000-000000000000}"/>
          </ac:spMkLst>
        </pc:spChg>
        <pc:spChg chg="mod">
          <ac:chgData name="Gauthier VAN WENT" userId="506346ea562c8fed" providerId="LiveId" clId="{BBB84BDE-02F1-4FBB-B4BA-1EA560048CA1}" dt="2026-05-11T15:09:39.220" v="195" actId="1036"/>
          <ac:spMkLst>
            <pc:docMk/>
            <pc:sldMk cId="0" sldId="259"/>
            <ac:spMk id="45" creationId="{00000000-0000-0000-0000-000000000000}"/>
          </ac:spMkLst>
        </pc:spChg>
        <pc:spChg chg="mod">
          <ac:chgData name="Gauthier VAN WENT" userId="506346ea562c8fed" providerId="LiveId" clId="{BBB84BDE-02F1-4FBB-B4BA-1EA560048CA1}" dt="2026-05-11T15:09:39.220" v="195" actId="1036"/>
          <ac:spMkLst>
            <pc:docMk/>
            <pc:sldMk cId="0" sldId="259"/>
            <ac:spMk id="46" creationId="{00000000-0000-0000-0000-000000000000}"/>
          </ac:spMkLst>
        </pc:spChg>
        <pc:spChg chg="mod">
          <ac:chgData name="Gauthier VAN WENT" userId="506346ea562c8fed" providerId="LiveId" clId="{BBB84BDE-02F1-4FBB-B4BA-1EA560048CA1}" dt="2026-05-11T15:09:39.220" v="195" actId="1036"/>
          <ac:spMkLst>
            <pc:docMk/>
            <pc:sldMk cId="0" sldId="259"/>
            <ac:spMk id="48" creationId="{00000000-0000-0000-0000-000000000000}"/>
          </ac:spMkLst>
        </pc:spChg>
        <pc:spChg chg="mod">
          <ac:chgData name="Gauthier VAN WENT" userId="506346ea562c8fed" providerId="LiveId" clId="{BBB84BDE-02F1-4FBB-B4BA-1EA560048CA1}" dt="2026-05-11T15:09:39.220" v="195" actId="1036"/>
          <ac:spMkLst>
            <pc:docMk/>
            <pc:sldMk cId="0" sldId="259"/>
            <ac:spMk id="49" creationId="{00000000-0000-0000-0000-000000000000}"/>
          </ac:spMkLst>
        </pc:spChg>
        <pc:spChg chg="mod">
          <ac:chgData name="Gauthier VAN WENT" userId="506346ea562c8fed" providerId="LiveId" clId="{BBB84BDE-02F1-4FBB-B4BA-1EA560048CA1}" dt="2026-05-11T15:09:39.220" v="195" actId="1036"/>
          <ac:spMkLst>
            <pc:docMk/>
            <pc:sldMk cId="0" sldId="259"/>
            <ac:spMk id="52" creationId="{00000000-0000-0000-0000-000000000000}"/>
          </ac:spMkLst>
        </pc:spChg>
        <pc:spChg chg="mod">
          <ac:chgData name="Gauthier VAN WENT" userId="506346ea562c8fed" providerId="LiveId" clId="{BBB84BDE-02F1-4FBB-B4BA-1EA560048CA1}" dt="2026-05-11T15:09:39.220" v="195" actId="1036"/>
          <ac:spMkLst>
            <pc:docMk/>
            <pc:sldMk cId="0" sldId="259"/>
            <ac:spMk id="53" creationId="{00000000-0000-0000-0000-000000000000}"/>
          </ac:spMkLst>
        </pc:spChg>
        <pc:spChg chg="mod">
          <ac:chgData name="Gauthier VAN WENT" userId="506346ea562c8fed" providerId="LiveId" clId="{BBB84BDE-02F1-4FBB-B4BA-1EA560048CA1}" dt="2026-05-11T15:09:31.466" v="185" actId="1036"/>
          <ac:spMkLst>
            <pc:docMk/>
            <pc:sldMk cId="0" sldId="259"/>
            <ac:spMk id="54" creationId="{00000000-0000-0000-0000-000000000000}"/>
          </ac:spMkLst>
        </pc:spChg>
        <pc:spChg chg="mod">
          <ac:chgData name="Gauthier VAN WENT" userId="506346ea562c8fed" providerId="LiveId" clId="{BBB84BDE-02F1-4FBB-B4BA-1EA560048CA1}" dt="2026-05-11T15:09:39.220" v="195" actId="1036"/>
          <ac:spMkLst>
            <pc:docMk/>
            <pc:sldMk cId="0" sldId="259"/>
            <ac:spMk id="55" creationId="{00000000-0000-0000-0000-000000000000}"/>
          </ac:spMkLst>
        </pc:spChg>
        <pc:spChg chg="mod">
          <ac:chgData name="Gauthier VAN WENT" userId="506346ea562c8fed" providerId="LiveId" clId="{BBB84BDE-02F1-4FBB-B4BA-1EA560048CA1}" dt="2026-05-11T15:09:31.466" v="185" actId="1036"/>
          <ac:spMkLst>
            <pc:docMk/>
            <pc:sldMk cId="0" sldId="259"/>
            <ac:spMk id="56" creationId="{00000000-0000-0000-0000-000000000000}"/>
          </ac:spMkLst>
        </pc:spChg>
        <pc:spChg chg="mod">
          <ac:chgData name="Gauthier VAN WENT" userId="506346ea562c8fed" providerId="LiveId" clId="{BBB84BDE-02F1-4FBB-B4BA-1EA560048CA1}" dt="2026-05-11T15:09:31.466" v="185" actId="1036"/>
          <ac:spMkLst>
            <pc:docMk/>
            <pc:sldMk cId="0" sldId="259"/>
            <ac:spMk id="57" creationId="{00000000-0000-0000-0000-000000000000}"/>
          </ac:spMkLst>
        </pc:spChg>
        <pc:spChg chg="mod">
          <ac:chgData name="Gauthier VAN WENT" userId="506346ea562c8fed" providerId="LiveId" clId="{BBB84BDE-02F1-4FBB-B4BA-1EA560048CA1}" dt="2026-05-11T15:09:31.466" v="185" actId="1036"/>
          <ac:spMkLst>
            <pc:docMk/>
            <pc:sldMk cId="0" sldId="259"/>
            <ac:spMk id="58" creationId="{00000000-0000-0000-0000-000000000000}"/>
          </ac:spMkLst>
        </pc:spChg>
        <pc:spChg chg="mod">
          <ac:chgData name="Gauthier VAN WENT" userId="506346ea562c8fed" providerId="LiveId" clId="{BBB84BDE-02F1-4FBB-B4BA-1EA560048CA1}" dt="2026-05-11T15:09:32.877" v="187" actId="1036"/>
          <ac:spMkLst>
            <pc:docMk/>
            <pc:sldMk cId="0" sldId="259"/>
            <ac:spMk id="59" creationId="{00000000-0000-0000-0000-000000000000}"/>
          </ac:spMkLst>
        </pc:spChg>
        <pc:spChg chg="mod">
          <ac:chgData name="Gauthier VAN WENT" userId="506346ea562c8fed" providerId="LiveId" clId="{BBB84BDE-02F1-4FBB-B4BA-1EA560048CA1}" dt="2026-05-11T15:09:32.877" v="187" actId="1036"/>
          <ac:spMkLst>
            <pc:docMk/>
            <pc:sldMk cId="0" sldId="259"/>
            <ac:spMk id="60" creationId="{00000000-0000-0000-0000-000000000000}"/>
          </ac:spMkLst>
        </pc:spChg>
        <pc:spChg chg="mod">
          <ac:chgData name="Gauthier VAN WENT" userId="506346ea562c8fed" providerId="LiveId" clId="{BBB84BDE-02F1-4FBB-B4BA-1EA560048CA1}" dt="2026-05-11T15:09:32.877" v="187" actId="1036"/>
          <ac:spMkLst>
            <pc:docMk/>
            <pc:sldMk cId="0" sldId="259"/>
            <ac:spMk id="61" creationId="{00000000-0000-0000-0000-000000000000}"/>
          </ac:spMkLst>
        </pc:spChg>
        <pc:spChg chg="mod">
          <ac:chgData name="Gauthier VAN WENT" userId="506346ea562c8fed" providerId="LiveId" clId="{BBB84BDE-02F1-4FBB-B4BA-1EA560048CA1}" dt="2026-05-11T15:09:39.220" v="195" actId="1036"/>
          <ac:spMkLst>
            <pc:docMk/>
            <pc:sldMk cId="0" sldId="259"/>
            <ac:spMk id="62" creationId="{00000000-0000-0000-0000-000000000000}"/>
          </ac:spMkLst>
        </pc:spChg>
        <pc:spChg chg="mod">
          <ac:chgData name="Gauthier VAN WENT" userId="506346ea562c8fed" providerId="LiveId" clId="{BBB84BDE-02F1-4FBB-B4BA-1EA560048CA1}" dt="2026-05-11T15:09:39.220" v="195" actId="1036"/>
          <ac:spMkLst>
            <pc:docMk/>
            <pc:sldMk cId="0" sldId="259"/>
            <ac:spMk id="63" creationId="{00000000-0000-0000-0000-000000000000}"/>
          </ac:spMkLst>
        </pc:spChg>
      </pc:sldChg>
      <pc:sldChg chg="modSp mod">
        <pc:chgData name="Gauthier VAN WENT" userId="506346ea562c8fed" providerId="LiveId" clId="{BBB84BDE-02F1-4FBB-B4BA-1EA560048CA1}" dt="2026-05-11T15:11:31.788" v="260" actId="20577"/>
        <pc:sldMkLst>
          <pc:docMk/>
          <pc:sldMk cId="0" sldId="260"/>
        </pc:sldMkLst>
        <pc:spChg chg="mod">
          <ac:chgData name="Gauthier VAN WENT" userId="506346ea562c8fed" providerId="LiveId" clId="{BBB84BDE-02F1-4FBB-B4BA-1EA560048CA1}" dt="2026-05-11T14:09:37.581" v="13" actId="20577"/>
          <ac:spMkLst>
            <pc:docMk/>
            <pc:sldMk cId="0" sldId="260"/>
            <ac:spMk id="6" creationId="{00000000-0000-0000-0000-000000000000}"/>
          </ac:spMkLst>
        </pc:spChg>
        <pc:spChg chg="mod">
          <ac:chgData name="Gauthier VAN WENT" userId="506346ea562c8fed" providerId="LiveId" clId="{BBB84BDE-02F1-4FBB-B4BA-1EA560048CA1}" dt="2026-05-11T15:07:07.715" v="91" actId="403"/>
          <ac:spMkLst>
            <pc:docMk/>
            <pc:sldMk cId="0" sldId="260"/>
            <ac:spMk id="10" creationId="{00000000-0000-0000-0000-000000000000}"/>
          </ac:spMkLst>
        </pc:spChg>
        <pc:spChg chg="mod">
          <ac:chgData name="Gauthier VAN WENT" userId="506346ea562c8fed" providerId="LiveId" clId="{BBB84BDE-02F1-4FBB-B4BA-1EA560048CA1}" dt="2026-05-11T15:06:50.590" v="88" actId="113"/>
          <ac:spMkLst>
            <pc:docMk/>
            <pc:sldMk cId="0" sldId="260"/>
            <ac:spMk id="11" creationId="{00000000-0000-0000-0000-000000000000}"/>
          </ac:spMkLst>
        </pc:spChg>
        <pc:spChg chg="mod">
          <ac:chgData name="Gauthier VAN WENT" userId="506346ea562c8fed" providerId="LiveId" clId="{BBB84BDE-02F1-4FBB-B4BA-1EA560048CA1}" dt="2026-05-11T15:07:14.616" v="94" actId="403"/>
          <ac:spMkLst>
            <pc:docMk/>
            <pc:sldMk cId="0" sldId="260"/>
            <ac:spMk id="13" creationId="{00000000-0000-0000-0000-000000000000}"/>
          </ac:spMkLst>
        </pc:spChg>
        <pc:spChg chg="mod">
          <ac:chgData name="Gauthier VAN WENT" userId="506346ea562c8fed" providerId="LiveId" clId="{BBB84BDE-02F1-4FBB-B4BA-1EA560048CA1}" dt="2026-05-11T15:08:53.605" v="159" actId="1036"/>
          <ac:spMkLst>
            <pc:docMk/>
            <pc:sldMk cId="0" sldId="260"/>
            <ac:spMk id="15" creationId="{00000000-0000-0000-0000-000000000000}"/>
          </ac:spMkLst>
        </pc:spChg>
        <pc:spChg chg="mod">
          <ac:chgData name="Gauthier VAN WENT" userId="506346ea562c8fed" providerId="LiveId" clId="{BBB84BDE-02F1-4FBB-B4BA-1EA560048CA1}" dt="2026-05-11T15:10:55.406" v="239" actId="20577"/>
          <ac:spMkLst>
            <pc:docMk/>
            <pc:sldMk cId="0" sldId="260"/>
            <ac:spMk id="17" creationId="{00000000-0000-0000-0000-000000000000}"/>
          </ac:spMkLst>
        </pc:spChg>
        <pc:spChg chg="mod">
          <ac:chgData name="Gauthier VAN WENT" userId="506346ea562c8fed" providerId="LiveId" clId="{BBB84BDE-02F1-4FBB-B4BA-1EA560048CA1}" dt="2026-05-11T15:08:53.605" v="159" actId="1036"/>
          <ac:spMkLst>
            <pc:docMk/>
            <pc:sldMk cId="0" sldId="260"/>
            <ac:spMk id="22" creationId="{00000000-0000-0000-0000-000000000000}"/>
          </ac:spMkLst>
        </pc:spChg>
        <pc:spChg chg="mod">
          <ac:chgData name="Gauthier VAN WENT" userId="506346ea562c8fed" providerId="LiveId" clId="{BBB84BDE-02F1-4FBB-B4BA-1EA560048CA1}" dt="2026-05-11T15:08:53.605" v="159" actId="1036"/>
          <ac:spMkLst>
            <pc:docMk/>
            <pc:sldMk cId="0" sldId="260"/>
            <ac:spMk id="29" creationId="{00000000-0000-0000-0000-000000000000}"/>
          </ac:spMkLst>
        </pc:spChg>
        <pc:spChg chg="mod">
          <ac:chgData name="Gauthier VAN WENT" userId="506346ea562c8fed" providerId="LiveId" clId="{BBB84BDE-02F1-4FBB-B4BA-1EA560048CA1}" dt="2026-05-11T15:08:53.605" v="159" actId="1036"/>
          <ac:spMkLst>
            <pc:docMk/>
            <pc:sldMk cId="0" sldId="260"/>
            <ac:spMk id="32" creationId="{00000000-0000-0000-0000-000000000000}"/>
          </ac:spMkLst>
        </pc:spChg>
        <pc:spChg chg="mod">
          <ac:chgData name="Gauthier VAN WENT" userId="506346ea562c8fed" providerId="LiveId" clId="{BBB84BDE-02F1-4FBB-B4BA-1EA560048CA1}" dt="2026-05-11T15:08:53.605" v="159" actId="1036"/>
          <ac:spMkLst>
            <pc:docMk/>
            <pc:sldMk cId="0" sldId="260"/>
            <ac:spMk id="35" creationId="{00000000-0000-0000-0000-000000000000}"/>
          </ac:spMkLst>
        </pc:spChg>
        <pc:spChg chg="mod">
          <ac:chgData name="Gauthier VAN WENT" userId="506346ea562c8fed" providerId="LiveId" clId="{BBB84BDE-02F1-4FBB-B4BA-1EA560048CA1}" dt="2026-05-11T15:08:53.605" v="159" actId="1036"/>
          <ac:spMkLst>
            <pc:docMk/>
            <pc:sldMk cId="0" sldId="260"/>
            <ac:spMk id="40" creationId="{00000000-0000-0000-0000-000000000000}"/>
          </ac:spMkLst>
        </pc:spChg>
        <pc:spChg chg="mod">
          <ac:chgData name="Gauthier VAN WENT" userId="506346ea562c8fed" providerId="LiveId" clId="{BBB84BDE-02F1-4FBB-B4BA-1EA560048CA1}" dt="2026-05-11T15:08:53.605" v="159" actId="1036"/>
          <ac:spMkLst>
            <pc:docMk/>
            <pc:sldMk cId="0" sldId="260"/>
            <ac:spMk id="41" creationId="{00000000-0000-0000-0000-000000000000}"/>
          </ac:spMkLst>
        </pc:spChg>
        <pc:spChg chg="mod">
          <ac:chgData name="Gauthier VAN WENT" userId="506346ea562c8fed" providerId="LiveId" clId="{BBB84BDE-02F1-4FBB-B4BA-1EA560048CA1}" dt="2026-05-11T15:11:31.788" v="260" actId="20577"/>
          <ac:spMkLst>
            <pc:docMk/>
            <pc:sldMk cId="0" sldId="260"/>
            <ac:spMk id="42" creationId="{00000000-0000-0000-0000-000000000000}"/>
          </ac:spMkLst>
        </pc:spChg>
        <pc:spChg chg="mod">
          <ac:chgData name="Gauthier VAN WENT" userId="506346ea562c8fed" providerId="LiveId" clId="{BBB84BDE-02F1-4FBB-B4BA-1EA560048CA1}" dt="2026-05-11T15:08:53.605" v="159" actId="1036"/>
          <ac:spMkLst>
            <pc:docMk/>
            <pc:sldMk cId="0" sldId="260"/>
            <ac:spMk id="43" creationId="{00000000-0000-0000-0000-000000000000}"/>
          </ac:spMkLst>
        </pc:spChg>
        <pc:spChg chg="mod">
          <ac:chgData name="Gauthier VAN WENT" userId="506346ea562c8fed" providerId="LiveId" clId="{BBB84BDE-02F1-4FBB-B4BA-1EA560048CA1}" dt="2026-05-11T15:08:01.544" v="113" actId="14100"/>
          <ac:spMkLst>
            <pc:docMk/>
            <pc:sldMk cId="0" sldId="260"/>
            <ac:spMk id="44" creationId="{00000000-0000-0000-0000-000000000000}"/>
          </ac:spMkLst>
        </pc:spChg>
        <pc:spChg chg="mod">
          <ac:chgData name="Gauthier VAN WENT" userId="506346ea562c8fed" providerId="LiveId" clId="{BBB84BDE-02F1-4FBB-B4BA-1EA560048CA1}" dt="2026-05-11T15:07:54.498" v="112" actId="1035"/>
          <ac:spMkLst>
            <pc:docMk/>
            <pc:sldMk cId="0" sldId="260"/>
            <ac:spMk id="48" creationId="{00000000-0000-0000-0000-000000000000}"/>
          </ac:spMkLst>
        </pc:spChg>
        <pc:spChg chg="mod">
          <ac:chgData name="Gauthier VAN WENT" userId="506346ea562c8fed" providerId="LiveId" clId="{BBB84BDE-02F1-4FBB-B4BA-1EA560048CA1}" dt="2026-05-11T15:08:12.006" v="117" actId="1035"/>
          <ac:spMkLst>
            <pc:docMk/>
            <pc:sldMk cId="0" sldId="260"/>
            <ac:spMk id="49" creationId="{00000000-0000-0000-0000-000000000000}"/>
          </ac:spMkLst>
        </pc:spChg>
        <pc:spChg chg="mod">
          <ac:chgData name="Gauthier VAN WENT" userId="506346ea562c8fed" providerId="LiveId" clId="{BBB84BDE-02F1-4FBB-B4BA-1EA560048CA1}" dt="2026-05-11T15:08:12.006" v="117" actId="1035"/>
          <ac:spMkLst>
            <pc:docMk/>
            <pc:sldMk cId="0" sldId="260"/>
            <ac:spMk id="50" creationId="{00000000-0000-0000-0000-000000000000}"/>
          </ac:spMkLst>
        </pc:spChg>
        <pc:spChg chg="mod">
          <ac:chgData name="Gauthier VAN WENT" userId="506346ea562c8fed" providerId="LiveId" clId="{BBB84BDE-02F1-4FBB-B4BA-1EA560048CA1}" dt="2026-05-11T15:08:12.006" v="117" actId="1035"/>
          <ac:spMkLst>
            <pc:docMk/>
            <pc:sldMk cId="0" sldId="260"/>
            <ac:spMk id="51" creationId="{00000000-0000-0000-0000-000000000000}"/>
          </ac:spMkLst>
        </pc:spChg>
        <pc:spChg chg="mod">
          <ac:chgData name="Gauthier VAN WENT" userId="506346ea562c8fed" providerId="LiveId" clId="{BBB84BDE-02F1-4FBB-B4BA-1EA560048CA1}" dt="2026-05-11T15:08:12.006" v="117" actId="1035"/>
          <ac:spMkLst>
            <pc:docMk/>
            <pc:sldMk cId="0" sldId="260"/>
            <ac:spMk id="52" creationId="{00000000-0000-0000-0000-000000000000}"/>
          </ac:spMkLst>
        </pc:spChg>
        <pc:spChg chg="mod">
          <ac:chgData name="Gauthier VAN WENT" userId="506346ea562c8fed" providerId="LiveId" clId="{BBB84BDE-02F1-4FBB-B4BA-1EA560048CA1}" dt="2026-05-11T15:08:12.006" v="117" actId="1035"/>
          <ac:spMkLst>
            <pc:docMk/>
            <pc:sldMk cId="0" sldId="260"/>
            <ac:spMk id="53" creationId="{00000000-0000-0000-0000-000000000000}"/>
          </ac:spMkLst>
        </pc:spChg>
        <pc:spChg chg="mod">
          <ac:chgData name="Gauthier VAN WENT" userId="506346ea562c8fed" providerId="LiveId" clId="{BBB84BDE-02F1-4FBB-B4BA-1EA560048CA1}" dt="2026-05-11T15:08:16.664" v="129" actId="1035"/>
          <ac:spMkLst>
            <pc:docMk/>
            <pc:sldMk cId="0" sldId="260"/>
            <ac:spMk id="54" creationId="{00000000-0000-0000-0000-000000000000}"/>
          </ac:spMkLst>
        </pc:spChg>
        <pc:spChg chg="mod">
          <ac:chgData name="Gauthier VAN WENT" userId="506346ea562c8fed" providerId="LiveId" clId="{BBB84BDE-02F1-4FBB-B4BA-1EA560048CA1}" dt="2026-05-11T15:08:16.664" v="129" actId="1035"/>
          <ac:spMkLst>
            <pc:docMk/>
            <pc:sldMk cId="0" sldId="260"/>
            <ac:spMk id="55" creationId="{00000000-0000-0000-0000-000000000000}"/>
          </ac:spMkLst>
        </pc:spChg>
        <pc:spChg chg="mod">
          <ac:chgData name="Gauthier VAN WENT" userId="506346ea562c8fed" providerId="LiveId" clId="{BBB84BDE-02F1-4FBB-B4BA-1EA560048CA1}" dt="2026-05-11T15:08:48.245" v="158" actId="1035"/>
          <ac:spMkLst>
            <pc:docMk/>
            <pc:sldMk cId="0" sldId="260"/>
            <ac:spMk id="56" creationId="{00000000-0000-0000-0000-000000000000}"/>
          </ac:spMkLst>
        </pc:spChg>
        <pc:spChg chg="mod">
          <ac:chgData name="Gauthier VAN WENT" userId="506346ea562c8fed" providerId="LiveId" clId="{BBB84BDE-02F1-4FBB-B4BA-1EA560048CA1}" dt="2026-05-11T15:08:16.664" v="129" actId="1035"/>
          <ac:spMkLst>
            <pc:docMk/>
            <pc:sldMk cId="0" sldId="260"/>
            <ac:spMk id="57" creationId="{00000000-0000-0000-0000-000000000000}"/>
          </ac:spMkLst>
        </pc:spChg>
        <pc:spChg chg="mod">
          <ac:chgData name="Gauthier VAN WENT" userId="506346ea562c8fed" providerId="LiveId" clId="{BBB84BDE-02F1-4FBB-B4BA-1EA560048CA1}" dt="2026-05-11T15:08:16.664" v="129" actId="1035"/>
          <ac:spMkLst>
            <pc:docMk/>
            <pc:sldMk cId="0" sldId="260"/>
            <ac:spMk id="58" creationId="{00000000-0000-0000-0000-000000000000}"/>
          </ac:spMkLst>
        </pc:spChg>
        <pc:spChg chg="mod">
          <ac:chgData name="Gauthier VAN WENT" userId="506346ea562c8fed" providerId="LiveId" clId="{BBB84BDE-02F1-4FBB-B4BA-1EA560048CA1}" dt="2026-05-11T15:08:25.048" v="141" actId="14100"/>
          <ac:spMkLst>
            <pc:docMk/>
            <pc:sldMk cId="0" sldId="260"/>
            <ac:spMk id="59" creationId="{00000000-0000-0000-0000-000000000000}"/>
          </ac:spMkLst>
        </pc:spChg>
        <pc:spChg chg="mod">
          <ac:chgData name="Gauthier VAN WENT" userId="506346ea562c8fed" providerId="LiveId" clId="{BBB84BDE-02F1-4FBB-B4BA-1EA560048CA1}" dt="2026-05-11T15:08:21.291" v="140" actId="1035"/>
          <ac:spMkLst>
            <pc:docMk/>
            <pc:sldMk cId="0" sldId="260"/>
            <ac:spMk id="60" creationId="{00000000-0000-0000-0000-000000000000}"/>
          </ac:spMkLst>
        </pc:spChg>
        <pc:spChg chg="mod">
          <ac:chgData name="Gauthier VAN WENT" userId="506346ea562c8fed" providerId="LiveId" clId="{BBB84BDE-02F1-4FBB-B4BA-1EA560048CA1}" dt="2026-05-11T15:08:21.291" v="140" actId="1035"/>
          <ac:spMkLst>
            <pc:docMk/>
            <pc:sldMk cId="0" sldId="260"/>
            <ac:spMk id="61" creationId="{00000000-0000-0000-0000-000000000000}"/>
          </ac:spMkLst>
        </pc:spChg>
        <pc:spChg chg="mod">
          <ac:chgData name="Gauthier VAN WENT" userId="506346ea562c8fed" providerId="LiveId" clId="{BBB84BDE-02F1-4FBB-B4BA-1EA560048CA1}" dt="2026-05-11T15:08:21.291" v="140" actId="1035"/>
          <ac:spMkLst>
            <pc:docMk/>
            <pc:sldMk cId="0" sldId="260"/>
            <ac:spMk id="62" creationId="{00000000-0000-0000-0000-000000000000}"/>
          </ac:spMkLst>
        </pc:spChg>
        <pc:spChg chg="mod">
          <ac:chgData name="Gauthier VAN WENT" userId="506346ea562c8fed" providerId="LiveId" clId="{BBB84BDE-02F1-4FBB-B4BA-1EA560048CA1}" dt="2026-05-11T15:08:21.291" v="140" actId="1035"/>
          <ac:spMkLst>
            <pc:docMk/>
            <pc:sldMk cId="0" sldId="260"/>
            <ac:spMk id="63" creationId="{00000000-0000-0000-0000-000000000000}"/>
          </ac:spMkLst>
        </pc:spChg>
      </pc:sldChg>
      <pc:sldChg chg="modSp mod">
        <pc:chgData name="Gauthier VAN WENT" userId="506346ea562c8fed" providerId="LiveId" clId="{BBB84BDE-02F1-4FBB-B4BA-1EA560048CA1}" dt="2026-05-11T15:16:31.773" v="457" actId="1036"/>
        <pc:sldMkLst>
          <pc:docMk/>
          <pc:sldMk cId="0" sldId="261"/>
        </pc:sldMkLst>
        <pc:spChg chg="mod">
          <ac:chgData name="Gauthier VAN WENT" userId="506346ea562c8fed" providerId="LiveId" clId="{BBB84BDE-02F1-4FBB-B4BA-1EA560048CA1}" dt="2026-05-11T15:10:36.264" v="204" actId="404"/>
          <ac:spMkLst>
            <pc:docMk/>
            <pc:sldMk cId="0" sldId="261"/>
            <ac:spMk id="10" creationId="{00000000-0000-0000-0000-000000000000}"/>
          </ac:spMkLst>
        </pc:spChg>
        <pc:spChg chg="mod">
          <ac:chgData name="Gauthier VAN WENT" userId="506346ea562c8fed" providerId="LiveId" clId="{BBB84BDE-02F1-4FBB-B4BA-1EA560048CA1}" dt="2026-05-11T15:15:31.126" v="378" actId="403"/>
          <ac:spMkLst>
            <pc:docMk/>
            <pc:sldMk cId="0" sldId="261"/>
            <ac:spMk id="11" creationId="{00000000-0000-0000-0000-000000000000}"/>
          </ac:spMkLst>
        </pc:spChg>
        <pc:spChg chg="mod">
          <ac:chgData name="Gauthier VAN WENT" userId="506346ea562c8fed" providerId="LiveId" clId="{BBB84BDE-02F1-4FBB-B4BA-1EA560048CA1}" dt="2026-05-11T15:16:22.747" v="454" actId="1035"/>
          <ac:spMkLst>
            <pc:docMk/>
            <pc:sldMk cId="0" sldId="261"/>
            <ac:spMk id="12" creationId="{00000000-0000-0000-0000-000000000000}"/>
          </ac:spMkLst>
        </pc:spChg>
        <pc:spChg chg="mod">
          <ac:chgData name="Gauthier VAN WENT" userId="506346ea562c8fed" providerId="LiveId" clId="{BBB84BDE-02F1-4FBB-B4BA-1EA560048CA1}" dt="2026-05-11T15:10:41.072" v="209" actId="404"/>
          <ac:spMkLst>
            <pc:docMk/>
            <pc:sldMk cId="0" sldId="261"/>
            <ac:spMk id="13" creationId="{00000000-0000-0000-0000-000000000000}"/>
          </ac:spMkLst>
        </pc:spChg>
        <pc:spChg chg="mod">
          <ac:chgData name="Gauthier VAN WENT" userId="506346ea562c8fed" providerId="LiveId" clId="{BBB84BDE-02F1-4FBB-B4BA-1EA560048CA1}" dt="2026-05-11T15:16:22.747" v="454" actId="1035"/>
          <ac:spMkLst>
            <pc:docMk/>
            <pc:sldMk cId="0" sldId="261"/>
            <ac:spMk id="15" creationId="{00000000-0000-0000-0000-000000000000}"/>
          </ac:spMkLst>
        </pc:spChg>
        <pc:spChg chg="mod">
          <ac:chgData name="Gauthier VAN WENT" userId="506346ea562c8fed" providerId="LiveId" clId="{BBB84BDE-02F1-4FBB-B4BA-1EA560048CA1}" dt="2026-05-11T15:16:22.747" v="454" actId="1035"/>
          <ac:spMkLst>
            <pc:docMk/>
            <pc:sldMk cId="0" sldId="261"/>
            <ac:spMk id="16" creationId="{00000000-0000-0000-0000-000000000000}"/>
          </ac:spMkLst>
        </pc:spChg>
        <pc:spChg chg="mod">
          <ac:chgData name="Gauthier VAN WENT" userId="506346ea562c8fed" providerId="LiveId" clId="{BBB84BDE-02F1-4FBB-B4BA-1EA560048CA1}" dt="2026-05-11T15:16:22.747" v="454" actId="1035"/>
          <ac:spMkLst>
            <pc:docMk/>
            <pc:sldMk cId="0" sldId="261"/>
            <ac:spMk id="21" creationId="{00000000-0000-0000-0000-000000000000}"/>
          </ac:spMkLst>
        </pc:spChg>
        <pc:spChg chg="mod">
          <ac:chgData name="Gauthier VAN WENT" userId="506346ea562c8fed" providerId="LiveId" clId="{BBB84BDE-02F1-4FBB-B4BA-1EA560048CA1}" dt="2026-05-11T15:16:22.747" v="454" actId="1035"/>
          <ac:spMkLst>
            <pc:docMk/>
            <pc:sldMk cId="0" sldId="261"/>
            <ac:spMk id="22" creationId="{00000000-0000-0000-0000-000000000000}"/>
          </ac:spMkLst>
        </pc:spChg>
        <pc:spChg chg="mod">
          <ac:chgData name="Gauthier VAN WENT" userId="506346ea562c8fed" providerId="LiveId" clId="{BBB84BDE-02F1-4FBB-B4BA-1EA560048CA1}" dt="2026-05-11T15:16:22.747" v="454" actId="1035"/>
          <ac:spMkLst>
            <pc:docMk/>
            <pc:sldMk cId="0" sldId="261"/>
            <ac:spMk id="24" creationId="{00000000-0000-0000-0000-000000000000}"/>
          </ac:spMkLst>
        </pc:spChg>
        <pc:spChg chg="mod">
          <ac:chgData name="Gauthier VAN WENT" userId="506346ea562c8fed" providerId="LiveId" clId="{BBB84BDE-02F1-4FBB-B4BA-1EA560048CA1}" dt="2026-05-11T15:16:22.747" v="454" actId="1035"/>
          <ac:spMkLst>
            <pc:docMk/>
            <pc:sldMk cId="0" sldId="261"/>
            <ac:spMk id="30" creationId="{00000000-0000-0000-0000-000000000000}"/>
          </ac:spMkLst>
        </pc:spChg>
        <pc:spChg chg="mod">
          <ac:chgData name="Gauthier VAN WENT" userId="506346ea562c8fed" providerId="LiveId" clId="{BBB84BDE-02F1-4FBB-B4BA-1EA560048CA1}" dt="2026-05-11T15:16:22.747" v="454" actId="1035"/>
          <ac:spMkLst>
            <pc:docMk/>
            <pc:sldMk cId="0" sldId="261"/>
            <ac:spMk id="33" creationId="{00000000-0000-0000-0000-000000000000}"/>
          </ac:spMkLst>
        </pc:spChg>
        <pc:spChg chg="mod">
          <ac:chgData name="Gauthier VAN WENT" userId="506346ea562c8fed" providerId="LiveId" clId="{BBB84BDE-02F1-4FBB-B4BA-1EA560048CA1}" dt="2026-05-11T15:16:22.747" v="454" actId="1035"/>
          <ac:spMkLst>
            <pc:docMk/>
            <pc:sldMk cId="0" sldId="261"/>
            <ac:spMk id="37" creationId="{00000000-0000-0000-0000-000000000000}"/>
          </ac:spMkLst>
        </pc:spChg>
        <pc:spChg chg="mod">
          <ac:chgData name="Gauthier VAN WENT" userId="506346ea562c8fed" providerId="LiveId" clId="{BBB84BDE-02F1-4FBB-B4BA-1EA560048CA1}" dt="2026-05-11T15:16:22.747" v="454" actId="1035"/>
          <ac:spMkLst>
            <pc:docMk/>
            <pc:sldMk cId="0" sldId="261"/>
            <ac:spMk id="39" creationId="{00000000-0000-0000-0000-000000000000}"/>
          </ac:spMkLst>
        </pc:spChg>
        <pc:spChg chg="mod">
          <ac:chgData name="Gauthier VAN WENT" userId="506346ea562c8fed" providerId="LiveId" clId="{BBB84BDE-02F1-4FBB-B4BA-1EA560048CA1}" dt="2026-05-11T15:16:31.773" v="457" actId="1036"/>
          <ac:spMkLst>
            <pc:docMk/>
            <pc:sldMk cId="0" sldId="261"/>
            <ac:spMk id="44" creationId="{00000000-0000-0000-0000-000000000000}"/>
          </ac:spMkLst>
        </pc:spChg>
        <pc:spChg chg="mod">
          <ac:chgData name="Gauthier VAN WENT" userId="506346ea562c8fed" providerId="LiveId" clId="{BBB84BDE-02F1-4FBB-B4BA-1EA560048CA1}" dt="2026-05-11T15:16:31.773" v="457" actId="1036"/>
          <ac:spMkLst>
            <pc:docMk/>
            <pc:sldMk cId="0" sldId="261"/>
            <ac:spMk id="48" creationId="{00000000-0000-0000-0000-000000000000}"/>
          </ac:spMkLst>
        </pc:spChg>
        <pc:spChg chg="mod">
          <ac:chgData name="Gauthier VAN WENT" userId="506346ea562c8fed" providerId="LiveId" clId="{BBB84BDE-02F1-4FBB-B4BA-1EA560048CA1}" dt="2026-05-11T15:16:31.773" v="457" actId="1036"/>
          <ac:spMkLst>
            <pc:docMk/>
            <pc:sldMk cId="0" sldId="261"/>
            <ac:spMk id="49" creationId="{00000000-0000-0000-0000-000000000000}"/>
          </ac:spMkLst>
        </pc:spChg>
        <pc:spChg chg="mod">
          <ac:chgData name="Gauthier VAN WENT" userId="506346ea562c8fed" providerId="LiveId" clId="{BBB84BDE-02F1-4FBB-B4BA-1EA560048CA1}" dt="2026-05-11T15:16:31.773" v="457" actId="1036"/>
          <ac:spMkLst>
            <pc:docMk/>
            <pc:sldMk cId="0" sldId="261"/>
            <ac:spMk id="50" creationId="{00000000-0000-0000-0000-000000000000}"/>
          </ac:spMkLst>
        </pc:spChg>
        <pc:spChg chg="mod">
          <ac:chgData name="Gauthier VAN WENT" userId="506346ea562c8fed" providerId="LiveId" clId="{BBB84BDE-02F1-4FBB-B4BA-1EA560048CA1}" dt="2026-05-11T15:16:31.773" v="457" actId="1036"/>
          <ac:spMkLst>
            <pc:docMk/>
            <pc:sldMk cId="0" sldId="261"/>
            <ac:spMk id="51" creationId="{00000000-0000-0000-0000-000000000000}"/>
          </ac:spMkLst>
        </pc:spChg>
        <pc:spChg chg="mod">
          <ac:chgData name="Gauthier VAN WENT" userId="506346ea562c8fed" providerId="LiveId" clId="{BBB84BDE-02F1-4FBB-B4BA-1EA560048CA1}" dt="2026-05-11T15:16:31.773" v="457" actId="1036"/>
          <ac:spMkLst>
            <pc:docMk/>
            <pc:sldMk cId="0" sldId="261"/>
            <ac:spMk id="52" creationId="{00000000-0000-0000-0000-000000000000}"/>
          </ac:spMkLst>
        </pc:spChg>
        <pc:spChg chg="mod">
          <ac:chgData name="Gauthier VAN WENT" userId="506346ea562c8fed" providerId="LiveId" clId="{BBB84BDE-02F1-4FBB-B4BA-1EA560048CA1}" dt="2026-05-11T15:15:57.742" v="399" actId="1035"/>
          <ac:spMkLst>
            <pc:docMk/>
            <pc:sldMk cId="0" sldId="261"/>
            <ac:spMk id="53" creationId="{00000000-0000-0000-0000-000000000000}"/>
          </ac:spMkLst>
        </pc:spChg>
        <pc:spChg chg="mod">
          <ac:chgData name="Gauthier VAN WENT" userId="506346ea562c8fed" providerId="LiveId" clId="{BBB84BDE-02F1-4FBB-B4BA-1EA560048CA1}" dt="2026-05-11T15:16:03.142" v="417" actId="1035"/>
          <ac:spMkLst>
            <pc:docMk/>
            <pc:sldMk cId="0" sldId="261"/>
            <ac:spMk id="54" creationId="{00000000-0000-0000-0000-000000000000}"/>
          </ac:spMkLst>
        </pc:spChg>
        <pc:spChg chg="mod">
          <ac:chgData name="Gauthier VAN WENT" userId="506346ea562c8fed" providerId="LiveId" clId="{BBB84BDE-02F1-4FBB-B4BA-1EA560048CA1}" dt="2026-05-11T15:16:03.142" v="417" actId="1035"/>
          <ac:spMkLst>
            <pc:docMk/>
            <pc:sldMk cId="0" sldId="261"/>
            <ac:spMk id="55" creationId="{00000000-0000-0000-0000-000000000000}"/>
          </ac:spMkLst>
        </pc:spChg>
        <pc:spChg chg="mod">
          <ac:chgData name="Gauthier VAN WENT" userId="506346ea562c8fed" providerId="LiveId" clId="{BBB84BDE-02F1-4FBB-B4BA-1EA560048CA1}" dt="2026-05-11T15:16:03.142" v="417" actId="1035"/>
          <ac:spMkLst>
            <pc:docMk/>
            <pc:sldMk cId="0" sldId="261"/>
            <ac:spMk id="56" creationId="{00000000-0000-0000-0000-000000000000}"/>
          </ac:spMkLst>
        </pc:spChg>
        <pc:spChg chg="mod">
          <ac:chgData name="Gauthier VAN WENT" userId="506346ea562c8fed" providerId="LiveId" clId="{BBB84BDE-02F1-4FBB-B4BA-1EA560048CA1}" dt="2026-05-11T15:16:03.142" v="417" actId="1035"/>
          <ac:spMkLst>
            <pc:docMk/>
            <pc:sldMk cId="0" sldId="261"/>
            <ac:spMk id="57" creationId="{00000000-0000-0000-0000-000000000000}"/>
          </ac:spMkLst>
        </pc:spChg>
        <pc:spChg chg="mod">
          <ac:chgData name="Gauthier VAN WENT" userId="506346ea562c8fed" providerId="LiveId" clId="{BBB84BDE-02F1-4FBB-B4BA-1EA560048CA1}" dt="2026-05-11T15:16:31.773" v="457" actId="1036"/>
          <ac:spMkLst>
            <pc:docMk/>
            <pc:sldMk cId="0" sldId="261"/>
            <ac:spMk id="58" creationId="{00000000-0000-0000-0000-000000000000}"/>
          </ac:spMkLst>
        </pc:spChg>
        <pc:spChg chg="mod">
          <ac:chgData name="Gauthier VAN WENT" userId="506346ea562c8fed" providerId="LiveId" clId="{BBB84BDE-02F1-4FBB-B4BA-1EA560048CA1}" dt="2026-05-11T15:16:08.665" v="431" actId="1036"/>
          <ac:spMkLst>
            <pc:docMk/>
            <pc:sldMk cId="0" sldId="261"/>
            <ac:spMk id="59" creationId="{00000000-0000-0000-0000-000000000000}"/>
          </ac:spMkLst>
        </pc:spChg>
        <pc:spChg chg="mod">
          <ac:chgData name="Gauthier VAN WENT" userId="506346ea562c8fed" providerId="LiveId" clId="{BBB84BDE-02F1-4FBB-B4BA-1EA560048CA1}" dt="2026-05-11T15:16:31.773" v="457" actId="1036"/>
          <ac:spMkLst>
            <pc:docMk/>
            <pc:sldMk cId="0" sldId="261"/>
            <ac:spMk id="60" creationId="{00000000-0000-0000-0000-000000000000}"/>
          </ac:spMkLst>
        </pc:spChg>
        <pc:spChg chg="mod">
          <ac:chgData name="Gauthier VAN WENT" userId="506346ea562c8fed" providerId="LiveId" clId="{BBB84BDE-02F1-4FBB-B4BA-1EA560048CA1}" dt="2026-05-11T15:16:31.773" v="457" actId="1036"/>
          <ac:spMkLst>
            <pc:docMk/>
            <pc:sldMk cId="0" sldId="261"/>
            <ac:spMk id="61" creationId="{00000000-0000-0000-0000-000000000000}"/>
          </ac:spMkLst>
        </pc:spChg>
        <pc:spChg chg="mod">
          <ac:chgData name="Gauthier VAN WENT" userId="506346ea562c8fed" providerId="LiveId" clId="{BBB84BDE-02F1-4FBB-B4BA-1EA560048CA1}" dt="2026-05-11T15:16:31.773" v="457" actId="1036"/>
          <ac:spMkLst>
            <pc:docMk/>
            <pc:sldMk cId="0" sldId="261"/>
            <ac:spMk id="62" creationId="{00000000-0000-0000-0000-000000000000}"/>
          </ac:spMkLst>
        </pc:spChg>
        <pc:spChg chg="mod">
          <ac:chgData name="Gauthier VAN WENT" userId="506346ea562c8fed" providerId="LiveId" clId="{BBB84BDE-02F1-4FBB-B4BA-1EA560048CA1}" dt="2026-05-11T15:16:08.665" v="431" actId="1036"/>
          <ac:spMkLst>
            <pc:docMk/>
            <pc:sldMk cId="0" sldId="261"/>
            <ac:spMk id="63" creationId="{00000000-0000-0000-0000-000000000000}"/>
          </ac:spMkLst>
        </pc:spChg>
      </pc:sldChg>
      <pc:sldChg chg="modSp mod">
        <pc:chgData name="Gauthier VAN WENT" userId="506346ea562c8fed" providerId="LiveId" clId="{BBB84BDE-02F1-4FBB-B4BA-1EA560048CA1}" dt="2026-05-11T15:20:20.295" v="610" actId="20577"/>
        <pc:sldMkLst>
          <pc:docMk/>
          <pc:sldMk cId="0" sldId="262"/>
        </pc:sldMkLst>
        <pc:spChg chg="mod">
          <ac:chgData name="Gauthier VAN WENT" userId="506346ea562c8fed" providerId="LiveId" clId="{BBB84BDE-02F1-4FBB-B4BA-1EA560048CA1}" dt="2026-05-11T15:20:20.295" v="610" actId="20577"/>
          <ac:spMkLst>
            <pc:docMk/>
            <pc:sldMk cId="0" sldId="262"/>
            <ac:spMk id="8" creationId="{00000000-0000-0000-0000-000000000000}"/>
          </ac:spMkLst>
        </pc:spChg>
        <pc:spChg chg="mod">
          <ac:chgData name="Gauthier VAN WENT" userId="506346ea562c8fed" providerId="LiveId" clId="{BBB84BDE-02F1-4FBB-B4BA-1EA560048CA1}" dt="2026-05-11T15:16:47.333" v="462" actId="404"/>
          <ac:spMkLst>
            <pc:docMk/>
            <pc:sldMk cId="0" sldId="262"/>
            <ac:spMk id="10" creationId="{00000000-0000-0000-0000-000000000000}"/>
          </ac:spMkLst>
        </pc:spChg>
        <pc:spChg chg="mod">
          <ac:chgData name="Gauthier VAN WENT" userId="506346ea562c8fed" providerId="LiveId" clId="{BBB84BDE-02F1-4FBB-B4BA-1EA560048CA1}" dt="2026-05-11T15:19:25.666" v="569" actId="20577"/>
          <ac:spMkLst>
            <pc:docMk/>
            <pc:sldMk cId="0" sldId="262"/>
            <ac:spMk id="11" creationId="{00000000-0000-0000-0000-000000000000}"/>
          </ac:spMkLst>
        </pc:spChg>
        <pc:spChg chg="mod">
          <ac:chgData name="Gauthier VAN WENT" userId="506346ea562c8fed" providerId="LiveId" clId="{BBB84BDE-02F1-4FBB-B4BA-1EA560048CA1}" dt="2026-05-11T15:16:54.744" v="467" actId="403"/>
          <ac:spMkLst>
            <pc:docMk/>
            <pc:sldMk cId="0" sldId="262"/>
            <ac:spMk id="13" creationId="{00000000-0000-0000-0000-000000000000}"/>
          </ac:spMkLst>
        </pc:spChg>
        <pc:spChg chg="mod">
          <ac:chgData name="Gauthier VAN WENT" userId="506346ea562c8fed" providerId="LiveId" clId="{BBB84BDE-02F1-4FBB-B4BA-1EA560048CA1}" dt="2026-05-11T15:20:09.892" v="607" actId="1035"/>
          <ac:spMkLst>
            <pc:docMk/>
            <pc:sldMk cId="0" sldId="262"/>
            <ac:spMk id="14" creationId="{00000000-0000-0000-0000-000000000000}"/>
          </ac:spMkLst>
        </pc:spChg>
        <pc:spChg chg="mod">
          <ac:chgData name="Gauthier VAN WENT" userId="506346ea562c8fed" providerId="LiveId" clId="{BBB84BDE-02F1-4FBB-B4BA-1EA560048CA1}" dt="2026-05-11T15:20:09.892" v="607" actId="1035"/>
          <ac:spMkLst>
            <pc:docMk/>
            <pc:sldMk cId="0" sldId="262"/>
            <ac:spMk id="18" creationId="{00000000-0000-0000-0000-000000000000}"/>
          </ac:spMkLst>
        </pc:spChg>
        <pc:spChg chg="mod">
          <ac:chgData name="Gauthier VAN WENT" userId="506346ea562c8fed" providerId="LiveId" clId="{BBB84BDE-02F1-4FBB-B4BA-1EA560048CA1}" dt="2026-05-11T15:20:09.892" v="607" actId="1035"/>
          <ac:spMkLst>
            <pc:docMk/>
            <pc:sldMk cId="0" sldId="262"/>
            <ac:spMk id="20" creationId="{00000000-0000-0000-0000-000000000000}"/>
          </ac:spMkLst>
        </pc:spChg>
        <pc:spChg chg="mod">
          <ac:chgData name="Gauthier VAN WENT" userId="506346ea562c8fed" providerId="LiveId" clId="{BBB84BDE-02F1-4FBB-B4BA-1EA560048CA1}" dt="2026-05-11T15:20:09.892" v="607" actId="1035"/>
          <ac:spMkLst>
            <pc:docMk/>
            <pc:sldMk cId="0" sldId="262"/>
            <ac:spMk id="21" creationId="{00000000-0000-0000-0000-000000000000}"/>
          </ac:spMkLst>
        </pc:spChg>
        <pc:spChg chg="mod">
          <ac:chgData name="Gauthier VAN WENT" userId="506346ea562c8fed" providerId="LiveId" clId="{BBB84BDE-02F1-4FBB-B4BA-1EA560048CA1}" dt="2026-05-11T15:20:09.892" v="607" actId="1035"/>
          <ac:spMkLst>
            <pc:docMk/>
            <pc:sldMk cId="0" sldId="262"/>
            <ac:spMk id="32" creationId="{00000000-0000-0000-0000-000000000000}"/>
          </ac:spMkLst>
        </pc:spChg>
        <pc:spChg chg="mod">
          <ac:chgData name="Gauthier VAN WENT" userId="506346ea562c8fed" providerId="LiveId" clId="{BBB84BDE-02F1-4FBB-B4BA-1EA560048CA1}" dt="2026-05-11T15:20:09.892" v="607" actId="1035"/>
          <ac:spMkLst>
            <pc:docMk/>
            <pc:sldMk cId="0" sldId="262"/>
            <ac:spMk id="34" creationId="{00000000-0000-0000-0000-000000000000}"/>
          </ac:spMkLst>
        </pc:spChg>
        <pc:spChg chg="mod">
          <ac:chgData name="Gauthier VAN WENT" userId="506346ea562c8fed" providerId="LiveId" clId="{BBB84BDE-02F1-4FBB-B4BA-1EA560048CA1}" dt="2026-05-11T15:20:09.892" v="607" actId="1035"/>
          <ac:spMkLst>
            <pc:docMk/>
            <pc:sldMk cId="0" sldId="262"/>
            <ac:spMk id="35" creationId="{00000000-0000-0000-0000-000000000000}"/>
          </ac:spMkLst>
        </pc:spChg>
        <pc:spChg chg="mod">
          <ac:chgData name="Gauthier VAN WENT" userId="506346ea562c8fed" providerId="LiveId" clId="{BBB84BDE-02F1-4FBB-B4BA-1EA560048CA1}" dt="2026-05-11T15:20:09.892" v="607" actId="1035"/>
          <ac:spMkLst>
            <pc:docMk/>
            <pc:sldMk cId="0" sldId="262"/>
            <ac:spMk id="36" creationId="{00000000-0000-0000-0000-000000000000}"/>
          </ac:spMkLst>
        </pc:spChg>
        <pc:spChg chg="mod">
          <ac:chgData name="Gauthier VAN WENT" userId="506346ea562c8fed" providerId="LiveId" clId="{BBB84BDE-02F1-4FBB-B4BA-1EA560048CA1}" dt="2026-05-11T15:20:09.892" v="607" actId="1035"/>
          <ac:spMkLst>
            <pc:docMk/>
            <pc:sldMk cId="0" sldId="262"/>
            <ac:spMk id="39" creationId="{00000000-0000-0000-0000-000000000000}"/>
          </ac:spMkLst>
        </pc:spChg>
        <pc:spChg chg="mod">
          <ac:chgData name="Gauthier VAN WENT" userId="506346ea562c8fed" providerId="LiveId" clId="{BBB84BDE-02F1-4FBB-B4BA-1EA560048CA1}" dt="2026-05-11T15:20:09.892" v="607" actId="1035"/>
          <ac:spMkLst>
            <pc:docMk/>
            <pc:sldMk cId="0" sldId="262"/>
            <ac:spMk id="40" creationId="{00000000-0000-0000-0000-000000000000}"/>
          </ac:spMkLst>
        </pc:spChg>
        <pc:spChg chg="mod">
          <ac:chgData name="Gauthier VAN WENT" userId="506346ea562c8fed" providerId="LiveId" clId="{BBB84BDE-02F1-4FBB-B4BA-1EA560048CA1}" dt="2026-05-11T15:19:41.007" v="578" actId="14100"/>
          <ac:spMkLst>
            <pc:docMk/>
            <pc:sldMk cId="0" sldId="262"/>
            <ac:spMk id="44" creationId="{00000000-0000-0000-0000-000000000000}"/>
          </ac:spMkLst>
        </pc:spChg>
        <pc:spChg chg="mod">
          <ac:chgData name="Gauthier VAN WENT" userId="506346ea562c8fed" providerId="LiveId" clId="{BBB84BDE-02F1-4FBB-B4BA-1EA560048CA1}" dt="2026-05-11T15:19:33.721" v="577" actId="1035"/>
          <ac:spMkLst>
            <pc:docMk/>
            <pc:sldMk cId="0" sldId="262"/>
            <ac:spMk id="48" creationId="{00000000-0000-0000-0000-000000000000}"/>
          </ac:spMkLst>
        </pc:spChg>
        <pc:spChg chg="mod">
          <ac:chgData name="Gauthier VAN WENT" userId="506346ea562c8fed" providerId="LiveId" clId="{BBB84BDE-02F1-4FBB-B4BA-1EA560048CA1}" dt="2026-05-11T15:19:50.604" v="588" actId="1035"/>
          <ac:spMkLst>
            <pc:docMk/>
            <pc:sldMk cId="0" sldId="262"/>
            <ac:spMk id="49" creationId="{00000000-0000-0000-0000-000000000000}"/>
          </ac:spMkLst>
        </pc:spChg>
        <pc:spChg chg="mod">
          <ac:chgData name="Gauthier VAN WENT" userId="506346ea562c8fed" providerId="LiveId" clId="{BBB84BDE-02F1-4FBB-B4BA-1EA560048CA1}" dt="2026-05-11T15:19:50.604" v="588" actId="1035"/>
          <ac:spMkLst>
            <pc:docMk/>
            <pc:sldMk cId="0" sldId="262"/>
            <ac:spMk id="51" creationId="{00000000-0000-0000-0000-000000000000}"/>
          </ac:spMkLst>
        </pc:spChg>
        <pc:spChg chg="mod">
          <ac:chgData name="Gauthier VAN WENT" userId="506346ea562c8fed" providerId="LiveId" clId="{BBB84BDE-02F1-4FBB-B4BA-1EA560048CA1}" dt="2026-05-11T15:19:50.604" v="588" actId="1035"/>
          <ac:spMkLst>
            <pc:docMk/>
            <pc:sldMk cId="0" sldId="262"/>
            <ac:spMk id="52" creationId="{00000000-0000-0000-0000-000000000000}"/>
          </ac:spMkLst>
        </pc:spChg>
        <pc:spChg chg="mod">
          <ac:chgData name="Gauthier VAN WENT" userId="506346ea562c8fed" providerId="LiveId" clId="{BBB84BDE-02F1-4FBB-B4BA-1EA560048CA1}" dt="2026-05-11T15:19:50.604" v="588" actId="1035"/>
          <ac:spMkLst>
            <pc:docMk/>
            <pc:sldMk cId="0" sldId="262"/>
            <ac:spMk id="53" creationId="{00000000-0000-0000-0000-000000000000}"/>
          </ac:spMkLst>
        </pc:spChg>
        <pc:spChg chg="mod">
          <ac:chgData name="Gauthier VAN WENT" userId="506346ea562c8fed" providerId="LiveId" clId="{BBB84BDE-02F1-4FBB-B4BA-1EA560048CA1}" dt="2026-05-11T15:19:58.078" v="596" actId="1036"/>
          <ac:spMkLst>
            <pc:docMk/>
            <pc:sldMk cId="0" sldId="262"/>
            <ac:spMk id="54" creationId="{00000000-0000-0000-0000-000000000000}"/>
          </ac:spMkLst>
        </pc:spChg>
        <pc:spChg chg="mod">
          <ac:chgData name="Gauthier VAN WENT" userId="506346ea562c8fed" providerId="LiveId" clId="{BBB84BDE-02F1-4FBB-B4BA-1EA560048CA1}" dt="2026-05-11T15:19:58.078" v="596" actId="1036"/>
          <ac:spMkLst>
            <pc:docMk/>
            <pc:sldMk cId="0" sldId="262"/>
            <ac:spMk id="55" creationId="{00000000-0000-0000-0000-000000000000}"/>
          </ac:spMkLst>
        </pc:spChg>
        <pc:spChg chg="mod">
          <ac:chgData name="Gauthier VAN WENT" userId="506346ea562c8fed" providerId="LiveId" clId="{BBB84BDE-02F1-4FBB-B4BA-1EA560048CA1}" dt="2026-05-11T15:19:58.078" v="596" actId="1036"/>
          <ac:spMkLst>
            <pc:docMk/>
            <pc:sldMk cId="0" sldId="262"/>
            <ac:spMk id="56" creationId="{00000000-0000-0000-0000-000000000000}"/>
          </ac:spMkLst>
        </pc:spChg>
        <pc:spChg chg="mod">
          <ac:chgData name="Gauthier VAN WENT" userId="506346ea562c8fed" providerId="LiveId" clId="{BBB84BDE-02F1-4FBB-B4BA-1EA560048CA1}" dt="2026-05-11T15:19:58.078" v="596" actId="1036"/>
          <ac:spMkLst>
            <pc:docMk/>
            <pc:sldMk cId="0" sldId="262"/>
            <ac:spMk id="57" creationId="{00000000-0000-0000-0000-000000000000}"/>
          </ac:spMkLst>
        </pc:spChg>
        <pc:spChg chg="mod">
          <ac:chgData name="Gauthier VAN WENT" userId="506346ea562c8fed" providerId="LiveId" clId="{BBB84BDE-02F1-4FBB-B4BA-1EA560048CA1}" dt="2026-05-11T15:19:58.078" v="596" actId="1036"/>
          <ac:spMkLst>
            <pc:docMk/>
            <pc:sldMk cId="0" sldId="262"/>
            <ac:spMk id="58" creationId="{00000000-0000-0000-0000-000000000000}"/>
          </ac:spMkLst>
        </pc:spChg>
        <pc:spChg chg="mod">
          <ac:chgData name="Gauthier VAN WENT" userId="506346ea562c8fed" providerId="LiveId" clId="{BBB84BDE-02F1-4FBB-B4BA-1EA560048CA1}" dt="2026-05-11T15:20:04.259" v="605" actId="1035"/>
          <ac:spMkLst>
            <pc:docMk/>
            <pc:sldMk cId="0" sldId="262"/>
            <ac:spMk id="59" creationId="{00000000-0000-0000-0000-000000000000}"/>
          </ac:spMkLst>
        </pc:spChg>
        <pc:spChg chg="mod">
          <ac:chgData name="Gauthier VAN WENT" userId="506346ea562c8fed" providerId="LiveId" clId="{BBB84BDE-02F1-4FBB-B4BA-1EA560048CA1}" dt="2026-05-11T15:20:04.259" v="605" actId="1035"/>
          <ac:spMkLst>
            <pc:docMk/>
            <pc:sldMk cId="0" sldId="262"/>
            <ac:spMk id="60" creationId="{00000000-0000-0000-0000-000000000000}"/>
          </ac:spMkLst>
        </pc:spChg>
        <pc:spChg chg="mod">
          <ac:chgData name="Gauthier VAN WENT" userId="506346ea562c8fed" providerId="LiveId" clId="{BBB84BDE-02F1-4FBB-B4BA-1EA560048CA1}" dt="2026-05-11T15:20:04.259" v="605" actId="1035"/>
          <ac:spMkLst>
            <pc:docMk/>
            <pc:sldMk cId="0" sldId="262"/>
            <ac:spMk id="61" creationId="{00000000-0000-0000-0000-000000000000}"/>
          </ac:spMkLst>
        </pc:spChg>
        <pc:spChg chg="mod">
          <ac:chgData name="Gauthier VAN WENT" userId="506346ea562c8fed" providerId="LiveId" clId="{BBB84BDE-02F1-4FBB-B4BA-1EA560048CA1}" dt="2026-05-11T15:20:04.259" v="605" actId="1035"/>
          <ac:spMkLst>
            <pc:docMk/>
            <pc:sldMk cId="0" sldId="262"/>
            <ac:spMk id="62" creationId="{00000000-0000-0000-0000-000000000000}"/>
          </ac:spMkLst>
        </pc:spChg>
        <pc:spChg chg="mod">
          <ac:chgData name="Gauthier VAN WENT" userId="506346ea562c8fed" providerId="LiveId" clId="{BBB84BDE-02F1-4FBB-B4BA-1EA560048CA1}" dt="2026-05-11T15:20:04.259" v="605" actId="1035"/>
          <ac:spMkLst>
            <pc:docMk/>
            <pc:sldMk cId="0" sldId="262"/>
            <ac:spMk id="63" creationId="{00000000-0000-0000-0000-000000000000}"/>
          </ac:spMkLst>
        </pc:spChg>
        <pc:spChg chg="mod">
          <ac:chgData name="Gauthier VAN WENT" userId="506346ea562c8fed" providerId="LiveId" clId="{BBB84BDE-02F1-4FBB-B4BA-1EA560048CA1}" dt="2026-05-11T15:20:01.589" v="598" actId="1035"/>
          <ac:spMkLst>
            <pc:docMk/>
            <pc:sldMk cId="0" sldId="262"/>
            <ac:spMk id="6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2048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4389120" cy="6858000"/>
          </a:xfrm>
          <a:prstGeom prst="rect">
            <a:avLst/>
          </a:prstGeom>
          <a:solidFill>
            <a:srgbClr val="0A1A2F"/>
          </a:solidFill>
          <a:ln/>
        </p:spPr>
        <p:txBody>
          <a:bodyPr/>
          <a:lstStyle/>
          <a:p>
            <a:endParaRPr lang="en-SE"/>
          </a:p>
        </p:txBody>
      </p:sp>
      <p:sp>
        <p:nvSpPr>
          <p:cNvPr id="7" name="Shape 5"/>
          <p:cNvSpPr/>
          <p:nvPr/>
        </p:nvSpPr>
        <p:spPr>
          <a:xfrm>
            <a:off x="603504" y="950976"/>
            <a:ext cx="3200400" cy="3200400"/>
          </a:xfrm>
          <a:prstGeom prst="roundRect">
            <a:avLst>
              <a:gd name="adj" fmla="val 7143"/>
            </a:avLst>
          </a:prstGeom>
          <a:solidFill>
            <a:srgbClr val="13243F"/>
          </a:solidFill>
          <a:ln/>
        </p:spPr>
        <p:txBody>
          <a:bodyPr/>
          <a:lstStyle/>
          <a:p>
            <a:endParaRPr lang="en-SE"/>
          </a:p>
        </p:txBody>
      </p:sp>
      <p:pic>
        <p:nvPicPr>
          <p:cNvPr id="57" name="Picture 56">
            <a:extLst>
              <a:ext uri="{FF2B5EF4-FFF2-40B4-BE49-F238E27FC236}">
                <a16:creationId xmlns:a16="http://schemas.microsoft.com/office/drawing/2014/main" id="{0CB8C1E4-8F5C-CEF7-C97E-EEFE9B8A7E36}"/>
              </a:ext>
            </a:extLst>
          </p:cNvPr>
          <p:cNvPicPr>
            <a:picLocks noChangeAspect="1"/>
          </p:cNvPicPr>
          <p:nvPr/>
        </p:nvPicPr>
        <p:blipFill>
          <a:blip r:embed="rId3"/>
          <a:srcRect l="187" t="10848" r="187" b="20292"/>
          <a:stretch>
            <a:fillRect/>
          </a:stretch>
        </p:blipFill>
        <p:spPr>
          <a:xfrm>
            <a:off x="548640" y="896112"/>
            <a:ext cx="3200400" cy="3200400"/>
          </a:xfrm>
          <a:custGeom>
            <a:avLst/>
            <a:gdLst>
              <a:gd name="csX0" fmla="*/ 228605 w 3200400"/>
              <a:gd name="csY0" fmla="*/ 0 h 3200400"/>
              <a:gd name="csX1" fmla="*/ 2971795 w 3200400"/>
              <a:gd name="csY1" fmla="*/ 0 h 3200400"/>
              <a:gd name="csX2" fmla="*/ 3200400 w 3200400"/>
              <a:gd name="csY2" fmla="*/ 228605 h 3200400"/>
              <a:gd name="csX3" fmla="*/ 3200400 w 3200400"/>
              <a:gd name="csY3" fmla="*/ 2971795 h 3200400"/>
              <a:gd name="csX4" fmla="*/ 2971795 w 3200400"/>
              <a:gd name="csY4" fmla="*/ 3200400 h 3200400"/>
              <a:gd name="csX5" fmla="*/ 228605 w 3200400"/>
              <a:gd name="csY5" fmla="*/ 3200400 h 3200400"/>
              <a:gd name="csX6" fmla="*/ 0 w 3200400"/>
              <a:gd name="csY6" fmla="*/ 2971795 h 3200400"/>
              <a:gd name="csX7" fmla="*/ 0 w 3200400"/>
              <a:gd name="csY7" fmla="*/ 228605 h 3200400"/>
              <a:gd name="csX8" fmla="*/ 228605 w 3200400"/>
              <a:gd name="csY8" fmla="*/ 0 h 3200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00400" h="3200400">
                <a:moveTo>
                  <a:pt x="228605" y="0"/>
                </a:moveTo>
                <a:lnTo>
                  <a:pt x="2971795" y="0"/>
                </a:lnTo>
                <a:cubicBezTo>
                  <a:pt x="3098050" y="0"/>
                  <a:pt x="3200400" y="102350"/>
                  <a:pt x="3200400" y="228605"/>
                </a:cubicBezTo>
                <a:lnTo>
                  <a:pt x="3200400" y="2971795"/>
                </a:lnTo>
                <a:cubicBezTo>
                  <a:pt x="3200400" y="3098050"/>
                  <a:pt x="3098050" y="3200400"/>
                  <a:pt x="2971795" y="3200400"/>
                </a:cubicBezTo>
                <a:lnTo>
                  <a:pt x="228605" y="3200400"/>
                </a:lnTo>
                <a:cubicBezTo>
                  <a:pt x="102350" y="3200400"/>
                  <a:pt x="0" y="3098050"/>
                  <a:pt x="0" y="2971795"/>
                </a:cubicBezTo>
                <a:lnTo>
                  <a:pt x="0" y="228605"/>
                </a:lnTo>
                <a:cubicBezTo>
                  <a:pt x="0" y="102350"/>
                  <a:pt x="102350" y="0"/>
                  <a:pt x="228605" y="0"/>
                </a:cubicBezTo>
                <a:close/>
              </a:path>
            </a:pathLst>
          </a:custGeom>
        </p:spPr>
      </p:pic>
      <p:sp>
        <p:nvSpPr>
          <p:cNvPr id="3" name="Shape 1"/>
          <p:cNvSpPr/>
          <p:nvPr/>
        </p:nvSpPr>
        <p:spPr>
          <a:xfrm>
            <a:off x="0" y="0"/>
            <a:ext cx="73152" cy="6858000"/>
          </a:xfrm>
          <a:prstGeom prst="rect">
            <a:avLst/>
          </a:prstGeom>
          <a:solidFill>
            <a:srgbClr val="2DD4BF"/>
          </a:solidFill>
          <a:ln/>
        </p:spPr>
        <p:txBody>
          <a:bodyPr/>
          <a:lstStyle/>
          <a:p>
            <a:endParaRPr lang="en-SE"/>
          </a:p>
        </p:txBody>
      </p:sp>
      <p:sp>
        <p:nvSpPr>
          <p:cNvPr id="4" name="Shape 2"/>
          <p:cNvSpPr/>
          <p:nvPr/>
        </p:nvSpPr>
        <p:spPr>
          <a:xfrm>
            <a:off x="0" y="6355080"/>
            <a:ext cx="4389120" cy="502920"/>
          </a:xfrm>
          <a:prstGeom prst="rect">
            <a:avLst/>
          </a:prstGeom>
          <a:solidFill>
            <a:srgbClr val="2DD4BF"/>
          </a:solidFill>
          <a:ln/>
        </p:spPr>
        <p:txBody>
          <a:bodyPr/>
          <a:lstStyle/>
          <a:p>
            <a:endParaRPr lang="en-SE"/>
          </a:p>
        </p:txBody>
      </p:sp>
      <p:sp>
        <p:nvSpPr>
          <p:cNvPr id="5" name="Shape 3"/>
          <p:cNvSpPr/>
          <p:nvPr/>
        </p:nvSpPr>
        <p:spPr>
          <a:xfrm>
            <a:off x="0" y="6784848"/>
            <a:ext cx="4389120" cy="73152"/>
          </a:xfrm>
          <a:prstGeom prst="rect">
            <a:avLst/>
          </a:prstGeom>
          <a:solidFill>
            <a:srgbClr val="F59E0B"/>
          </a:solidFill>
          <a:ln/>
        </p:spPr>
        <p:txBody>
          <a:bodyPr/>
          <a:lstStyle/>
          <a:p>
            <a:endParaRPr lang="en-SE"/>
          </a:p>
        </p:txBody>
      </p:sp>
      <p:sp>
        <p:nvSpPr>
          <p:cNvPr id="6" name="Text 4"/>
          <p:cNvSpPr/>
          <p:nvPr/>
        </p:nvSpPr>
        <p:spPr>
          <a:xfrm>
            <a:off x="548640" y="502920"/>
            <a:ext cx="3200400" cy="274320"/>
          </a:xfrm>
          <a:prstGeom prst="rect">
            <a:avLst/>
          </a:prstGeom>
          <a:noFill/>
          <a:ln/>
        </p:spPr>
        <p:txBody>
          <a:bodyPr wrap="square" lIns="0" tIns="0" rIns="0" bIns="0" rtlCol="0" anchor="ctr"/>
          <a:lstStyle/>
          <a:p>
            <a:pPr marL="0" indent="0" algn="ctr">
              <a:buNone/>
            </a:pPr>
            <a:r>
              <a:rPr lang="en-US" sz="1100" b="1" kern="0" spc="800" dirty="0">
                <a:solidFill>
                  <a:srgbClr val="2DD4BF"/>
                </a:solidFill>
                <a:latin typeface="Calibri" pitchFamily="34" charset="0"/>
                <a:ea typeface="Calibri" pitchFamily="34" charset="-122"/>
                <a:cs typeface="Calibri" pitchFamily="34" charset="-120"/>
              </a:rPr>
              <a:t>EXECUTIVE  PROFILE</a:t>
            </a:r>
            <a:endParaRPr lang="en-US" sz="1100" dirty="0"/>
          </a:p>
        </p:txBody>
      </p:sp>
      <p:sp>
        <p:nvSpPr>
          <p:cNvPr id="11" name="Shape 8"/>
          <p:cNvSpPr/>
          <p:nvPr/>
        </p:nvSpPr>
        <p:spPr>
          <a:xfrm>
            <a:off x="457200" y="4370832"/>
            <a:ext cx="365760" cy="54864"/>
          </a:xfrm>
          <a:prstGeom prst="rect">
            <a:avLst/>
          </a:prstGeom>
          <a:solidFill>
            <a:srgbClr val="2DD4BF"/>
          </a:solidFill>
          <a:ln/>
        </p:spPr>
        <p:txBody>
          <a:bodyPr/>
          <a:lstStyle/>
          <a:p>
            <a:endParaRPr lang="en-SE"/>
          </a:p>
        </p:txBody>
      </p:sp>
      <p:sp>
        <p:nvSpPr>
          <p:cNvPr id="12" name="Text 9"/>
          <p:cNvSpPr/>
          <p:nvPr/>
        </p:nvSpPr>
        <p:spPr>
          <a:xfrm>
            <a:off x="457200" y="4434840"/>
            <a:ext cx="3931920" cy="640080"/>
          </a:xfrm>
          <a:prstGeom prst="rect">
            <a:avLst/>
          </a:prstGeom>
          <a:noFill/>
          <a:ln/>
        </p:spPr>
        <p:txBody>
          <a:bodyPr wrap="square" lIns="0" tIns="0" rIns="0" bIns="0" rtlCol="0" anchor="ctr"/>
          <a:lstStyle/>
          <a:p>
            <a:pPr marL="0" indent="0">
              <a:buNone/>
            </a:pPr>
            <a:r>
              <a:rPr lang="en-US" sz="3800" b="1" kern="0" spc="100" dirty="0">
                <a:solidFill>
                  <a:srgbClr val="FFFFFF"/>
                </a:solidFill>
                <a:latin typeface="Calibri" pitchFamily="34" charset="0"/>
                <a:ea typeface="Calibri" pitchFamily="34" charset="-122"/>
                <a:cs typeface="Calibri" pitchFamily="34" charset="-120"/>
              </a:rPr>
              <a:t>GAUTHIER</a:t>
            </a:r>
            <a:endParaRPr lang="en-US" sz="3800" dirty="0"/>
          </a:p>
        </p:txBody>
      </p:sp>
      <p:sp>
        <p:nvSpPr>
          <p:cNvPr id="13" name="Text 10"/>
          <p:cNvSpPr/>
          <p:nvPr/>
        </p:nvSpPr>
        <p:spPr>
          <a:xfrm>
            <a:off x="457200" y="4983480"/>
            <a:ext cx="3931920" cy="640080"/>
          </a:xfrm>
          <a:prstGeom prst="rect">
            <a:avLst/>
          </a:prstGeom>
          <a:noFill/>
          <a:ln/>
        </p:spPr>
        <p:txBody>
          <a:bodyPr wrap="square" lIns="0" tIns="0" rIns="0" bIns="0" rtlCol="0" anchor="ctr"/>
          <a:lstStyle/>
          <a:p>
            <a:pPr marL="0" indent="0">
              <a:buNone/>
            </a:pPr>
            <a:r>
              <a:rPr lang="en-US" sz="3800" b="1" kern="0" spc="100" dirty="0">
                <a:solidFill>
                  <a:srgbClr val="FFFFFF"/>
                </a:solidFill>
                <a:latin typeface="Calibri" pitchFamily="34" charset="0"/>
                <a:ea typeface="Calibri" pitchFamily="34" charset="-122"/>
                <a:cs typeface="Calibri" pitchFamily="34" charset="-120"/>
              </a:rPr>
              <a:t>VAN WENT</a:t>
            </a:r>
            <a:endParaRPr lang="en-US" sz="3800" dirty="0"/>
          </a:p>
        </p:txBody>
      </p:sp>
      <p:sp>
        <p:nvSpPr>
          <p:cNvPr id="14" name="Text 11"/>
          <p:cNvSpPr/>
          <p:nvPr/>
        </p:nvSpPr>
        <p:spPr>
          <a:xfrm>
            <a:off x="457200" y="5669280"/>
            <a:ext cx="3931920" cy="320040"/>
          </a:xfrm>
          <a:prstGeom prst="rect">
            <a:avLst/>
          </a:prstGeom>
          <a:noFill/>
          <a:ln/>
        </p:spPr>
        <p:txBody>
          <a:bodyPr wrap="square" lIns="0" tIns="0" rIns="0" bIns="0" rtlCol="0" anchor="ctr"/>
          <a:lstStyle/>
          <a:p>
            <a:pPr marL="0" indent="0">
              <a:buNone/>
            </a:pPr>
            <a:r>
              <a:rPr lang="en-US" sz="1600" b="1" dirty="0">
                <a:solidFill>
                  <a:srgbClr val="2DD4BF"/>
                </a:solidFill>
                <a:latin typeface="Calibri" pitchFamily="34" charset="0"/>
                <a:ea typeface="Calibri" pitchFamily="34" charset="-122"/>
                <a:cs typeface="Calibri" pitchFamily="34" charset="-120"/>
              </a:rPr>
              <a:t>Data &amp; Transformation Executive Leader</a:t>
            </a:r>
            <a:endParaRPr lang="en-US" sz="1600" dirty="0"/>
          </a:p>
        </p:txBody>
      </p:sp>
      <p:sp>
        <p:nvSpPr>
          <p:cNvPr id="15" name="Text 12"/>
          <p:cNvSpPr/>
          <p:nvPr/>
        </p:nvSpPr>
        <p:spPr>
          <a:xfrm>
            <a:off x="457200" y="5989320"/>
            <a:ext cx="3931920" cy="274320"/>
          </a:xfrm>
          <a:prstGeom prst="rect">
            <a:avLst/>
          </a:prstGeom>
          <a:noFill/>
          <a:ln/>
        </p:spPr>
        <p:txBody>
          <a:bodyPr wrap="square" lIns="0" tIns="0" rIns="0" bIns="0" rtlCol="0" anchor="ctr"/>
          <a:lstStyle/>
          <a:p>
            <a:pPr marL="0" indent="0">
              <a:buNone/>
            </a:pPr>
            <a:r>
              <a:rPr lang="en-US" sz="1050" kern="0" spc="100" dirty="0">
                <a:solidFill>
                  <a:srgbClr val="B6CFE6"/>
                </a:solidFill>
                <a:latin typeface="Calibri" pitchFamily="34" charset="0"/>
                <a:ea typeface="Calibri" pitchFamily="34" charset="-122"/>
                <a:cs typeface="Calibri" pitchFamily="34" charset="-120"/>
              </a:rPr>
              <a:t>CDO  ·  CIO  ·  Enterprise Transformation Leadership</a:t>
            </a:r>
            <a:endParaRPr lang="en-US" sz="1050" dirty="0"/>
          </a:p>
        </p:txBody>
      </p:sp>
      <p:sp>
        <p:nvSpPr>
          <p:cNvPr id="16" name="Text 13"/>
          <p:cNvSpPr/>
          <p:nvPr/>
        </p:nvSpPr>
        <p:spPr>
          <a:xfrm>
            <a:off x="4663440" y="502920"/>
            <a:ext cx="7178040" cy="274320"/>
          </a:xfrm>
          <a:prstGeom prst="rect">
            <a:avLst/>
          </a:prstGeom>
          <a:noFill/>
          <a:ln/>
        </p:spPr>
        <p:txBody>
          <a:bodyPr wrap="square" lIns="0" tIns="0" rIns="0" bIns="0" rtlCol="0" anchor="ctr"/>
          <a:lstStyle/>
          <a:p>
            <a:pPr marL="0" indent="0" algn="ctr">
              <a:buNone/>
            </a:pPr>
            <a:r>
              <a:rPr lang="en-US" sz="1100" b="1" kern="0" spc="600" dirty="0">
                <a:solidFill>
                  <a:srgbClr val="14B8A6"/>
                </a:solidFill>
                <a:latin typeface="Calibri" pitchFamily="34" charset="0"/>
                <a:ea typeface="Calibri" pitchFamily="34" charset="-122"/>
                <a:cs typeface="Calibri" pitchFamily="34" charset="-120"/>
              </a:rPr>
              <a:t>THE  PROFILE  AT  A  GLANCE</a:t>
            </a:r>
            <a:endParaRPr lang="en-US" sz="1100" dirty="0"/>
          </a:p>
        </p:txBody>
      </p:sp>
      <p:sp>
        <p:nvSpPr>
          <p:cNvPr id="17" name="Text 14"/>
          <p:cNvSpPr/>
          <p:nvPr/>
        </p:nvSpPr>
        <p:spPr>
          <a:xfrm>
            <a:off x="4663440" y="822960"/>
            <a:ext cx="7178040" cy="1097280"/>
          </a:xfrm>
          <a:prstGeom prst="rect">
            <a:avLst/>
          </a:prstGeom>
          <a:noFill/>
          <a:ln/>
        </p:spPr>
        <p:txBody>
          <a:bodyPr wrap="square" lIns="0" tIns="0" rIns="0" bIns="0" rtlCol="0" anchor="t"/>
          <a:lstStyle/>
          <a:p>
            <a:pPr marL="0" indent="0">
              <a:buNone/>
            </a:pPr>
            <a:r>
              <a:rPr lang="en-US" sz="2800" dirty="0">
                <a:solidFill>
                  <a:srgbClr val="111827"/>
                </a:solidFill>
                <a:latin typeface="Calibri" pitchFamily="34" charset="0"/>
                <a:ea typeface="Calibri" pitchFamily="34" charset="-122"/>
                <a:cs typeface="Calibri" pitchFamily="34" charset="-120"/>
              </a:rPr>
              <a:t>A senior leader operating at the intersection of </a:t>
            </a:r>
            <a:r>
              <a:rPr lang="en-US" sz="2800" b="1" dirty="0">
                <a:solidFill>
                  <a:srgbClr val="0A1A2F"/>
                </a:solidFill>
                <a:latin typeface="Calibri" pitchFamily="34" charset="0"/>
                <a:ea typeface="Calibri" pitchFamily="34" charset="-122"/>
                <a:cs typeface="Calibri" pitchFamily="34" charset="-120"/>
              </a:rPr>
              <a:t>business, technology and data</a:t>
            </a:r>
            <a:r>
              <a:rPr lang="en-US" sz="2800" dirty="0">
                <a:solidFill>
                  <a:srgbClr val="111827"/>
                </a:solidFill>
                <a:latin typeface="Calibri" pitchFamily="34" charset="0"/>
                <a:ea typeface="Calibri" pitchFamily="34" charset="-122"/>
                <a:cs typeface="Calibri" pitchFamily="34" charset="-120"/>
              </a:rPr>
              <a:t> — built for </a:t>
            </a:r>
            <a:r>
              <a:rPr lang="en-US" sz="2800" b="1" dirty="0">
                <a:solidFill>
                  <a:srgbClr val="0A1A2F"/>
                </a:solidFill>
                <a:latin typeface="Calibri" pitchFamily="34" charset="0"/>
                <a:ea typeface="Calibri" pitchFamily="34" charset="-122"/>
                <a:cs typeface="Calibri" pitchFamily="34" charset="-120"/>
              </a:rPr>
              <a:t>enterprise-scale change</a:t>
            </a:r>
            <a:r>
              <a:rPr lang="en-US" sz="2800" dirty="0">
                <a:solidFill>
                  <a:srgbClr val="111827"/>
                </a:solidFill>
                <a:latin typeface="Calibri" pitchFamily="34" charset="0"/>
                <a:ea typeface="Calibri" pitchFamily="34" charset="-122"/>
                <a:cs typeface="Calibri" pitchFamily="34" charset="-120"/>
              </a:rPr>
              <a:t>.</a:t>
            </a:r>
            <a:endParaRPr lang="en-US" sz="2800" dirty="0"/>
          </a:p>
        </p:txBody>
      </p:sp>
      <p:sp>
        <p:nvSpPr>
          <p:cNvPr id="18" name="Shape 15"/>
          <p:cNvSpPr/>
          <p:nvPr/>
        </p:nvSpPr>
        <p:spPr>
          <a:xfrm>
            <a:off x="4663440" y="2145905"/>
            <a:ext cx="73152" cy="914400"/>
          </a:xfrm>
          <a:prstGeom prst="rect">
            <a:avLst/>
          </a:prstGeom>
          <a:solidFill>
            <a:srgbClr val="2DD4BF"/>
          </a:solidFill>
          <a:ln/>
        </p:spPr>
        <p:txBody>
          <a:bodyPr/>
          <a:lstStyle/>
          <a:p>
            <a:endParaRPr lang="en-SE"/>
          </a:p>
        </p:txBody>
      </p:sp>
      <p:sp>
        <p:nvSpPr>
          <p:cNvPr id="19" name="Text 16"/>
          <p:cNvSpPr/>
          <p:nvPr/>
        </p:nvSpPr>
        <p:spPr>
          <a:xfrm>
            <a:off x="4864608" y="2145905"/>
            <a:ext cx="6903720" cy="914400"/>
          </a:xfrm>
          <a:prstGeom prst="rect">
            <a:avLst/>
          </a:prstGeom>
          <a:noFill/>
          <a:ln/>
        </p:spPr>
        <p:txBody>
          <a:bodyPr wrap="square" lIns="0" tIns="0" rIns="0" bIns="0" rtlCol="0" anchor="ctr"/>
          <a:lstStyle/>
          <a:p>
            <a:pPr marL="0" indent="0">
              <a:buNone/>
            </a:pPr>
            <a:r>
              <a:rPr lang="en-US" sz="2000" i="1" dirty="0">
                <a:solidFill>
                  <a:srgbClr val="475569"/>
                </a:solidFill>
                <a:latin typeface="Calibri" pitchFamily="34" charset="0"/>
                <a:ea typeface="Calibri" pitchFamily="34" charset="-122"/>
                <a:cs typeface="Calibri" pitchFamily="34" charset="-120"/>
              </a:rPr>
              <a:t>Transformation leader using </a:t>
            </a:r>
            <a:r>
              <a:rPr lang="en-US" sz="2000" b="1" i="1" dirty="0">
                <a:solidFill>
                  <a:srgbClr val="D97706"/>
                </a:solidFill>
                <a:latin typeface="Calibri" pitchFamily="34" charset="0"/>
                <a:ea typeface="Calibri" pitchFamily="34" charset="-122"/>
                <a:cs typeface="Calibri" pitchFamily="34" charset="-120"/>
              </a:rPr>
              <a:t>data as the engine of change</a:t>
            </a:r>
            <a:endParaRPr lang="en-US" sz="2000" dirty="0"/>
          </a:p>
        </p:txBody>
      </p:sp>
      <p:sp>
        <p:nvSpPr>
          <p:cNvPr id="20" name="Shape 17"/>
          <p:cNvSpPr/>
          <p:nvPr/>
        </p:nvSpPr>
        <p:spPr>
          <a:xfrm>
            <a:off x="4663440" y="3243185"/>
            <a:ext cx="2270760" cy="713232"/>
          </a:xfrm>
          <a:prstGeom prst="rect">
            <a:avLst/>
          </a:prstGeom>
          <a:solidFill>
            <a:srgbClr val="0A1A2F"/>
          </a:solidFill>
          <a:ln/>
        </p:spPr>
        <p:txBody>
          <a:bodyPr/>
          <a:lstStyle/>
          <a:p>
            <a:endParaRPr lang="en-SE"/>
          </a:p>
        </p:txBody>
      </p:sp>
      <p:sp>
        <p:nvSpPr>
          <p:cNvPr id="21" name="Shape 18"/>
          <p:cNvSpPr/>
          <p:nvPr/>
        </p:nvSpPr>
        <p:spPr>
          <a:xfrm>
            <a:off x="4663440" y="3243185"/>
            <a:ext cx="2270760" cy="54864"/>
          </a:xfrm>
          <a:prstGeom prst="rect">
            <a:avLst/>
          </a:prstGeom>
          <a:solidFill>
            <a:srgbClr val="F59E0B"/>
          </a:solidFill>
          <a:ln/>
        </p:spPr>
        <p:txBody>
          <a:bodyPr/>
          <a:lstStyle/>
          <a:p>
            <a:endParaRPr lang="en-SE"/>
          </a:p>
        </p:txBody>
      </p:sp>
      <p:sp>
        <p:nvSpPr>
          <p:cNvPr id="22" name="Text 19"/>
          <p:cNvSpPr/>
          <p:nvPr/>
        </p:nvSpPr>
        <p:spPr>
          <a:xfrm>
            <a:off x="4828032" y="3316337"/>
            <a:ext cx="1188720" cy="548640"/>
          </a:xfrm>
          <a:prstGeom prst="rect">
            <a:avLst/>
          </a:prstGeom>
          <a:noFill/>
          <a:ln/>
        </p:spPr>
        <p:txBody>
          <a:bodyPr wrap="square" lIns="0" tIns="0" rIns="0" bIns="0" rtlCol="0" anchor="ctr"/>
          <a:lstStyle/>
          <a:p>
            <a:pPr marL="0" indent="0">
              <a:buNone/>
            </a:pPr>
            <a:r>
              <a:rPr lang="en-US" sz="2400" b="1" dirty="0">
                <a:solidFill>
                  <a:srgbClr val="F59E0B"/>
                </a:solidFill>
                <a:latin typeface="Calibri" pitchFamily="34" charset="0"/>
                <a:ea typeface="Calibri" pitchFamily="34" charset="-122"/>
                <a:cs typeface="Calibri" pitchFamily="34" charset="-120"/>
              </a:rPr>
              <a:t>20+</a:t>
            </a:r>
            <a:endParaRPr lang="en-US" sz="2400" dirty="0"/>
          </a:p>
        </p:txBody>
      </p:sp>
      <p:sp>
        <p:nvSpPr>
          <p:cNvPr id="23" name="Text 20"/>
          <p:cNvSpPr/>
          <p:nvPr/>
        </p:nvSpPr>
        <p:spPr>
          <a:xfrm>
            <a:off x="5989320" y="3334625"/>
            <a:ext cx="899160" cy="576072"/>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YEARS</a:t>
            </a:r>
            <a:endParaRPr lang="en-US" sz="1000" dirty="0"/>
          </a:p>
          <a:p>
            <a:pPr marL="0" indent="0">
              <a:buNone/>
            </a:pPr>
            <a:r>
              <a:rPr lang="en-US" sz="1000" b="1" kern="0" spc="200" dirty="0">
                <a:solidFill>
                  <a:srgbClr val="FFFFFF"/>
                </a:solidFill>
                <a:latin typeface="Calibri" pitchFamily="34" charset="0"/>
                <a:ea typeface="Calibri" pitchFamily="34" charset="-122"/>
                <a:cs typeface="Calibri" pitchFamily="34" charset="-120"/>
              </a:rPr>
              <a:t>DATA / FMCG</a:t>
            </a:r>
            <a:endParaRPr lang="en-US" sz="1000" dirty="0"/>
          </a:p>
        </p:txBody>
      </p:sp>
      <p:sp>
        <p:nvSpPr>
          <p:cNvPr id="24" name="Shape 21"/>
          <p:cNvSpPr/>
          <p:nvPr/>
        </p:nvSpPr>
        <p:spPr>
          <a:xfrm>
            <a:off x="7117080" y="3243185"/>
            <a:ext cx="2270760" cy="713232"/>
          </a:xfrm>
          <a:prstGeom prst="rect">
            <a:avLst/>
          </a:prstGeom>
          <a:solidFill>
            <a:srgbClr val="0A1A2F"/>
          </a:solidFill>
          <a:ln/>
        </p:spPr>
        <p:txBody>
          <a:bodyPr/>
          <a:lstStyle/>
          <a:p>
            <a:endParaRPr lang="en-SE"/>
          </a:p>
        </p:txBody>
      </p:sp>
      <p:sp>
        <p:nvSpPr>
          <p:cNvPr id="25" name="Shape 22"/>
          <p:cNvSpPr/>
          <p:nvPr/>
        </p:nvSpPr>
        <p:spPr>
          <a:xfrm>
            <a:off x="7117080" y="3243185"/>
            <a:ext cx="2270760" cy="54864"/>
          </a:xfrm>
          <a:prstGeom prst="rect">
            <a:avLst/>
          </a:prstGeom>
          <a:solidFill>
            <a:srgbClr val="F59E0B"/>
          </a:solidFill>
          <a:ln/>
        </p:spPr>
        <p:txBody>
          <a:bodyPr/>
          <a:lstStyle/>
          <a:p>
            <a:endParaRPr lang="en-SE"/>
          </a:p>
        </p:txBody>
      </p:sp>
      <p:sp>
        <p:nvSpPr>
          <p:cNvPr id="26" name="Text 23"/>
          <p:cNvSpPr/>
          <p:nvPr/>
        </p:nvSpPr>
        <p:spPr>
          <a:xfrm>
            <a:off x="7281672" y="3316337"/>
            <a:ext cx="1188720" cy="548640"/>
          </a:xfrm>
          <a:prstGeom prst="rect">
            <a:avLst/>
          </a:prstGeom>
          <a:noFill/>
          <a:ln/>
        </p:spPr>
        <p:txBody>
          <a:bodyPr wrap="square" lIns="0" tIns="0" rIns="0" bIns="0" rtlCol="0" anchor="ctr"/>
          <a:lstStyle/>
          <a:p>
            <a:pPr marL="0" indent="0">
              <a:buNone/>
            </a:pPr>
            <a:r>
              <a:rPr lang="en-US" sz="2400" b="1" dirty="0">
                <a:solidFill>
                  <a:srgbClr val="F59E0B"/>
                </a:solidFill>
                <a:latin typeface="Calibri" pitchFamily="34" charset="0"/>
                <a:ea typeface="Calibri" pitchFamily="34" charset="-122"/>
                <a:cs typeface="Calibri" pitchFamily="34" charset="-120"/>
              </a:rPr>
              <a:t>180+</a:t>
            </a:r>
            <a:endParaRPr lang="en-US" sz="2400" dirty="0"/>
          </a:p>
        </p:txBody>
      </p:sp>
      <p:sp>
        <p:nvSpPr>
          <p:cNvPr id="27" name="Text 24"/>
          <p:cNvSpPr/>
          <p:nvPr/>
        </p:nvSpPr>
        <p:spPr>
          <a:xfrm>
            <a:off x="8442960" y="3334625"/>
            <a:ext cx="899160" cy="576072"/>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GLOBAL</a:t>
            </a:r>
            <a:endParaRPr lang="en-US" sz="1000" dirty="0"/>
          </a:p>
          <a:p>
            <a:pPr marL="0" indent="0">
              <a:buNone/>
            </a:pPr>
            <a:r>
              <a:rPr lang="en-US" sz="1000" b="1" kern="0" spc="200" dirty="0">
                <a:solidFill>
                  <a:srgbClr val="FFFFFF"/>
                </a:solidFill>
                <a:latin typeface="Calibri" pitchFamily="34" charset="0"/>
                <a:ea typeface="Calibri" pitchFamily="34" charset="-122"/>
                <a:cs typeface="Calibri" pitchFamily="34" charset="-120"/>
              </a:rPr>
              <a:t>TEAM</a:t>
            </a:r>
            <a:endParaRPr lang="en-US" sz="1000" dirty="0"/>
          </a:p>
        </p:txBody>
      </p:sp>
      <p:sp>
        <p:nvSpPr>
          <p:cNvPr id="28" name="Shape 25"/>
          <p:cNvSpPr/>
          <p:nvPr/>
        </p:nvSpPr>
        <p:spPr>
          <a:xfrm>
            <a:off x="9570720" y="3243185"/>
            <a:ext cx="2270760" cy="713232"/>
          </a:xfrm>
          <a:prstGeom prst="rect">
            <a:avLst/>
          </a:prstGeom>
          <a:solidFill>
            <a:srgbClr val="0A1A2F"/>
          </a:solidFill>
          <a:ln/>
        </p:spPr>
        <p:txBody>
          <a:bodyPr/>
          <a:lstStyle/>
          <a:p>
            <a:endParaRPr lang="en-SE"/>
          </a:p>
        </p:txBody>
      </p:sp>
      <p:sp>
        <p:nvSpPr>
          <p:cNvPr id="29" name="Shape 26"/>
          <p:cNvSpPr/>
          <p:nvPr/>
        </p:nvSpPr>
        <p:spPr>
          <a:xfrm>
            <a:off x="9570720" y="3243185"/>
            <a:ext cx="2270760" cy="54864"/>
          </a:xfrm>
          <a:prstGeom prst="rect">
            <a:avLst/>
          </a:prstGeom>
          <a:solidFill>
            <a:srgbClr val="F59E0B"/>
          </a:solidFill>
          <a:ln/>
        </p:spPr>
        <p:txBody>
          <a:bodyPr/>
          <a:lstStyle/>
          <a:p>
            <a:endParaRPr lang="en-SE"/>
          </a:p>
        </p:txBody>
      </p:sp>
      <p:sp>
        <p:nvSpPr>
          <p:cNvPr id="30" name="Text 27"/>
          <p:cNvSpPr/>
          <p:nvPr/>
        </p:nvSpPr>
        <p:spPr>
          <a:xfrm>
            <a:off x="9735312" y="3316337"/>
            <a:ext cx="1188720" cy="548640"/>
          </a:xfrm>
          <a:prstGeom prst="rect">
            <a:avLst/>
          </a:prstGeom>
          <a:noFill/>
          <a:ln/>
        </p:spPr>
        <p:txBody>
          <a:bodyPr wrap="square" lIns="0" tIns="0" rIns="0" bIns="0" rtlCol="0" anchor="ctr"/>
          <a:lstStyle/>
          <a:p>
            <a:pPr marL="0" indent="0">
              <a:buNone/>
            </a:pPr>
            <a:r>
              <a:rPr lang="en-US" sz="2400" b="1" dirty="0">
                <a:solidFill>
                  <a:srgbClr val="F59E0B"/>
                </a:solidFill>
                <a:latin typeface="Calibri" pitchFamily="34" charset="0"/>
                <a:ea typeface="Calibri" pitchFamily="34" charset="-122"/>
                <a:cs typeface="Calibri" pitchFamily="34" charset="-120"/>
              </a:rPr>
              <a:t>3</a:t>
            </a:r>
            <a:endParaRPr lang="en-US" sz="2400" dirty="0"/>
          </a:p>
        </p:txBody>
      </p:sp>
      <p:sp>
        <p:nvSpPr>
          <p:cNvPr id="31" name="Text 28"/>
          <p:cNvSpPr/>
          <p:nvPr/>
        </p:nvSpPr>
        <p:spPr>
          <a:xfrm>
            <a:off x="10668000" y="3334625"/>
            <a:ext cx="1127760" cy="576072"/>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FLUENT</a:t>
            </a:r>
            <a:endParaRPr lang="en-US" sz="1000" dirty="0"/>
          </a:p>
          <a:p>
            <a:pPr marL="0" indent="0">
              <a:buNone/>
            </a:pPr>
            <a:r>
              <a:rPr lang="en-US" sz="1000" b="1" kern="0" spc="200" dirty="0">
                <a:solidFill>
                  <a:srgbClr val="FFFFFF"/>
                </a:solidFill>
                <a:latin typeface="Calibri" pitchFamily="34" charset="0"/>
                <a:ea typeface="Calibri" pitchFamily="34" charset="-122"/>
                <a:cs typeface="Calibri" pitchFamily="34" charset="-120"/>
              </a:rPr>
              <a:t>LANGUAGES</a:t>
            </a:r>
            <a:endParaRPr lang="en-US" sz="1000" dirty="0"/>
          </a:p>
        </p:txBody>
      </p:sp>
      <p:sp>
        <p:nvSpPr>
          <p:cNvPr id="32" name="Shape 29"/>
          <p:cNvSpPr/>
          <p:nvPr/>
        </p:nvSpPr>
        <p:spPr>
          <a:xfrm>
            <a:off x="4663440" y="4111865"/>
            <a:ext cx="2270760" cy="2377440"/>
          </a:xfrm>
          <a:prstGeom prst="rect">
            <a:avLst/>
          </a:prstGeom>
          <a:solidFill>
            <a:srgbClr val="FFFFFF"/>
          </a:solidFill>
          <a:ln w="9525">
            <a:solidFill>
              <a:srgbClr val="E5E7EB"/>
            </a:solidFill>
            <a:prstDash val="solid"/>
          </a:ln>
        </p:spPr>
        <p:txBody>
          <a:bodyPr/>
          <a:lstStyle/>
          <a:p>
            <a:endParaRPr lang="en-SE"/>
          </a:p>
        </p:txBody>
      </p:sp>
      <p:sp>
        <p:nvSpPr>
          <p:cNvPr id="33" name="Shape 30"/>
          <p:cNvSpPr/>
          <p:nvPr/>
        </p:nvSpPr>
        <p:spPr>
          <a:xfrm>
            <a:off x="4663440" y="4111865"/>
            <a:ext cx="2270760" cy="73152"/>
          </a:xfrm>
          <a:prstGeom prst="rect">
            <a:avLst/>
          </a:prstGeom>
          <a:solidFill>
            <a:srgbClr val="2DD4BF"/>
          </a:solidFill>
          <a:ln/>
        </p:spPr>
        <p:txBody>
          <a:bodyPr/>
          <a:lstStyle/>
          <a:p>
            <a:endParaRPr lang="en-SE"/>
          </a:p>
        </p:txBody>
      </p:sp>
      <p:sp>
        <p:nvSpPr>
          <p:cNvPr id="34" name="Shape 31"/>
          <p:cNvSpPr/>
          <p:nvPr/>
        </p:nvSpPr>
        <p:spPr>
          <a:xfrm>
            <a:off x="4919472" y="4386185"/>
            <a:ext cx="548640" cy="548640"/>
          </a:xfrm>
          <a:prstGeom prst="ellipse">
            <a:avLst/>
          </a:prstGeom>
          <a:solidFill>
            <a:srgbClr val="2DD4BF"/>
          </a:solidFill>
          <a:ln/>
        </p:spPr>
        <p:txBody>
          <a:bodyPr/>
          <a:lstStyle/>
          <a:p>
            <a:endParaRPr lang="en-SE"/>
          </a:p>
        </p:txBody>
      </p:sp>
      <p:pic>
        <p:nvPicPr>
          <p:cNvPr id="35" name="Image 1" descr="preencoded.png"/>
          <p:cNvPicPr>
            <a:picLocks noChangeAspect="1"/>
          </p:cNvPicPr>
          <p:nvPr/>
        </p:nvPicPr>
        <p:blipFill>
          <a:blip r:embed="rId4"/>
          <a:stretch>
            <a:fillRect/>
          </a:stretch>
        </p:blipFill>
        <p:spPr>
          <a:xfrm>
            <a:off x="5020056" y="4486769"/>
            <a:ext cx="347472" cy="347472"/>
          </a:xfrm>
          <a:prstGeom prst="rect">
            <a:avLst/>
          </a:prstGeom>
        </p:spPr>
      </p:pic>
      <p:sp>
        <p:nvSpPr>
          <p:cNvPr id="36" name="Text 32"/>
          <p:cNvSpPr/>
          <p:nvPr/>
        </p:nvSpPr>
        <p:spPr>
          <a:xfrm>
            <a:off x="4775097" y="5026265"/>
            <a:ext cx="1813560" cy="365760"/>
          </a:xfrm>
          <a:prstGeom prst="rect">
            <a:avLst/>
          </a:prstGeom>
          <a:noFill/>
          <a:ln/>
        </p:spPr>
        <p:txBody>
          <a:bodyPr wrap="square" lIns="0" tIns="0" rIns="0" bIns="0" rtlCol="0" anchor="ctr"/>
          <a:lstStyle/>
          <a:p>
            <a:pPr marL="0" indent="0">
              <a:buNone/>
            </a:pPr>
            <a:r>
              <a:rPr lang="en-US" sz="1600" b="1" dirty="0">
                <a:solidFill>
                  <a:srgbClr val="0A1A2F"/>
                </a:solidFill>
                <a:latin typeface="Calibri" pitchFamily="34" charset="0"/>
                <a:ea typeface="Calibri" pitchFamily="34" charset="-122"/>
                <a:cs typeface="Calibri" pitchFamily="34" charset="-120"/>
              </a:rPr>
              <a:t>Tech Expertise</a:t>
            </a:r>
            <a:endParaRPr lang="en-US" sz="1600" dirty="0"/>
          </a:p>
        </p:txBody>
      </p:sp>
      <p:sp>
        <p:nvSpPr>
          <p:cNvPr id="37" name="Text 33"/>
          <p:cNvSpPr/>
          <p:nvPr/>
        </p:nvSpPr>
        <p:spPr>
          <a:xfrm>
            <a:off x="4775097" y="5437745"/>
            <a:ext cx="1969008" cy="960120"/>
          </a:xfrm>
          <a:prstGeom prst="rect">
            <a:avLst/>
          </a:prstGeom>
          <a:noFill/>
          <a:ln/>
        </p:spPr>
        <p:txBody>
          <a:bodyPr wrap="square" lIns="0" tIns="0" rIns="0" bIns="0" rtlCol="0" anchor="t"/>
          <a:lstStyle/>
          <a:p>
            <a:pPr marL="0" indent="0">
              <a:buNone/>
            </a:pPr>
            <a:r>
              <a:rPr lang="en-US" sz="1200" dirty="0">
                <a:solidFill>
                  <a:srgbClr val="111827"/>
                </a:solidFill>
                <a:latin typeface="Calibri" pitchFamily="34" charset="0"/>
                <a:ea typeface="Calibri" pitchFamily="34" charset="-122"/>
                <a:cs typeface="Calibri" pitchFamily="34" charset="-120"/>
              </a:rPr>
              <a:t>Modern data stack — </a:t>
            </a:r>
            <a:r>
              <a:rPr lang="en-US" sz="1200" b="1" dirty="0">
                <a:solidFill>
                  <a:srgbClr val="0A1A2F"/>
                </a:solidFill>
                <a:latin typeface="Calibri" pitchFamily="34" charset="0"/>
                <a:ea typeface="Calibri" pitchFamily="34" charset="-122"/>
                <a:cs typeface="Calibri" pitchFamily="34" charset="-120"/>
              </a:rPr>
              <a:t>Snowflake, DBT, Azure, Power BI</a:t>
            </a:r>
            <a:r>
              <a:rPr lang="en-US" sz="1200" dirty="0">
                <a:solidFill>
                  <a:srgbClr val="111827"/>
                </a:solidFill>
                <a:latin typeface="Calibri" pitchFamily="34" charset="0"/>
                <a:ea typeface="Calibri" pitchFamily="34" charset="-122"/>
                <a:cs typeface="Calibri" pitchFamily="34" charset="-120"/>
              </a:rPr>
              <a:t>. Cloud, DevOps, </a:t>
            </a:r>
            <a:r>
              <a:rPr lang="en-US" sz="1200" b="1" dirty="0">
                <a:solidFill>
                  <a:srgbClr val="0A1A2F"/>
                </a:solidFill>
                <a:latin typeface="Calibri" pitchFamily="34" charset="0"/>
                <a:ea typeface="Calibri" pitchFamily="34" charset="-122"/>
                <a:cs typeface="Calibri" pitchFamily="34" charset="-120"/>
              </a:rPr>
              <a:t>IoT data exploitation</a:t>
            </a:r>
            <a:r>
              <a:rPr lang="en-US" sz="1200" dirty="0">
                <a:solidFill>
                  <a:srgbClr val="111827"/>
                </a:solidFill>
                <a:latin typeface="Calibri" pitchFamily="34" charset="0"/>
                <a:ea typeface="Calibri" pitchFamily="34" charset="-122"/>
                <a:cs typeface="Calibri" pitchFamily="34" charset="-120"/>
              </a:rPr>
              <a:t>, enterprise BI — edge to insight.</a:t>
            </a:r>
            <a:endParaRPr lang="en-US" sz="1200" dirty="0"/>
          </a:p>
        </p:txBody>
      </p:sp>
      <p:sp>
        <p:nvSpPr>
          <p:cNvPr id="38" name="Shape 34"/>
          <p:cNvSpPr/>
          <p:nvPr/>
        </p:nvSpPr>
        <p:spPr>
          <a:xfrm>
            <a:off x="7117080" y="4111865"/>
            <a:ext cx="2270760" cy="2377440"/>
          </a:xfrm>
          <a:prstGeom prst="rect">
            <a:avLst/>
          </a:prstGeom>
          <a:solidFill>
            <a:srgbClr val="FFFFFF"/>
          </a:solidFill>
          <a:ln w="9525">
            <a:solidFill>
              <a:srgbClr val="E5E7EB"/>
            </a:solidFill>
            <a:prstDash val="solid"/>
          </a:ln>
        </p:spPr>
        <p:txBody>
          <a:bodyPr/>
          <a:lstStyle/>
          <a:p>
            <a:endParaRPr lang="en-SE"/>
          </a:p>
        </p:txBody>
      </p:sp>
      <p:sp>
        <p:nvSpPr>
          <p:cNvPr id="39" name="Shape 35"/>
          <p:cNvSpPr/>
          <p:nvPr/>
        </p:nvSpPr>
        <p:spPr>
          <a:xfrm>
            <a:off x="7117080" y="4111865"/>
            <a:ext cx="2270760" cy="73152"/>
          </a:xfrm>
          <a:prstGeom prst="rect">
            <a:avLst/>
          </a:prstGeom>
          <a:solidFill>
            <a:srgbClr val="2DD4BF"/>
          </a:solidFill>
          <a:ln/>
        </p:spPr>
        <p:txBody>
          <a:bodyPr/>
          <a:lstStyle/>
          <a:p>
            <a:endParaRPr lang="en-SE"/>
          </a:p>
        </p:txBody>
      </p:sp>
      <p:sp>
        <p:nvSpPr>
          <p:cNvPr id="40" name="Shape 36"/>
          <p:cNvSpPr/>
          <p:nvPr/>
        </p:nvSpPr>
        <p:spPr>
          <a:xfrm>
            <a:off x="7373112" y="4386185"/>
            <a:ext cx="548640" cy="548640"/>
          </a:xfrm>
          <a:prstGeom prst="ellipse">
            <a:avLst/>
          </a:prstGeom>
          <a:solidFill>
            <a:srgbClr val="2DD4BF"/>
          </a:solidFill>
          <a:ln/>
        </p:spPr>
        <p:txBody>
          <a:bodyPr/>
          <a:lstStyle/>
          <a:p>
            <a:endParaRPr lang="en-SE"/>
          </a:p>
        </p:txBody>
      </p:sp>
      <p:pic>
        <p:nvPicPr>
          <p:cNvPr id="41" name="Image 2" descr="preencoded.png"/>
          <p:cNvPicPr>
            <a:picLocks noChangeAspect="1"/>
          </p:cNvPicPr>
          <p:nvPr/>
        </p:nvPicPr>
        <p:blipFill>
          <a:blip r:embed="rId5"/>
          <a:stretch>
            <a:fillRect/>
          </a:stretch>
        </p:blipFill>
        <p:spPr>
          <a:xfrm>
            <a:off x="7473696" y="4486769"/>
            <a:ext cx="347472" cy="347472"/>
          </a:xfrm>
          <a:prstGeom prst="rect">
            <a:avLst/>
          </a:prstGeom>
        </p:spPr>
      </p:pic>
      <p:sp>
        <p:nvSpPr>
          <p:cNvPr id="42" name="Text 37"/>
          <p:cNvSpPr/>
          <p:nvPr/>
        </p:nvSpPr>
        <p:spPr>
          <a:xfrm>
            <a:off x="7228737" y="5026265"/>
            <a:ext cx="1813560" cy="365760"/>
          </a:xfrm>
          <a:prstGeom prst="rect">
            <a:avLst/>
          </a:prstGeom>
          <a:noFill/>
          <a:ln/>
        </p:spPr>
        <p:txBody>
          <a:bodyPr wrap="square" lIns="0" tIns="0" rIns="0" bIns="0" rtlCol="0" anchor="ctr"/>
          <a:lstStyle/>
          <a:p>
            <a:pPr marL="0" indent="0">
              <a:buNone/>
            </a:pPr>
            <a:r>
              <a:rPr lang="en-US" sz="1600" b="1" dirty="0">
                <a:solidFill>
                  <a:srgbClr val="0A1A2F"/>
                </a:solidFill>
                <a:latin typeface="Calibri" pitchFamily="34" charset="0"/>
                <a:ea typeface="Calibri" pitchFamily="34" charset="-122"/>
                <a:cs typeface="Calibri" pitchFamily="34" charset="-120"/>
              </a:rPr>
              <a:t>Leadership Strength</a:t>
            </a:r>
            <a:endParaRPr lang="en-US" sz="1600" dirty="0"/>
          </a:p>
        </p:txBody>
      </p:sp>
      <p:sp>
        <p:nvSpPr>
          <p:cNvPr id="43" name="Text 38"/>
          <p:cNvSpPr/>
          <p:nvPr/>
        </p:nvSpPr>
        <p:spPr>
          <a:xfrm>
            <a:off x="7228737" y="5437745"/>
            <a:ext cx="1969008" cy="960120"/>
          </a:xfrm>
          <a:prstGeom prst="rect">
            <a:avLst/>
          </a:prstGeom>
          <a:noFill/>
          <a:ln/>
        </p:spPr>
        <p:txBody>
          <a:bodyPr wrap="square" lIns="0" tIns="0" rIns="0" bIns="0" rtlCol="0" anchor="t"/>
          <a:lstStyle/>
          <a:p>
            <a:pPr marL="0" indent="0">
              <a:buNone/>
            </a:pPr>
            <a:r>
              <a:rPr lang="en-US" sz="1200" dirty="0">
                <a:solidFill>
                  <a:srgbClr val="111827"/>
                </a:solidFill>
                <a:latin typeface="Calibri" pitchFamily="34" charset="0"/>
                <a:ea typeface="Calibri" pitchFamily="34" charset="-122"/>
                <a:cs typeface="Calibri" pitchFamily="34" charset="-120"/>
              </a:rPr>
              <a:t>Led </a:t>
            </a:r>
            <a:r>
              <a:rPr lang="en-US" sz="1200" b="1" dirty="0">
                <a:solidFill>
                  <a:srgbClr val="0A1A2F"/>
                </a:solidFill>
                <a:latin typeface="Calibri" pitchFamily="34" charset="0"/>
                <a:ea typeface="Calibri" pitchFamily="34" charset="-122"/>
                <a:cs typeface="Calibri" pitchFamily="34" charset="-120"/>
              </a:rPr>
              <a:t>global orgs</a:t>
            </a:r>
            <a:r>
              <a:rPr lang="en-US" sz="1200" dirty="0">
                <a:solidFill>
                  <a:srgbClr val="111827"/>
                </a:solidFill>
                <a:latin typeface="Calibri" pitchFamily="34" charset="0"/>
                <a:ea typeface="Calibri" pitchFamily="34" charset="-122"/>
                <a:cs typeface="Calibri" pitchFamily="34" charset="-120"/>
              </a:rPr>
              <a:t> across </a:t>
            </a:r>
            <a:r>
              <a:rPr lang="en-US" sz="1200" b="1" dirty="0">
                <a:solidFill>
                  <a:srgbClr val="0A1A2F"/>
                </a:solidFill>
                <a:latin typeface="Calibri" pitchFamily="34" charset="0"/>
                <a:ea typeface="Calibri" pitchFamily="34" charset="-122"/>
                <a:cs typeface="Calibri" pitchFamily="34" charset="-120"/>
              </a:rPr>
              <a:t>8 global hubs</a:t>
            </a:r>
            <a:r>
              <a:rPr lang="en-US" sz="1200" dirty="0">
                <a:solidFill>
                  <a:srgbClr val="111827"/>
                </a:solidFill>
                <a:latin typeface="Calibri" pitchFamily="34" charset="0"/>
                <a:ea typeface="Calibri" pitchFamily="34" charset="-122"/>
                <a:cs typeface="Calibri" pitchFamily="34" charset="-120"/>
              </a:rPr>
              <a:t>. Trusted partner of </a:t>
            </a:r>
            <a:r>
              <a:rPr lang="en-US" sz="1200" b="1" dirty="0">
                <a:solidFill>
                  <a:srgbClr val="0A1A2F"/>
                </a:solidFill>
                <a:latin typeface="Calibri" pitchFamily="34" charset="0"/>
                <a:ea typeface="Calibri" pitchFamily="34" charset="-122"/>
                <a:cs typeface="Calibri" pitchFamily="34" charset="-120"/>
              </a:rPr>
              <a:t>CEO, CFO and CIO</a:t>
            </a:r>
            <a:r>
              <a:rPr lang="en-US" sz="1200" dirty="0">
                <a:solidFill>
                  <a:srgbClr val="111827"/>
                </a:solidFill>
                <a:latin typeface="Calibri" pitchFamily="34" charset="0"/>
                <a:ea typeface="Calibri" pitchFamily="34" charset="-122"/>
                <a:cs typeface="Calibri" pitchFamily="34" charset="-120"/>
              </a:rPr>
              <a:t>.</a:t>
            </a:r>
            <a:endParaRPr lang="en-US" sz="1200" dirty="0"/>
          </a:p>
        </p:txBody>
      </p:sp>
      <p:sp>
        <p:nvSpPr>
          <p:cNvPr id="44" name="Shape 39"/>
          <p:cNvSpPr/>
          <p:nvPr/>
        </p:nvSpPr>
        <p:spPr>
          <a:xfrm>
            <a:off x="9570720" y="4111865"/>
            <a:ext cx="2270760" cy="2377440"/>
          </a:xfrm>
          <a:prstGeom prst="rect">
            <a:avLst/>
          </a:prstGeom>
          <a:solidFill>
            <a:srgbClr val="FFFFFF"/>
          </a:solidFill>
          <a:ln w="9525">
            <a:solidFill>
              <a:srgbClr val="E5E7EB"/>
            </a:solidFill>
            <a:prstDash val="solid"/>
          </a:ln>
        </p:spPr>
        <p:txBody>
          <a:bodyPr/>
          <a:lstStyle/>
          <a:p>
            <a:endParaRPr lang="en-SE"/>
          </a:p>
        </p:txBody>
      </p:sp>
      <p:sp>
        <p:nvSpPr>
          <p:cNvPr id="45" name="Shape 40"/>
          <p:cNvSpPr/>
          <p:nvPr/>
        </p:nvSpPr>
        <p:spPr>
          <a:xfrm>
            <a:off x="9570720" y="4111865"/>
            <a:ext cx="2270760" cy="73152"/>
          </a:xfrm>
          <a:prstGeom prst="rect">
            <a:avLst/>
          </a:prstGeom>
          <a:solidFill>
            <a:srgbClr val="2DD4BF"/>
          </a:solidFill>
          <a:ln/>
        </p:spPr>
        <p:txBody>
          <a:bodyPr/>
          <a:lstStyle/>
          <a:p>
            <a:endParaRPr lang="en-SE"/>
          </a:p>
        </p:txBody>
      </p:sp>
      <p:sp>
        <p:nvSpPr>
          <p:cNvPr id="46" name="Shape 41"/>
          <p:cNvSpPr/>
          <p:nvPr/>
        </p:nvSpPr>
        <p:spPr>
          <a:xfrm>
            <a:off x="9826752" y="4386185"/>
            <a:ext cx="548640" cy="548640"/>
          </a:xfrm>
          <a:prstGeom prst="ellipse">
            <a:avLst/>
          </a:prstGeom>
          <a:solidFill>
            <a:srgbClr val="2DD4BF"/>
          </a:solidFill>
          <a:ln/>
        </p:spPr>
        <p:txBody>
          <a:bodyPr/>
          <a:lstStyle/>
          <a:p>
            <a:endParaRPr lang="en-SE"/>
          </a:p>
        </p:txBody>
      </p:sp>
      <p:pic>
        <p:nvPicPr>
          <p:cNvPr id="47" name="Image 3" descr="preencoded.png"/>
          <p:cNvPicPr>
            <a:picLocks noChangeAspect="1"/>
          </p:cNvPicPr>
          <p:nvPr/>
        </p:nvPicPr>
        <p:blipFill>
          <a:blip r:embed="rId6"/>
          <a:stretch>
            <a:fillRect/>
          </a:stretch>
        </p:blipFill>
        <p:spPr>
          <a:xfrm>
            <a:off x="9927336" y="4486769"/>
            <a:ext cx="347472" cy="347472"/>
          </a:xfrm>
          <a:prstGeom prst="rect">
            <a:avLst/>
          </a:prstGeom>
        </p:spPr>
      </p:pic>
      <p:sp>
        <p:nvSpPr>
          <p:cNvPr id="48" name="Text 42"/>
          <p:cNvSpPr/>
          <p:nvPr/>
        </p:nvSpPr>
        <p:spPr>
          <a:xfrm>
            <a:off x="9682377" y="5026265"/>
            <a:ext cx="2091728" cy="365760"/>
          </a:xfrm>
          <a:prstGeom prst="rect">
            <a:avLst/>
          </a:prstGeom>
          <a:noFill/>
          <a:ln/>
        </p:spPr>
        <p:txBody>
          <a:bodyPr wrap="square" lIns="0" tIns="0" rIns="0" bIns="0" rtlCol="0" anchor="ctr"/>
          <a:lstStyle/>
          <a:p>
            <a:pPr marL="0" indent="0">
              <a:buNone/>
            </a:pPr>
            <a:r>
              <a:rPr lang="en-US" sz="1600" b="1" dirty="0">
                <a:solidFill>
                  <a:srgbClr val="0A1A2F"/>
                </a:solidFill>
                <a:latin typeface="Calibri" pitchFamily="34" charset="0"/>
                <a:ea typeface="Calibri" pitchFamily="34" charset="-122"/>
                <a:cs typeface="Calibri" pitchFamily="34" charset="-120"/>
              </a:rPr>
              <a:t>Transformation Mindset</a:t>
            </a:r>
            <a:endParaRPr lang="en-US" sz="1600" dirty="0"/>
          </a:p>
        </p:txBody>
      </p:sp>
      <p:sp>
        <p:nvSpPr>
          <p:cNvPr id="49" name="Text 43"/>
          <p:cNvSpPr/>
          <p:nvPr/>
        </p:nvSpPr>
        <p:spPr>
          <a:xfrm>
            <a:off x="9682377" y="5437745"/>
            <a:ext cx="1969008" cy="960120"/>
          </a:xfrm>
          <a:prstGeom prst="rect">
            <a:avLst/>
          </a:prstGeom>
          <a:noFill/>
          <a:ln/>
        </p:spPr>
        <p:txBody>
          <a:bodyPr wrap="square" lIns="0" tIns="0" rIns="0" bIns="0" rtlCol="0" anchor="t"/>
          <a:lstStyle/>
          <a:p>
            <a:pPr marL="0" indent="0">
              <a:buNone/>
            </a:pPr>
            <a:r>
              <a:rPr lang="en-US" sz="1200" dirty="0">
                <a:solidFill>
                  <a:srgbClr val="111827"/>
                </a:solidFill>
                <a:latin typeface="Calibri" pitchFamily="34" charset="0"/>
                <a:ea typeface="Calibri" pitchFamily="34" charset="-122"/>
                <a:cs typeface="Calibri" pitchFamily="34" charset="-120"/>
              </a:rPr>
              <a:t>Sets the </a:t>
            </a:r>
            <a:r>
              <a:rPr lang="en-US" sz="1200" b="1" dirty="0">
                <a:solidFill>
                  <a:srgbClr val="0A1A2F"/>
                </a:solidFill>
                <a:latin typeface="Calibri" pitchFamily="34" charset="0"/>
                <a:ea typeface="Calibri" pitchFamily="34" charset="-122"/>
                <a:cs typeface="Calibri" pitchFamily="34" charset="-120"/>
              </a:rPr>
              <a:t>“What” and “Why”</a:t>
            </a:r>
            <a:r>
              <a:rPr lang="en-US" sz="1200" dirty="0">
                <a:solidFill>
                  <a:srgbClr val="111827"/>
                </a:solidFill>
                <a:latin typeface="Calibri" pitchFamily="34" charset="0"/>
                <a:ea typeface="Calibri" pitchFamily="34" charset="-122"/>
                <a:cs typeface="Calibri" pitchFamily="34" charset="-120"/>
              </a:rPr>
              <a:t> before the “How”. </a:t>
            </a:r>
            <a:r>
              <a:rPr lang="en-US" sz="1200" b="1" dirty="0">
                <a:solidFill>
                  <a:srgbClr val="0A1A2F"/>
                </a:solidFill>
                <a:latin typeface="Calibri" pitchFamily="34" charset="0"/>
                <a:ea typeface="Calibri" pitchFamily="34" charset="-122"/>
                <a:cs typeface="Calibri" pitchFamily="34" charset="-120"/>
              </a:rPr>
              <a:t>Operating-model design</a:t>
            </a:r>
            <a:r>
              <a:rPr lang="en-US" sz="1200" dirty="0">
                <a:solidFill>
                  <a:srgbClr val="111827"/>
                </a:solidFill>
                <a:latin typeface="Calibri" pitchFamily="34" charset="0"/>
                <a:ea typeface="Calibri" pitchFamily="34" charset="-122"/>
                <a:cs typeface="Calibri" pitchFamily="34" charset="-120"/>
              </a:rPr>
              <a:t>, change and portfolio governance.</a:t>
            </a:r>
            <a:endParaRPr lang="en-US" sz="1200" dirty="0"/>
          </a:p>
        </p:txBody>
      </p:sp>
      <p:sp>
        <p:nvSpPr>
          <p:cNvPr id="52" name="Text 46"/>
          <p:cNvSpPr/>
          <p:nvPr/>
        </p:nvSpPr>
        <p:spPr>
          <a:xfrm>
            <a:off x="8229600" y="6592824"/>
            <a:ext cx="3502152" cy="201168"/>
          </a:xfrm>
          <a:prstGeom prst="rect">
            <a:avLst/>
          </a:prstGeom>
          <a:noFill/>
          <a:ln/>
        </p:spPr>
        <p:txBody>
          <a:bodyPr wrap="square" lIns="0" tIns="0" rIns="0" bIns="0" rtlCol="0" anchor="ctr"/>
          <a:lstStyle/>
          <a:p>
            <a:pPr marL="0" indent="0" algn="r">
              <a:buNone/>
            </a:pPr>
            <a:r>
              <a:rPr lang="en-US" sz="850" b="1" kern="0" spc="400" dirty="0">
                <a:solidFill>
                  <a:srgbClr val="14B8A6"/>
                </a:solidFill>
                <a:latin typeface="Calibri" pitchFamily="34" charset="0"/>
                <a:ea typeface="Calibri" pitchFamily="34" charset="-122"/>
                <a:cs typeface="Calibri" pitchFamily="34" charset="-120"/>
              </a:rPr>
              <a:t>01  /  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02920"/>
            <a:ext cx="365760" cy="73152"/>
          </a:xfrm>
          <a:prstGeom prst="rect">
            <a:avLst/>
          </a:prstGeom>
          <a:solidFill>
            <a:srgbClr val="2DD4BF"/>
          </a:solidFill>
          <a:ln/>
        </p:spPr>
        <p:txBody>
          <a:bodyPr/>
          <a:lstStyle/>
          <a:p>
            <a:endParaRPr lang="en-SE"/>
          </a:p>
        </p:txBody>
      </p:sp>
      <p:sp>
        <p:nvSpPr>
          <p:cNvPr id="3" name="Text 1"/>
          <p:cNvSpPr/>
          <p:nvPr/>
        </p:nvSpPr>
        <p:spPr>
          <a:xfrm>
            <a:off x="914400" y="411480"/>
            <a:ext cx="10058400" cy="274320"/>
          </a:xfrm>
          <a:prstGeom prst="rect">
            <a:avLst/>
          </a:prstGeom>
          <a:noFill/>
          <a:ln/>
        </p:spPr>
        <p:txBody>
          <a:bodyPr wrap="square" lIns="0" tIns="0" rIns="0" bIns="0" rtlCol="0" anchor="ctr"/>
          <a:lstStyle/>
          <a:p>
            <a:pPr marL="0" indent="0">
              <a:buNone/>
            </a:pPr>
            <a:r>
              <a:rPr lang="en-US" sz="1100" b="1" kern="0" spc="600" dirty="0">
                <a:solidFill>
                  <a:srgbClr val="14B8A6"/>
                </a:solidFill>
                <a:latin typeface="Calibri" pitchFamily="34" charset="0"/>
                <a:ea typeface="Calibri" pitchFamily="34" charset="-122"/>
                <a:cs typeface="Calibri" pitchFamily="34" charset="-120"/>
              </a:rPr>
              <a:t>WHAT  I  BRING  TO  THE  TABLE</a:t>
            </a:r>
            <a:endParaRPr lang="en-US" sz="1100" dirty="0"/>
          </a:p>
        </p:txBody>
      </p:sp>
      <p:sp>
        <p:nvSpPr>
          <p:cNvPr id="4" name="Text 2"/>
          <p:cNvSpPr/>
          <p:nvPr/>
        </p:nvSpPr>
        <p:spPr>
          <a:xfrm>
            <a:off x="457200" y="713232"/>
            <a:ext cx="10972800" cy="640080"/>
          </a:xfrm>
          <a:prstGeom prst="rect">
            <a:avLst/>
          </a:prstGeom>
          <a:noFill/>
          <a:ln/>
        </p:spPr>
        <p:txBody>
          <a:bodyPr wrap="square" lIns="0" tIns="0" rIns="0" bIns="0" rtlCol="0" anchor="ctr"/>
          <a:lstStyle/>
          <a:p>
            <a:pPr marL="0" indent="0">
              <a:buNone/>
            </a:pPr>
            <a:r>
              <a:rPr lang="en-US" sz="3200" b="1" dirty="0">
                <a:solidFill>
                  <a:srgbClr val="0A1A2F"/>
                </a:solidFill>
                <a:latin typeface="Calibri" pitchFamily="34" charset="0"/>
                <a:ea typeface="Calibri" pitchFamily="34" charset="-122"/>
                <a:cs typeface="Calibri" pitchFamily="34" charset="-120"/>
              </a:rPr>
              <a:t>Core Competencies</a:t>
            </a:r>
            <a:endParaRPr lang="en-US" sz="3200" dirty="0"/>
          </a:p>
        </p:txBody>
      </p:sp>
      <p:sp>
        <p:nvSpPr>
          <p:cNvPr id="5" name="Text 3"/>
          <p:cNvSpPr/>
          <p:nvPr/>
        </p:nvSpPr>
        <p:spPr>
          <a:xfrm>
            <a:off x="457200" y="1417320"/>
            <a:ext cx="11274552" cy="457200"/>
          </a:xfrm>
          <a:prstGeom prst="rect">
            <a:avLst/>
          </a:prstGeom>
          <a:noFill/>
          <a:ln/>
        </p:spPr>
        <p:txBody>
          <a:bodyPr wrap="square" lIns="0" tIns="0" rIns="0" bIns="0" rtlCol="0" anchor="ctr"/>
          <a:lstStyle/>
          <a:p>
            <a:pPr marL="0" indent="0">
              <a:buNone/>
            </a:pPr>
            <a:r>
              <a:rPr lang="en-US" sz="1400" i="1" dirty="0">
                <a:solidFill>
                  <a:srgbClr val="475569"/>
                </a:solidFill>
                <a:latin typeface="Calibri" pitchFamily="34" charset="0"/>
                <a:ea typeface="Calibri" pitchFamily="34" charset="-122"/>
                <a:cs typeface="Calibri" pitchFamily="34" charset="-120"/>
              </a:rPr>
              <a:t>A balanced operator across </a:t>
            </a:r>
            <a:r>
              <a:rPr lang="en-US" sz="1400" b="1" i="1" dirty="0">
                <a:solidFill>
                  <a:srgbClr val="0A1A2F"/>
                </a:solidFill>
                <a:latin typeface="Calibri" pitchFamily="34" charset="0"/>
                <a:ea typeface="Calibri" pitchFamily="34" charset="-122"/>
                <a:cs typeface="Calibri" pitchFamily="34" charset="-120"/>
              </a:rPr>
              <a:t>enterprise transformation</a:t>
            </a:r>
            <a:r>
              <a:rPr lang="en-US" sz="1400" i="1" dirty="0">
                <a:solidFill>
                  <a:srgbClr val="475569"/>
                </a:solidFill>
                <a:latin typeface="Calibri" pitchFamily="34" charset="0"/>
                <a:ea typeface="Calibri" pitchFamily="34" charset="-122"/>
                <a:cs typeface="Calibri" pitchFamily="34" charset="-120"/>
              </a:rPr>
              <a:t>, </a:t>
            </a:r>
            <a:r>
              <a:rPr lang="en-US" sz="1400" b="1" i="1" dirty="0">
                <a:solidFill>
                  <a:srgbClr val="0A1A2F"/>
                </a:solidFill>
                <a:latin typeface="Calibri" pitchFamily="34" charset="0"/>
                <a:ea typeface="Calibri" pitchFamily="34" charset="-122"/>
                <a:cs typeface="Calibri" pitchFamily="34" charset="-120"/>
              </a:rPr>
              <a:t>data &amp; digital</a:t>
            </a:r>
            <a:r>
              <a:rPr lang="en-US" sz="1400" i="1" dirty="0">
                <a:solidFill>
                  <a:srgbClr val="475569"/>
                </a:solidFill>
                <a:latin typeface="Calibri" pitchFamily="34" charset="0"/>
                <a:ea typeface="Calibri" pitchFamily="34" charset="-122"/>
                <a:cs typeface="Calibri" pitchFamily="34" charset="-120"/>
              </a:rPr>
              <a:t> and </a:t>
            </a:r>
            <a:r>
              <a:rPr lang="en-US" sz="1400" b="1" i="1" dirty="0">
                <a:solidFill>
                  <a:srgbClr val="0A1A2F"/>
                </a:solidFill>
                <a:latin typeface="Calibri" pitchFamily="34" charset="0"/>
                <a:ea typeface="Calibri" pitchFamily="34" charset="-122"/>
                <a:cs typeface="Calibri" pitchFamily="34" charset="-120"/>
              </a:rPr>
              <a:t>global leadership</a:t>
            </a:r>
            <a:r>
              <a:rPr lang="en-US" sz="1400" i="1" dirty="0">
                <a:solidFill>
                  <a:srgbClr val="475569"/>
                </a:solidFill>
                <a:latin typeface="Calibri" pitchFamily="34" charset="0"/>
                <a:ea typeface="Calibri" pitchFamily="34" charset="-122"/>
                <a:cs typeface="Calibri" pitchFamily="34" charset="-120"/>
              </a:rPr>
              <a:t> — with senior-stakeholder fluency from CIO to CEO.</a:t>
            </a:r>
            <a:endParaRPr lang="en-US" sz="1400" dirty="0"/>
          </a:p>
        </p:txBody>
      </p:sp>
      <p:sp>
        <p:nvSpPr>
          <p:cNvPr id="6" name="Shape 4"/>
          <p:cNvSpPr/>
          <p:nvPr/>
        </p:nvSpPr>
        <p:spPr>
          <a:xfrm>
            <a:off x="457200" y="2011680"/>
            <a:ext cx="3703320" cy="3794760"/>
          </a:xfrm>
          <a:prstGeom prst="rect">
            <a:avLst/>
          </a:prstGeom>
          <a:solidFill>
            <a:srgbClr val="FFFFFF"/>
          </a:solidFill>
          <a:ln w="9525">
            <a:solidFill>
              <a:srgbClr val="E5E7EB"/>
            </a:solidFill>
            <a:prstDash val="solid"/>
          </a:ln>
        </p:spPr>
        <p:txBody>
          <a:bodyPr/>
          <a:lstStyle/>
          <a:p>
            <a:endParaRPr lang="en-SE"/>
          </a:p>
        </p:txBody>
      </p:sp>
      <p:sp>
        <p:nvSpPr>
          <p:cNvPr id="7" name="Shape 5"/>
          <p:cNvSpPr/>
          <p:nvPr/>
        </p:nvSpPr>
        <p:spPr>
          <a:xfrm>
            <a:off x="457200" y="2011680"/>
            <a:ext cx="3703320" cy="868680"/>
          </a:xfrm>
          <a:prstGeom prst="rect">
            <a:avLst/>
          </a:prstGeom>
          <a:solidFill>
            <a:srgbClr val="0A1A2F"/>
          </a:solidFill>
          <a:ln/>
        </p:spPr>
        <p:txBody>
          <a:bodyPr/>
          <a:lstStyle/>
          <a:p>
            <a:endParaRPr lang="en-SE"/>
          </a:p>
        </p:txBody>
      </p:sp>
      <p:sp>
        <p:nvSpPr>
          <p:cNvPr id="8" name="Shape 6"/>
          <p:cNvSpPr/>
          <p:nvPr/>
        </p:nvSpPr>
        <p:spPr>
          <a:xfrm>
            <a:off x="457200" y="2880360"/>
            <a:ext cx="3703320" cy="54864"/>
          </a:xfrm>
          <a:prstGeom prst="rect">
            <a:avLst/>
          </a:prstGeom>
          <a:solidFill>
            <a:srgbClr val="2DD4BF"/>
          </a:solidFill>
          <a:ln/>
        </p:spPr>
        <p:txBody>
          <a:bodyPr/>
          <a:lstStyle/>
          <a:p>
            <a:endParaRPr lang="en-SE" sz="2800"/>
          </a:p>
        </p:txBody>
      </p:sp>
      <p:sp>
        <p:nvSpPr>
          <p:cNvPr id="9" name="Shape 7"/>
          <p:cNvSpPr/>
          <p:nvPr/>
        </p:nvSpPr>
        <p:spPr>
          <a:xfrm>
            <a:off x="685800" y="2212848"/>
            <a:ext cx="457200" cy="457200"/>
          </a:xfrm>
          <a:prstGeom prst="ellipse">
            <a:avLst/>
          </a:prstGeom>
          <a:solidFill>
            <a:srgbClr val="2DD4BF"/>
          </a:solidFill>
          <a:ln/>
        </p:spPr>
        <p:txBody>
          <a:bodyPr/>
          <a:lstStyle/>
          <a:p>
            <a:endParaRPr lang="en-SE"/>
          </a:p>
        </p:txBody>
      </p:sp>
      <p:pic>
        <p:nvPicPr>
          <p:cNvPr id="10" name="Image 0" descr="preencoded.png"/>
          <p:cNvPicPr>
            <a:picLocks noChangeAspect="1"/>
          </p:cNvPicPr>
          <p:nvPr/>
        </p:nvPicPr>
        <p:blipFill>
          <a:blip r:embed="rId3"/>
          <a:stretch>
            <a:fillRect/>
          </a:stretch>
        </p:blipFill>
        <p:spPr>
          <a:xfrm>
            <a:off x="781812" y="2308860"/>
            <a:ext cx="265176" cy="265176"/>
          </a:xfrm>
          <a:prstGeom prst="rect">
            <a:avLst/>
          </a:prstGeom>
        </p:spPr>
      </p:pic>
      <p:sp>
        <p:nvSpPr>
          <p:cNvPr id="11" name="Text 8"/>
          <p:cNvSpPr/>
          <p:nvPr/>
        </p:nvSpPr>
        <p:spPr>
          <a:xfrm>
            <a:off x="1234440" y="2148840"/>
            <a:ext cx="2834640" cy="6400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Transformation &amp; Governance</a:t>
            </a:r>
            <a:endParaRPr lang="en-US" sz="2000" dirty="0"/>
          </a:p>
        </p:txBody>
      </p:sp>
      <p:sp>
        <p:nvSpPr>
          <p:cNvPr id="12" name="Shape 9"/>
          <p:cNvSpPr/>
          <p:nvPr/>
        </p:nvSpPr>
        <p:spPr>
          <a:xfrm>
            <a:off x="640080" y="3126768"/>
            <a:ext cx="118872" cy="118872"/>
          </a:xfrm>
          <a:prstGeom prst="rect">
            <a:avLst/>
          </a:prstGeom>
          <a:solidFill>
            <a:srgbClr val="F59E0B"/>
          </a:solidFill>
          <a:ln/>
        </p:spPr>
        <p:txBody>
          <a:bodyPr/>
          <a:lstStyle/>
          <a:p>
            <a:endParaRPr lang="en-SE" sz="2400"/>
          </a:p>
        </p:txBody>
      </p:sp>
      <p:sp>
        <p:nvSpPr>
          <p:cNvPr id="13" name="Text 10"/>
          <p:cNvSpPr/>
          <p:nvPr/>
        </p:nvSpPr>
        <p:spPr>
          <a:xfrm>
            <a:off x="822960" y="3017040"/>
            <a:ext cx="3246120" cy="292608"/>
          </a:xfrm>
          <a:prstGeom prst="rect">
            <a:avLst/>
          </a:prstGeom>
          <a:noFill/>
          <a:ln/>
        </p:spPr>
        <p:txBody>
          <a:bodyPr wrap="square" lIns="0" tIns="0" rIns="0" bIns="0" rtlCol="0" anchor="ctr"/>
          <a:lstStyle/>
          <a:p>
            <a:pPr marL="0" indent="0">
              <a:buNone/>
            </a:pPr>
            <a:r>
              <a:rPr lang="en-US" sz="1600" b="1" dirty="0">
                <a:solidFill>
                  <a:srgbClr val="0A1A2F"/>
                </a:solidFill>
                <a:latin typeface="Calibri" pitchFamily="34" charset="0"/>
                <a:ea typeface="Calibri" pitchFamily="34" charset="-122"/>
                <a:cs typeface="Calibri" pitchFamily="34" charset="-120"/>
              </a:rPr>
              <a:t>Enterprise transformation</a:t>
            </a:r>
            <a:endParaRPr lang="en-US" sz="1600" dirty="0"/>
          </a:p>
        </p:txBody>
      </p:sp>
      <p:sp>
        <p:nvSpPr>
          <p:cNvPr id="14" name="Text 11"/>
          <p:cNvSpPr/>
          <p:nvPr/>
        </p:nvSpPr>
        <p:spPr>
          <a:xfrm>
            <a:off x="822960" y="3272110"/>
            <a:ext cx="3246120" cy="292608"/>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End-to-end programs with CEO/CFO sponsorship</a:t>
            </a:r>
            <a:endParaRPr lang="en-US" sz="1200" dirty="0"/>
          </a:p>
        </p:txBody>
      </p:sp>
      <p:sp>
        <p:nvSpPr>
          <p:cNvPr id="15" name="Shape 12"/>
          <p:cNvSpPr/>
          <p:nvPr/>
        </p:nvSpPr>
        <p:spPr>
          <a:xfrm>
            <a:off x="640080" y="3675408"/>
            <a:ext cx="118872" cy="118872"/>
          </a:xfrm>
          <a:prstGeom prst="rect">
            <a:avLst/>
          </a:prstGeom>
          <a:solidFill>
            <a:srgbClr val="F59E0B"/>
          </a:solidFill>
          <a:ln/>
        </p:spPr>
        <p:txBody>
          <a:bodyPr/>
          <a:lstStyle/>
          <a:p>
            <a:endParaRPr lang="en-SE" sz="2800"/>
          </a:p>
        </p:txBody>
      </p:sp>
      <p:sp>
        <p:nvSpPr>
          <p:cNvPr id="16" name="Text 13"/>
          <p:cNvSpPr/>
          <p:nvPr/>
        </p:nvSpPr>
        <p:spPr>
          <a:xfrm>
            <a:off x="822960" y="3565680"/>
            <a:ext cx="3246120" cy="292608"/>
          </a:xfrm>
          <a:prstGeom prst="rect">
            <a:avLst/>
          </a:prstGeom>
          <a:noFill/>
          <a:ln/>
        </p:spPr>
        <p:txBody>
          <a:bodyPr wrap="square" lIns="0" tIns="0" rIns="0" bIns="0" rtlCol="0" anchor="ctr"/>
          <a:lstStyle/>
          <a:p>
            <a:pPr marL="0" indent="0">
              <a:buNone/>
            </a:pPr>
            <a:r>
              <a:rPr lang="en-US" sz="1600" b="1" dirty="0">
                <a:solidFill>
                  <a:srgbClr val="0A1A2F"/>
                </a:solidFill>
                <a:latin typeface="Calibri" pitchFamily="34" charset="0"/>
                <a:ea typeface="Calibri" pitchFamily="34" charset="-122"/>
                <a:cs typeface="Calibri" pitchFamily="34" charset="-120"/>
              </a:rPr>
              <a:t>Operating model design</a:t>
            </a:r>
            <a:endParaRPr lang="en-US" sz="1600" dirty="0"/>
          </a:p>
        </p:txBody>
      </p:sp>
      <p:sp>
        <p:nvSpPr>
          <p:cNvPr id="17" name="Text 14"/>
          <p:cNvSpPr/>
          <p:nvPr/>
        </p:nvSpPr>
        <p:spPr>
          <a:xfrm>
            <a:off x="822960" y="3811125"/>
            <a:ext cx="3246120" cy="292608"/>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Org structure, chapters, RACI, capability uplift</a:t>
            </a:r>
            <a:endParaRPr lang="en-US" sz="1200" dirty="0"/>
          </a:p>
        </p:txBody>
      </p:sp>
      <p:sp>
        <p:nvSpPr>
          <p:cNvPr id="18" name="Shape 15"/>
          <p:cNvSpPr/>
          <p:nvPr/>
        </p:nvSpPr>
        <p:spPr>
          <a:xfrm>
            <a:off x="640080" y="4224048"/>
            <a:ext cx="118872" cy="118872"/>
          </a:xfrm>
          <a:prstGeom prst="rect">
            <a:avLst/>
          </a:prstGeom>
          <a:solidFill>
            <a:srgbClr val="F59E0B"/>
          </a:solidFill>
          <a:ln/>
        </p:spPr>
        <p:txBody>
          <a:bodyPr/>
          <a:lstStyle/>
          <a:p>
            <a:endParaRPr lang="en-SE" sz="2400"/>
          </a:p>
        </p:txBody>
      </p:sp>
      <p:sp>
        <p:nvSpPr>
          <p:cNvPr id="19" name="Text 16"/>
          <p:cNvSpPr/>
          <p:nvPr/>
        </p:nvSpPr>
        <p:spPr>
          <a:xfrm>
            <a:off x="822960" y="4114320"/>
            <a:ext cx="3246120" cy="292608"/>
          </a:xfrm>
          <a:prstGeom prst="rect">
            <a:avLst/>
          </a:prstGeom>
          <a:noFill/>
          <a:ln/>
        </p:spPr>
        <p:txBody>
          <a:bodyPr wrap="square" lIns="0" tIns="0" rIns="0" bIns="0" rtlCol="0" anchor="ctr"/>
          <a:lstStyle/>
          <a:p>
            <a:pPr marL="0" indent="0">
              <a:buNone/>
            </a:pPr>
            <a:r>
              <a:rPr lang="en-US" sz="1600" b="1" dirty="0">
                <a:solidFill>
                  <a:srgbClr val="0A1A2F"/>
                </a:solidFill>
                <a:latin typeface="Calibri" pitchFamily="34" charset="0"/>
                <a:ea typeface="Calibri" pitchFamily="34" charset="-122"/>
                <a:cs typeface="Calibri" pitchFamily="34" charset="-120"/>
              </a:rPr>
              <a:t>PMO &amp; portfolio leadership</a:t>
            </a:r>
            <a:endParaRPr lang="en-US" sz="1600" dirty="0"/>
          </a:p>
        </p:txBody>
      </p:sp>
      <p:sp>
        <p:nvSpPr>
          <p:cNvPr id="20" name="Text 17"/>
          <p:cNvSpPr/>
          <p:nvPr/>
        </p:nvSpPr>
        <p:spPr>
          <a:xfrm>
            <a:off x="822960" y="4359765"/>
            <a:ext cx="3246120" cy="292608"/>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5-stage lifecycle · Gold / Silver / Bronze prioritisation</a:t>
            </a:r>
            <a:endParaRPr lang="en-US" sz="1200" dirty="0"/>
          </a:p>
        </p:txBody>
      </p:sp>
      <p:sp>
        <p:nvSpPr>
          <p:cNvPr id="21" name="Shape 18"/>
          <p:cNvSpPr/>
          <p:nvPr/>
        </p:nvSpPr>
        <p:spPr>
          <a:xfrm>
            <a:off x="640080" y="4772688"/>
            <a:ext cx="118872" cy="118872"/>
          </a:xfrm>
          <a:prstGeom prst="rect">
            <a:avLst/>
          </a:prstGeom>
          <a:solidFill>
            <a:srgbClr val="F59E0B"/>
          </a:solidFill>
          <a:ln/>
        </p:spPr>
        <p:txBody>
          <a:bodyPr/>
          <a:lstStyle/>
          <a:p>
            <a:endParaRPr lang="en-SE" sz="2400"/>
          </a:p>
        </p:txBody>
      </p:sp>
      <p:sp>
        <p:nvSpPr>
          <p:cNvPr id="22" name="Text 19"/>
          <p:cNvSpPr/>
          <p:nvPr/>
        </p:nvSpPr>
        <p:spPr>
          <a:xfrm>
            <a:off x="822960" y="4662960"/>
            <a:ext cx="3246120" cy="292608"/>
          </a:xfrm>
          <a:prstGeom prst="rect">
            <a:avLst/>
          </a:prstGeom>
          <a:noFill/>
          <a:ln/>
        </p:spPr>
        <p:txBody>
          <a:bodyPr wrap="square" lIns="0" tIns="0" rIns="0" bIns="0" rtlCol="0" anchor="ctr"/>
          <a:lstStyle/>
          <a:p>
            <a:pPr marL="0" indent="0">
              <a:buNone/>
            </a:pPr>
            <a:r>
              <a:rPr lang="en-US" sz="1600" b="1" dirty="0">
                <a:solidFill>
                  <a:srgbClr val="0A1A2F"/>
                </a:solidFill>
                <a:latin typeface="Calibri" pitchFamily="34" charset="0"/>
                <a:ea typeface="Calibri" pitchFamily="34" charset="-122"/>
                <a:cs typeface="Calibri" pitchFamily="34" charset="-120"/>
              </a:rPr>
              <a:t>Change management</a:t>
            </a:r>
            <a:endParaRPr lang="en-US" sz="1600" dirty="0"/>
          </a:p>
        </p:txBody>
      </p:sp>
      <p:sp>
        <p:nvSpPr>
          <p:cNvPr id="23" name="Text 20"/>
          <p:cNvSpPr/>
          <p:nvPr/>
        </p:nvSpPr>
        <p:spPr>
          <a:xfrm>
            <a:off x="822960" y="4918030"/>
            <a:ext cx="3246120" cy="292608"/>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Roles, reporting, culture and adoption</a:t>
            </a:r>
            <a:endParaRPr lang="en-US" sz="1200" dirty="0"/>
          </a:p>
        </p:txBody>
      </p:sp>
      <p:sp>
        <p:nvSpPr>
          <p:cNvPr id="24" name="Shape 21"/>
          <p:cNvSpPr/>
          <p:nvPr/>
        </p:nvSpPr>
        <p:spPr>
          <a:xfrm>
            <a:off x="640080" y="5321328"/>
            <a:ext cx="118872" cy="118872"/>
          </a:xfrm>
          <a:prstGeom prst="rect">
            <a:avLst/>
          </a:prstGeom>
          <a:solidFill>
            <a:srgbClr val="F59E0B"/>
          </a:solidFill>
          <a:ln/>
        </p:spPr>
        <p:txBody>
          <a:bodyPr/>
          <a:lstStyle/>
          <a:p>
            <a:endParaRPr lang="en-SE" sz="2400"/>
          </a:p>
        </p:txBody>
      </p:sp>
      <p:sp>
        <p:nvSpPr>
          <p:cNvPr id="25" name="Text 22"/>
          <p:cNvSpPr/>
          <p:nvPr/>
        </p:nvSpPr>
        <p:spPr>
          <a:xfrm>
            <a:off x="822960" y="5211600"/>
            <a:ext cx="3246120" cy="292608"/>
          </a:xfrm>
          <a:prstGeom prst="rect">
            <a:avLst/>
          </a:prstGeom>
          <a:noFill/>
          <a:ln/>
        </p:spPr>
        <p:txBody>
          <a:bodyPr wrap="square" lIns="0" tIns="0" rIns="0" bIns="0" rtlCol="0" anchor="ctr"/>
          <a:lstStyle/>
          <a:p>
            <a:pPr marL="0" indent="0">
              <a:buNone/>
            </a:pPr>
            <a:r>
              <a:rPr lang="en-US" sz="1600" b="1" dirty="0">
                <a:solidFill>
                  <a:srgbClr val="0A1A2F"/>
                </a:solidFill>
                <a:latin typeface="Calibri" pitchFamily="34" charset="0"/>
                <a:ea typeface="Calibri" pitchFamily="34" charset="-122"/>
                <a:cs typeface="Calibri" pitchFamily="34" charset="-120"/>
              </a:rPr>
              <a:t>Vendor &amp; sourcing strategy</a:t>
            </a:r>
            <a:endParaRPr lang="en-US" sz="1600" dirty="0"/>
          </a:p>
        </p:txBody>
      </p:sp>
      <p:sp>
        <p:nvSpPr>
          <p:cNvPr id="26" name="Text 23"/>
          <p:cNvSpPr/>
          <p:nvPr/>
        </p:nvSpPr>
        <p:spPr>
          <a:xfrm>
            <a:off x="822960" y="5466670"/>
            <a:ext cx="3246120" cy="292608"/>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Internalisation, partner selection, value capture</a:t>
            </a:r>
            <a:endParaRPr lang="en-US" sz="1200" dirty="0"/>
          </a:p>
        </p:txBody>
      </p:sp>
      <p:sp>
        <p:nvSpPr>
          <p:cNvPr id="27" name="Shape 24"/>
          <p:cNvSpPr/>
          <p:nvPr/>
        </p:nvSpPr>
        <p:spPr>
          <a:xfrm>
            <a:off x="4206240" y="2011680"/>
            <a:ext cx="3703320" cy="3794760"/>
          </a:xfrm>
          <a:prstGeom prst="rect">
            <a:avLst/>
          </a:prstGeom>
          <a:solidFill>
            <a:srgbClr val="FFFFFF"/>
          </a:solidFill>
          <a:ln w="9525">
            <a:solidFill>
              <a:srgbClr val="E5E7EB"/>
            </a:solidFill>
            <a:prstDash val="solid"/>
          </a:ln>
        </p:spPr>
        <p:txBody>
          <a:bodyPr/>
          <a:lstStyle/>
          <a:p>
            <a:endParaRPr lang="en-SE"/>
          </a:p>
        </p:txBody>
      </p:sp>
      <p:sp>
        <p:nvSpPr>
          <p:cNvPr id="28" name="Shape 25"/>
          <p:cNvSpPr/>
          <p:nvPr/>
        </p:nvSpPr>
        <p:spPr>
          <a:xfrm>
            <a:off x="4206240" y="2011680"/>
            <a:ext cx="3703320" cy="868680"/>
          </a:xfrm>
          <a:prstGeom prst="rect">
            <a:avLst/>
          </a:prstGeom>
          <a:solidFill>
            <a:srgbClr val="0A1A2F"/>
          </a:solidFill>
          <a:ln/>
        </p:spPr>
        <p:txBody>
          <a:bodyPr/>
          <a:lstStyle/>
          <a:p>
            <a:endParaRPr lang="en-SE"/>
          </a:p>
        </p:txBody>
      </p:sp>
      <p:sp>
        <p:nvSpPr>
          <p:cNvPr id="29" name="Shape 26"/>
          <p:cNvSpPr/>
          <p:nvPr/>
        </p:nvSpPr>
        <p:spPr>
          <a:xfrm>
            <a:off x="4206240" y="2880360"/>
            <a:ext cx="3703320" cy="54864"/>
          </a:xfrm>
          <a:prstGeom prst="rect">
            <a:avLst/>
          </a:prstGeom>
          <a:solidFill>
            <a:srgbClr val="2DD4BF"/>
          </a:solidFill>
          <a:ln/>
        </p:spPr>
        <p:txBody>
          <a:bodyPr/>
          <a:lstStyle/>
          <a:p>
            <a:endParaRPr lang="en-SE" sz="2800"/>
          </a:p>
        </p:txBody>
      </p:sp>
      <p:sp>
        <p:nvSpPr>
          <p:cNvPr id="30" name="Shape 27"/>
          <p:cNvSpPr/>
          <p:nvPr/>
        </p:nvSpPr>
        <p:spPr>
          <a:xfrm>
            <a:off x="4434840" y="2212848"/>
            <a:ext cx="457200" cy="457200"/>
          </a:xfrm>
          <a:prstGeom prst="ellipse">
            <a:avLst/>
          </a:prstGeom>
          <a:solidFill>
            <a:srgbClr val="2DD4BF"/>
          </a:solidFill>
          <a:ln/>
        </p:spPr>
        <p:txBody>
          <a:bodyPr/>
          <a:lstStyle/>
          <a:p>
            <a:endParaRPr lang="en-SE"/>
          </a:p>
        </p:txBody>
      </p:sp>
      <p:pic>
        <p:nvPicPr>
          <p:cNvPr id="31" name="Image 1" descr="preencoded.png"/>
          <p:cNvPicPr>
            <a:picLocks noChangeAspect="1"/>
          </p:cNvPicPr>
          <p:nvPr/>
        </p:nvPicPr>
        <p:blipFill>
          <a:blip r:embed="rId4"/>
          <a:stretch>
            <a:fillRect/>
          </a:stretch>
        </p:blipFill>
        <p:spPr>
          <a:xfrm>
            <a:off x="4530852" y="2308860"/>
            <a:ext cx="265176" cy="265176"/>
          </a:xfrm>
          <a:prstGeom prst="rect">
            <a:avLst/>
          </a:prstGeom>
        </p:spPr>
      </p:pic>
      <p:sp>
        <p:nvSpPr>
          <p:cNvPr id="32" name="Text 28"/>
          <p:cNvSpPr/>
          <p:nvPr/>
        </p:nvSpPr>
        <p:spPr>
          <a:xfrm>
            <a:off x="4983480" y="2148840"/>
            <a:ext cx="2834640" cy="6400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Data &amp; Digital</a:t>
            </a:r>
            <a:endParaRPr lang="en-US" sz="2000" dirty="0"/>
          </a:p>
        </p:txBody>
      </p:sp>
      <p:sp>
        <p:nvSpPr>
          <p:cNvPr id="33" name="Shape 29"/>
          <p:cNvSpPr/>
          <p:nvPr/>
        </p:nvSpPr>
        <p:spPr>
          <a:xfrm>
            <a:off x="4389120" y="3126768"/>
            <a:ext cx="118872" cy="118872"/>
          </a:xfrm>
          <a:prstGeom prst="rect">
            <a:avLst/>
          </a:prstGeom>
          <a:solidFill>
            <a:srgbClr val="F59E0B"/>
          </a:solidFill>
          <a:ln/>
        </p:spPr>
        <p:txBody>
          <a:bodyPr/>
          <a:lstStyle/>
          <a:p>
            <a:endParaRPr lang="en-SE" sz="2400"/>
          </a:p>
        </p:txBody>
      </p:sp>
      <p:sp>
        <p:nvSpPr>
          <p:cNvPr id="34" name="Text 30"/>
          <p:cNvSpPr/>
          <p:nvPr/>
        </p:nvSpPr>
        <p:spPr>
          <a:xfrm>
            <a:off x="4572000" y="3017040"/>
            <a:ext cx="3246120" cy="292608"/>
          </a:xfrm>
          <a:prstGeom prst="rect">
            <a:avLst/>
          </a:prstGeom>
          <a:noFill/>
          <a:ln/>
        </p:spPr>
        <p:txBody>
          <a:bodyPr wrap="square" lIns="0" tIns="0" rIns="0" bIns="0" rtlCol="0" anchor="ctr"/>
          <a:lstStyle/>
          <a:p>
            <a:pPr marL="0" indent="0">
              <a:buNone/>
            </a:pPr>
            <a:r>
              <a:rPr lang="en-US" sz="1600" b="1" dirty="0">
                <a:solidFill>
                  <a:srgbClr val="0A1A2F"/>
                </a:solidFill>
                <a:latin typeface="Calibri" pitchFamily="34" charset="0"/>
                <a:ea typeface="Calibri" pitchFamily="34" charset="-122"/>
                <a:cs typeface="Calibri" pitchFamily="34" charset="-120"/>
              </a:rPr>
              <a:t>Data strategy &amp; platforms</a:t>
            </a:r>
            <a:endParaRPr lang="en-US" sz="1600" dirty="0"/>
          </a:p>
        </p:txBody>
      </p:sp>
      <p:sp>
        <p:nvSpPr>
          <p:cNvPr id="35" name="Text 31"/>
          <p:cNvSpPr/>
          <p:nvPr/>
        </p:nvSpPr>
        <p:spPr>
          <a:xfrm>
            <a:off x="4572000" y="3272110"/>
            <a:ext cx="3246120" cy="292608"/>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Domains, single source of truth, self-service BI</a:t>
            </a:r>
            <a:endParaRPr lang="en-US" sz="1200" dirty="0"/>
          </a:p>
        </p:txBody>
      </p:sp>
      <p:sp>
        <p:nvSpPr>
          <p:cNvPr id="36" name="Shape 32"/>
          <p:cNvSpPr/>
          <p:nvPr/>
        </p:nvSpPr>
        <p:spPr>
          <a:xfrm>
            <a:off x="4389120" y="3675408"/>
            <a:ext cx="118872" cy="118872"/>
          </a:xfrm>
          <a:prstGeom prst="rect">
            <a:avLst/>
          </a:prstGeom>
          <a:solidFill>
            <a:srgbClr val="F59E0B"/>
          </a:solidFill>
          <a:ln/>
        </p:spPr>
        <p:txBody>
          <a:bodyPr/>
          <a:lstStyle/>
          <a:p>
            <a:endParaRPr lang="en-SE" sz="2400"/>
          </a:p>
        </p:txBody>
      </p:sp>
      <p:sp>
        <p:nvSpPr>
          <p:cNvPr id="37" name="Text 33"/>
          <p:cNvSpPr/>
          <p:nvPr/>
        </p:nvSpPr>
        <p:spPr>
          <a:xfrm>
            <a:off x="4572000" y="3565680"/>
            <a:ext cx="3246120" cy="292608"/>
          </a:xfrm>
          <a:prstGeom prst="rect">
            <a:avLst/>
          </a:prstGeom>
          <a:noFill/>
          <a:ln/>
        </p:spPr>
        <p:txBody>
          <a:bodyPr wrap="square" lIns="0" tIns="0" rIns="0" bIns="0" rtlCol="0" anchor="ctr"/>
          <a:lstStyle/>
          <a:p>
            <a:pPr marL="0" indent="0">
              <a:buNone/>
            </a:pPr>
            <a:r>
              <a:rPr lang="en-US" sz="1600" b="1" dirty="0">
                <a:solidFill>
                  <a:srgbClr val="0A1A2F"/>
                </a:solidFill>
                <a:latin typeface="Calibri" pitchFamily="34" charset="0"/>
                <a:ea typeface="Calibri" pitchFamily="34" charset="-122"/>
                <a:cs typeface="Calibri" pitchFamily="34" charset="-120"/>
              </a:rPr>
              <a:t>Modern data stack</a:t>
            </a:r>
            <a:endParaRPr lang="en-US" sz="1600" dirty="0"/>
          </a:p>
        </p:txBody>
      </p:sp>
      <p:sp>
        <p:nvSpPr>
          <p:cNvPr id="38" name="Text 34"/>
          <p:cNvSpPr/>
          <p:nvPr/>
        </p:nvSpPr>
        <p:spPr>
          <a:xfrm>
            <a:off x="4572000" y="3811125"/>
            <a:ext cx="3246120" cy="292608"/>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Snowflake · DBT · Azure Data Factory · Power BI</a:t>
            </a:r>
            <a:endParaRPr lang="en-US" sz="1200" dirty="0"/>
          </a:p>
        </p:txBody>
      </p:sp>
      <p:sp>
        <p:nvSpPr>
          <p:cNvPr id="39" name="Shape 35"/>
          <p:cNvSpPr/>
          <p:nvPr/>
        </p:nvSpPr>
        <p:spPr>
          <a:xfrm>
            <a:off x="4389120" y="4224048"/>
            <a:ext cx="118872" cy="118872"/>
          </a:xfrm>
          <a:prstGeom prst="rect">
            <a:avLst/>
          </a:prstGeom>
          <a:solidFill>
            <a:srgbClr val="F59E0B"/>
          </a:solidFill>
          <a:ln/>
        </p:spPr>
        <p:txBody>
          <a:bodyPr/>
          <a:lstStyle/>
          <a:p>
            <a:endParaRPr lang="en-SE" sz="2400"/>
          </a:p>
        </p:txBody>
      </p:sp>
      <p:sp>
        <p:nvSpPr>
          <p:cNvPr id="40" name="Text 36"/>
          <p:cNvSpPr/>
          <p:nvPr/>
        </p:nvSpPr>
        <p:spPr>
          <a:xfrm>
            <a:off x="4572000" y="4114320"/>
            <a:ext cx="3246120" cy="292608"/>
          </a:xfrm>
          <a:prstGeom prst="rect">
            <a:avLst/>
          </a:prstGeom>
          <a:noFill/>
          <a:ln/>
        </p:spPr>
        <p:txBody>
          <a:bodyPr wrap="square" lIns="0" tIns="0" rIns="0" bIns="0" rtlCol="0" anchor="ctr"/>
          <a:lstStyle/>
          <a:p>
            <a:pPr marL="0" indent="0">
              <a:buNone/>
            </a:pPr>
            <a:r>
              <a:rPr lang="en-US" sz="1600" b="1" dirty="0">
                <a:solidFill>
                  <a:srgbClr val="0A1A2F"/>
                </a:solidFill>
                <a:latin typeface="Calibri" pitchFamily="34" charset="0"/>
                <a:ea typeface="Calibri" pitchFamily="34" charset="-122"/>
                <a:cs typeface="Calibri" pitchFamily="34" charset="-120"/>
              </a:rPr>
              <a:t>Cloud &amp; DevOps</a:t>
            </a:r>
            <a:endParaRPr lang="en-US" sz="1600" dirty="0"/>
          </a:p>
        </p:txBody>
      </p:sp>
      <p:sp>
        <p:nvSpPr>
          <p:cNvPr id="41" name="Text 37"/>
          <p:cNvSpPr/>
          <p:nvPr/>
        </p:nvSpPr>
        <p:spPr>
          <a:xfrm>
            <a:off x="4572000" y="4359765"/>
            <a:ext cx="3246120" cy="292608"/>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Azure migration, CI/CD, GitHub, agile sprints</a:t>
            </a:r>
            <a:endParaRPr lang="en-US" sz="1200" dirty="0"/>
          </a:p>
        </p:txBody>
      </p:sp>
      <p:sp>
        <p:nvSpPr>
          <p:cNvPr id="42" name="Shape 38"/>
          <p:cNvSpPr/>
          <p:nvPr/>
        </p:nvSpPr>
        <p:spPr>
          <a:xfrm>
            <a:off x="4389120" y="4772688"/>
            <a:ext cx="118872" cy="118872"/>
          </a:xfrm>
          <a:prstGeom prst="rect">
            <a:avLst/>
          </a:prstGeom>
          <a:solidFill>
            <a:srgbClr val="F59E0B"/>
          </a:solidFill>
          <a:ln/>
        </p:spPr>
        <p:txBody>
          <a:bodyPr/>
          <a:lstStyle/>
          <a:p>
            <a:endParaRPr lang="en-SE" sz="2400"/>
          </a:p>
        </p:txBody>
      </p:sp>
      <p:sp>
        <p:nvSpPr>
          <p:cNvPr id="43" name="Text 39"/>
          <p:cNvSpPr/>
          <p:nvPr/>
        </p:nvSpPr>
        <p:spPr>
          <a:xfrm>
            <a:off x="4572000" y="4662960"/>
            <a:ext cx="3246120" cy="292608"/>
          </a:xfrm>
          <a:prstGeom prst="rect">
            <a:avLst/>
          </a:prstGeom>
          <a:noFill/>
          <a:ln/>
        </p:spPr>
        <p:txBody>
          <a:bodyPr wrap="square" lIns="0" tIns="0" rIns="0" bIns="0" rtlCol="0" anchor="ctr"/>
          <a:lstStyle/>
          <a:p>
            <a:pPr marL="0" indent="0">
              <a:buNone/>
            </a:pPr>
            <a:r>
              <a:rPr lang="en-US" sz="1600" b="1" dirty="0">
                <a:solidFill>
                  <a:srgbClr val="0A1A2F"/>
                </a:solidFill>
                <a:latin typeface="Calibri" pitchFamily="34" charset="0"/>
                <a:ea typeface="Calibri" pitchFamily="34" charset="-122"/>
                <a:cs typeface="Calibri" pitchFamily="34" charset="-120"/>
              </a:rPr>
              <a:t>IoT data strategy</a:t>
            </a:r>
            <a:endParaRPr lang="en-US" sz="1600" dirty="0"/>
          </a:p>
        </p:txBody>
      </p:sp>
      <p:sp>
        <p:nvSpPr>
          <p:cNvPr id="44" name="Text 40"/>
          <p:cNvSpPr/>
          <p:nvPr/>
        </p:nvSpPr>
        <p:spPr>
          <a:xfrm>
            <a:off x="4572000" y="4918030"/>
            <a:ext cx="3246120" cy="292608"/>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Production efficiency + consumer behaviour insights</a:t>
            </a:r>
            <a:endParaRPr lang="en-US" sz="1200" dirty="0"/>
          </a:p>
        </p:txBody>
      </p:sp>
      <p:sp>
        <p:nvSpPr>
          <p:cNvPr id="45" name="Shape 41"/>
          <p:cNvSpPr/>
          <p:nvPr/>
        </p:nvSpPr>
        <p:spPr>
          <a:xfrm>
            <a:off x="4389120" y="5321328"/>
            <a:ext cx="118872" cy="118872"/>
          </a:xfrm>
          <a:prstGeom prst="rect">
            <a:avLst/>
          </a:prstGeom>
          <a:solidFill>
            <a:srgbClr val="F59E0B"/>
          </a:solidFill>
          <a:ln/>
        </p:spPr>
        <p:txBody>
          <a:bodyPr/>
          <a:lstStyle/>
          <a:p>
            <a:endParaRPr lang="en-SE" sz="2400"/>
          </a:p>
        </p:txBody>
      </p:sp>
      <p:sp>
        <p:nvSpPr>
          <p:cNvPr id="46" name="Text 42"/>
          <p:cNvSpPr/>
          <p:nvPr/>
        </p:nvSpPr>
        <p:spPr>
          <a:xfrm>
            <a:off x="4572000" y="5211600"/>
            <a:ext cx="3246120" cy="292608"/>
          </a:xfrm>
          <a:prstGeom prst="rect">
            <a:avLst/>
          </a:prstGeom>
          <a:noFill/>
          <a:ln/>
        </p:spPr>
        <p:txBody>
          <a:bodyPr wrap="square" lIns="0" tIns="0" rIns="0" bIns="0" rtlCol="0" anchor="ctr"/>
          <a:lstStyle/>
          <a:p>
            <a:pPr marL="0" indent="0">
              <a:buNone/>
            </a:pPr>
            <a:r>
              <a:rPr lang="en-US" sz="1600" b="1" dirty="0">
                <a:solidFill>
                  <a:srgbClr val="0A1A2F"/>
                </a:solidFill>
                <a:latin typeface="Calibri" pitchFamily="34" charset="0"/>
                <a:ea typeface="Calibri" pitchFamily="34" charset="-122"/>
                <a:cs typeface="Calibri" pitchFamily="34" charset="-120"/>
              </a:rPr>
              <a:t>AI &amp; GenAI enablement</a:t>
            </a:r>
            <a:endParaRPr lang="en-US" sz="1600" dirty="0"/>
          </a:p>
        </p:txBody>
      </p:sp>
      <p:sp>
        <p:nvSpPr>
          <p:cNvPr id="47" name="Text 43"/>
          <p:cNvSpPr/>
          <p:nvPr/>
        </p:nvSpPr>
        <p:spPr>
          <a:xfrm>
            <a:off x="4572000" y="5466670"/>
            <a:ext cx="3246120" cy="292608"/>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Use-case framing, value cases, capability build-up</a:t>
            </a:r>
            <a:endParaRPr lang="en-US" sz="1200" dirty="0"/>
          </a:p>
        </p:txBody>
      </p:sp>
      <p:sp>
        <p:nvSpPr>
          <p:cNvPr id="48" name="Shape 44"/>
          <p:cNvSpPr/>
          <p:nvPr/>
        </p:nvSpPr>
        <p:spPr>
          <a:xfrm>
            <a:off x="7955280" y="2011680"/>
            <a:ext cx="3703320" cy="3794760"/>
          </a:xfrm>
          <a:prstGeom prst="rect">
            <a:avLst/>
          </a:prstGeom>
          <a:solidFill>
            <a:srgbClr val="FFFFFF"/>
          </a:solidFill>
          <a:ln w="9525">
            <a:solidFill>
              <a:srgbClr val="E5E7EB"/>
            </a:solidFill>
            <a:prstDash val="solid"/>
          </a:ln>
        </p:spPr>
        <p:txBody>
          <a:bodyPr/>
          <a:lstStyle/>
          <a:p>
            <a:endParaRPr lang="en-SE"/>
          </a:p>
        </p:txBody>
      </p:sp>
      <p:sp>
        <p:nvSpPr>
          <p:cNvPr id="49" name="Shape 45"/>
          <p:cNvSpPr/>
          <p:nvPr/>
        </p:nvSpPr>
        <p:spPr>
          <a:xfrm>
            <a:off x="7955280" y="2011680"/>
            <a:ext cx="3703320" cy="868680"/>
          </a:xfrm>
          <a:prstGeom prst="rect">
            <a:avLst/>
          </a:prstGeom>
          <a:solidFill>
            <a:srgbClr val="0A1A2F"/>
          </a:solidFill>
          <a:ln/>
        </p:spPr>
        <p:txBody>
          <a:bodyPr/>
          <a:lstStyle/>
          <a:p>
            <a:endParaRPr lang="en-SE"/>
          </a:p>
        </p:txBody>
      </p:sp>
      <p:sp>
        <p:nvSpPr>
          <p:cNvPr id="50" name="Shape 46"/>
          <p:cNvSpPr/>
          <p:nvPr/>
        </p:nvSpPr>
        <p:spPr>
          <a:xfrm>
            <a:off x="7955280" y="2880360"/>
            <a:ext cx="3703320" cy="54864"/>
          </a:xfrm>
          <a:prstGeom prst="rect">
            <a:avLst/>
          </a:prstGeom>
          <a:solidFill>
            <a:srgbClr val="2DD4BF"/>
          </a:solidFill>
          <a:ln/>
        </p:spPr>
        <p:txBody>
          <a:bodyPr/>
          <a:lstStyle/>
          <a:p>
            <a:endParaRPr lang="en-SE" sz="2800"/>
          </a:p>
        </p:txBody>
      </p:sp>
      <p:sp>
        <p:nvSpPr>
          <p:cNvPr id="51" name="Shape 47"/>
          <p:cNvSpPr/>
          <p:nvPr/>
        </p:nvSpPr>
        <p:spPr>
          <a:xfrm>
            <a:off x="8183880" y="2212848"/>
            <a:ext cx="457200" cy="457200"/>
          </a:xfrm>
          <a:prstGeom prst="ellipse">
            <a:avLst/>
          </a:prstGeom>
          <a:solidFill>
            <a:srgbClr val="2DD4BF"/>
          </a:solidFill>
          <a:ln/>
        </p:spPr>
        <p:txBody>
          <a:bodyPr/>
          <a:lstStyle/>
          <a:p>
            <a:endParaRPr lang="en-SE"/>
          </a:p>
        </p:txBody>
      </p:sp>
      <p:pic>
        <p:nvPicPr>
          <p:cNvPr id="52" name="Image 2" descr="preencoded.png"/>
          <p:cNvPicPr>
            <a:picLocks noChangeAspect="1"/>
          </p:cNvPicPr>
          <p:nvPr/>
        </p:nvPicPr>
        <p:blipFill>
          <a:blip r:embed="rId5"/>
          <a:stretch>
            <a:fillRect/>
          </a:stretch>
        </p:blipFill>
        <p:spPr>
          <a:xfrm>
            <a:off x="8279892" y="2308860"/>
            <a:ext cx="265176" cy="265176"/>
          </a:xfrm>
          <a:prstGeom prst="rect">
            <a:avLst/>
          </a:prstGeom>
        </p:spPr>
      </p:pic>
      <p:sp>
        <p:nvSpPr>
          <p:cNvPr id="53" name="Text 48"/>
          <p:cNvSpPr/>
          <p:nvPr/>
        </p:nvSpPr>
        <p:spPr>
          <a:xfrm>
            <a:off x="8732520" y="2148840"/>
            <a:ext cx="2834640" cy="6400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Leadership</a:t>
            </a:r>
            <a:endParaRPr lang="en-US" sz="2000" dirty="0"/>
          </a:p>
        </p:txBody>
      </p:sp>
      <p:sp>
        <p:nvSpPr>
          <p:cNvPr id="54" name="Shape 49"/>
          <p:cNvSpPr/>
          <p:nvPr/>
        </p:nvSpPr>
        <p:spPr>
          <a:xfrm>
            <a:off x="8138160" y="3126768"/>
            <a:ext cx="118872" cy="118872"/>
          </a:xfrm>
          <a:prstGeom prst="rect">
            <a:avLst/>
          </a:prstGeom>
          <a:solidFill>
            <a:srgbClr val="F59E0B"/>
          </a:solidFill>
          <a:ln/>
        </p:spPr>
        <p:txBody>
          <a:bodyPr/>
          <a:lstStyle/>
          <a:p>
            <a:endParaRPr lang="en-SE" sz="2400"/>
          </a:p>
        </p:txBody>
      </p:sp>
      <p:sp>
        <p:nvSpPr>
          <p:cNvPr id="55" name="Text 50"/>
          <p:cNvSpPr/>
          <p:nvPr/>
        </p:nvSpPr>
        <p:spPr>
          <a:xfrm>
            <a:off x="8321040" y="3017040"/>
            <a:ext cx="3246120" cy="292608"/>
          </a:xfrm>
          <a:prstGeom prst="rect">
            <a:avLst/>
          </a:prstGeom>
          <a:noFill/>
          <a:ln/>
        </p:spPr>
        <p:txBody>
          <a:bodyPr wrap="square" lIns="0" tIns="0" rIns="0" bIns="0" rtlCol="0" anchor="ctr"/>
          <a:lstStyle/>
          <a:p>
            <a:pPr marL="0" indent="0">
              <a:buNone/>
            </a:pPr>
            <a:r>
              <a:rPr lang="en-US" sz="1600" b="1" dirty="0">
                <a:solidFill>
                  <a:srgbClr val="0A1A2F"/>
                </a:solidFill>
                <a:latin typeface="Calibri" pitchFamily="34" charset="0"/>
                <a:ea typeface="Calibri" pitchFamily="34" charset="-122"/>
                <a:cs typeface="Calibri" pitchFamily="34" charset="-120"/>
              </a:rPr>
              <a:t>C-suite engagement</a:t>
            </a:r>
            <a:endParaRPr lang="en-US" sz="1600" dirty="0"/>
          </a:p>
        </p:txBody>
      </p:sp>
      <p:sp>
        <p:nvSpPr>
          <p:cNvPr id="56" name="Text 51"/>
          <p:cNvSpPr/>
          <p:nvPr/>
        </p:nvSpPr>
        <p:spPr>
          <a:xfrm>
            <a:off x="8321040" y="3272110"/>
            <a:ext cx="3246120" cy="292608"/>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Trusted partner of CEO, CFO, CIO across markets</a:t>
            </a:r>
            <a:endParaRPr lang="en-US" sz="1200" dirty="0"/>
          </a:p>
        </p:txBody>
      </p:sp>
      <p:sp>
        <p:nvSpPr>
          <p:cNvPr id="57" name="Shape 52"/>
          <p:cNvSpPr/>
          <p:nvPr/>
        </p:nvSpPr>
        <p:spPr>
          <a:xfrm>
            <a:off x="8138160" y="3675408"/>
            <a:ext cx="118872" cy="118872"/>
          </a:xfrm>
          <a:prstGeom prst="rect">
            <a:avLst/>
          </a:prstGeom>
          <a:solidFill>
            <a:srgbClr val="F59E0B"/>
          </a:solidFill>
          <a:ln/>
        </p:spPr>
        <p:txBody>
          <a:bodyPr/>
          <a:lstStyle/>
          <a:p>
            <a:endParaRPr lang="en-SE" sz="2400"/>
          </a:p>
        </p:txBody>
      </p:sp>
      <p:sp>
        <p:nvSpPr>
          <p:cNvPr id="58" name="Text 53"/>
          <p:cNvSpPr/>
          <p:nvPr/>
        </p:nvSpPr>
        <p:spPr>
          <a:xfrm>
            <a:off x="8321040" y="3565680"/>
            <a:ext cx="3246120" cy="292608"/>
          </a:xfrm>
          <a:prstGeom prst="rect">
            <a:avLst/>
          </a:prstGeom>
          <a:noFill/>
          <a:ln/>
        </p:spPr>
        <p:txBody>
          <a:bodyPr wrap="square" lIns="0" tIns="0" rIns="0" bIns="0" rtlCol="0" anchor="ctr"/>
          <a:lstStyle/>
          <a:p>
            <a:pPr marL="0" indent="0">
              <a:buNone/>
            </a:pPr>
            <a:r>
              <a:rPr lang="en-US" sz="1600" b="1" dirty="0">
                <a:solidFill>
                  <a:srgbClr val="0A1A2F"/>
                </a:solidFill>
                <a:latin typeface="Calibri" pitchFamily="34" charset="0"/>
                <a:ea typeface="Calibri" pitchFamily="34" charset="-122"/>
                <a:cs typeface="Calibri" pitchFamily="34" charset="-120"/>
              </a:rPr>
              <a:t>Global team leadership</a:t>
            </a:r>
            <a:endParaRPr lang="en-US" sz="1600" dirty="0"/>
          </a:p>
        </p:txBody>
      </p:sp>
      <p:sp>
        <p:nvSpPr>
          <p:cNvPr id="59" name="Text 54"/>
          <p:cNvSpPr/>
          <p:nvPr/>
        </p:nvSpPr>
        <p:spPr>
          <a:xfrm>
            <a:off x="8321040" y="3811125"/>
            <a:ext cx="3246120" cy="292608"/>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30+ internal · 150+ external · 8 countries</a:t>
            </a:r>
            <a:endParaRPr lang="en-US" sz="1200" dirty="0"/>
          </a:p>
        </p:txBody>
      </p:sp>
      <p:sp>
        <p:nvSpPr>
          <p:cNvPr id="60" name="Shape 55"/>
          <p:cNvSpPr/>
          <p:nvPr/>
        </p:nvSpPr>
        <p:spPr>
          <a:xfrm>
            <a:off x="8138160" y="4224048"/>
            <a:ext cx="118872" cy="118872"/>
          </a:xfrm>
          <a:prstGeom prst="rect">
            <a:avLst/>
          </a:prstGeom>
          <a:solidFill>
            <a:srgbClr val="F59E0B"/>
          </a:solidFill>
          <a:ln/>
        </p:spPr>
        <p:txBody>
          <a:bodyPr/>
          <a:lstStyle/>
          <a:p>
            <a:endParaRPr lang="en-SE" sz="2400"/>
          </a:p>
        </p:txBody>
      </p:sp>
      <p:sp>
        <p:nvSpPr>
          <p:cNvPr id="61" name="Text 56"/>
          <p:cNvSpPr/>
          <p:nvPr/>
        </p:nvSpPr>
        <p:spPr>
          <a:xfrm>
            <a:off x="8321040" y="4114320"/>
            <a:ext cx="3246120" cy="292608"/>
          </a:xfrm>
          <a:prstGeom prst="rect">
            <a:avLst/>
          </a:prstGeom>
          <a:noFill/>
          <a:ln/>
        </p:spPr>
        <p:txBody>
          <a:bodyPr wrap="square" lIns="0" tIns="0" rIns="0" bIns="0" rtlCol="0" anchor="ctr"/>
          <a:lstStyle/>
          <a:p>
            <a:pPr marL="0" indent="0">
              <a:buNone/>
            </a:pPr>
            <a:r>
              <a:rPr lang="en-US" sz="1600" b="1" dirty="0">
                <a:solidFill>
                  <a:srgbClr val="0A1A2F"/>
                </a:solidFill>
                <a:latin typeface="Calibri" pitchFamily="34" charset="0"/>
                <a:ea typeface="Calibri" pitchFamily="34" charset="-122"/>
                <a:cs typeface="Calibri" pitchFamily="34" charset="-120"/>
              </a:rPr>
              <a:t>Cross-cultural delivery</a:t>
            </a:r>
            <a:endParaRPr lang="en-US" sz="1600" dirty="0"/>
          </a:p>
        </p:txBody>
      </p:sp>
      <p:sp>
        <p:nvSpPr>
          <p:cNvPr id="62" name="Text 57"/>
          <p:cNvSpPr/>
          <p:nvPr/>
        </p:nvSpPr>
        <p:spPr>
          <a:xfrm>
            <a:off x="8321040" y="4359765"/>
            <a:ext cx="3246120" cy="292608"/>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French, Swedish, English — native operator</a:t>
            </a:r>
            <a:endParaRPr lang="en-US" sz="1200" dirty="0"/>
          </a:p>
        </p:txBody>
      </p:sp>
      <p:sp>
        <p:nvSpPr>
          <p:cNvPr id="63" name="Shape 58"/>
          <p:cNvSpPr/>
          <p:nvPr/>
        </p:nvSpPr>
        <p:spPr>
          <a:xfrm>
            <a:off x="8138160" y="4772688"/>
            <a:ext cx="118872" cy="118872"/>
          </a:xfrm>
          <a:prstGeom prst="rect">
            <a:avLst/>
          </a:prstGeom>
          <a:solidFill>
            <a:srgbClr val="F59E0B"/>
          </a:solidFill>
          <a:ln/>
        </p:spPr>
        <p:txBody>
          <a:bodyPr/>
          <a:lstStyle/>
          <a:p>
            <a:endParaRPr lang="en-SE" sz="2400"/>
          </a:p>
        </p:txBody>
      </p:sp>
      <p:sp>
        <p:nvSpPr>
          <p:cNvPr id="64" name="Text 59"/>
          <p:cNvSpPr/>
          <p:nvPr/>
        </p:nvSpPr>
        <p:spPr>
          <a:xfrm>
            <a:off x="8321040" y="4662960"/>
            <a:ext cx="3246120" cy="292608"/>
          </a:xfrm>
          <a:prstGeom prst="rect">
            <a:avLst/>
          </a:prstGeom>
          <a:noFill/>
          <a:ln/>
        </p:spPr>
        <p:txBody>
          <a:bodyPr wrap="square" lIns="0" tIns="0" rIns="0" bIns="0" rtlCol="0" anchor="ctr"/>
          <a:lstStyle/>
          <a:p>
            <a:pPr marL="0" indent="0">
              <a:buNone/>
            </a:pPr>
            <a:r>
              <a:rPr lang="en-US" sz="1600" b="1" dirty="0">
                <a:solidFill>
                  <a:srgbClr val="0A1A2F"/>
                </a:solidFill>
                <a:latin typeface="Calibri" pitchFamily="34" charset="0"/>
                <a:ea typeface="Calibri" pitchFamily="34" charset="-122"/>
                <a:cs typeface="Calibri" pitchFamily="34" charset="-120"/>
              </a:rPr>
              <a:t>Strategy + execution</a:t>
            </a:r>
            <a:endParaRPr lang="en-US" sz="1600" dirty="0"/>
          </a:p>
        </p:txBody>
      </p:sp>
      <p:sp>
        <p:nvSpPr>
          <p:cNvPr id="65" name="Text 60"/>
          <p:cNvSpPr/>
          <p:nvPr/>
        </p:nvSpPr>
        <p:spPr>
          <a:xfrm>
            <a:off x="8321040" y="4918030"/>
            <a:ext cx="3246120" cy="292608"/>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Boardroom narrative paired with structured delivery</a:t>
            </a:r>
            <a:endParaRPr lang="en-US" sz="1200" dirty="0"/>
          </a:p>
        </p:txBody>
      </p:sp>
      <p:sp>
        <p:nvSpPr>
          <p:cNvPr id="66" name="Shape 61"/>
          <p:cNvSpPr/>
          <p:nvPr/>
        </p:nvSpPr>
        <p:spPr>
          <a:xfrm>
            <a:off x="8138160" y="5321328"/>
            <a:ext cx="118872" cy="118872"/>
          </a:xfrm>
          <a:prstGeom prst="rect">
            <a:avLst/>
          </a:prstGeom>
          <a:solidFill>
            <a:srgbClr val="F59E0B"/>
          </a:solidFill>
          <a:ln/>
        </p:spPr>
        <p:txBody>
          <a:bodyPr/>
          <a:lstStyle/>
          <a:p>
            <a:endParaRPr lang="en-SE" sz="2400"/>
          </a:p>
        </p:txBody>
      </p:sp>
      <p:sp>
        <p:nvSpPr>
          <p:cNvPr id="67" name="Text 62"/>
          <p:cNvSpPr/>
          <p:nvPr/>
        </p:nvSpPr>
        <p:spPr>
          <a:xfrm>
            <a:off x="8321040" y="5211600"/>
            <a:ext cx="3246120" cy="292608"/>
          </a:xfrm>
          <a:prstGeom prst="rect">
            <a:avLst/>
          </a:prstGeom>
          <a:noFill/>
          <a:ln/>
        </p:spPr>
        <p:txBody>
          <a:bodyPr wrap="square" lIns="0" tIns="0" rIns="0" bIns="0" rtlCol="0" anchor="ctr"/>
          <a:lstStyle/>
          <a:p>
            <a:pPr marL="0" indent="0">
              <a:buNone/>
            </a:pPr>
            <a:r>
              <a:rPr lang="en-US" sz="1600" b="1" dirty="0">
                <a:solidFill>
                  <a:srgbClr val="0A1A2F"/>
                </a:solidFill>
                <a:latin typeface="Calibri" pitchFamily="34" charset="0"/>
                <a:ea typeface="Calibri" pitchFamily="34" charset="-122"/>
                <a:cs typeface="Calibri" pitchFamily="34" charset="-120"/>
              </a:rPr>
              <a:t>Coaching &amp; talent</a:t>
            </a:r>
            <a:endParaRPr lang="en-US" sz="1600" dirty="0"/>
          </a:p>
        </p:txBody>
      </p:sp>
      <p:sp>
        <p:nvSpPr>
          <p:cNvPr id="68" name="Text 63"/>
          <p:cNvSpPr/>
          <p:nvPr/>
        </p:nvSpPr>
        <p:spPr>
          <a:xfrm>
            <a:off x="8321040" y="5466670"/>
            <a:ext cx="3246120" cy="292608"/>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Builds chapter models and communities of experts</a:t>
            </a:r>
            <a:endParaRPr lang="en-US" sz="1200" dirty="0"/>
          </a:p>
        </p:txBody>
      </p:sp>
      <p:sp>
        <p:nvSpPr>
          <p:cNvPr id="69" name="Shape 64"/>
          <p:cNvSpPr/>
          <p:nvPr/>
        </p:nvSpPr>
        <p:spPr>
          <a:xfrm>
            <a:off x="457200" y="5943600"/>
            <a:ext cx="11274552" cy="548640"/>
          </a:xfrm>
          <a:prstGeom prst="rect">
            <a:avLst/>
          </a:prstGeom>
          <a:solidFill>
            <a:srgbClr val="0A1A2F"/>
          </a:solidFill>
          <a:ln/>
        </p:spPr>
        <p:txBody>
          <a:bodyPr/>
          <a:lstStyle/>
          <a:p>
            <a:endParaRPr lang="en-SE" sz="2400"/>
          </a:p>
        </p:txBody>
      </p:sp>
      <p:sp>
        <p:nvSpPr>
          <p:cNvPr id="70" name="Shape 65"/>
          <p:cNvSpPr/>
          <p:nvPr/>
        </p:nvSpPr>
        <p:spPr>
          <a:xfrm>
            <a:off x="457200" y="5943600"/>
            <a:ext cx="91440" cy="548640"/>
          </a:xfrm>
          <a:prstGeom prst="rect">
            <a:avLst/>
          </a:prstGeom>
          <a:solidFill>
            <a:srgbClr val="F59E0B"/>
          </a:solidFill>
          <a:ln/>
        </p:spPr>
        <p:txBody>
          <a:bodyPr/>
          <a:lstStyle/>
          <a:p>
            <a:endParaRPr lang="en-SE" sz="2400"/>
          </a:p>
        </p:txBody>
      </p:sp>
      <p:sp>
        <p:nvSpPr>
          <p:cNvPr id="71" name="Text 66"/>
          <p:cNvSpPr/>
          <p:nvPr/>
        </p:nvSpPr>
        <p:spPr>
          <a:xfrm>
            <a:off x="685800" y="5943600"/>
            <a:ext cx="10972800" cy="548640"/>
          </a:xfrm>
          <a:prstGeom prst="rect">
            <a:avLst/>
          </a:prstGeom>
          <a:noFill/>
          <a:ln/>
        </p:spPr>
        <p:txBody>
          <a:bodyPr wrap="square" lIns="0" tIns="0" rIns="0" bIns="0" rtlCol="0" anchor="ctr"/>
          <a:lstStyle/>
          <a:p>
            <a:pPr marL="0" indent="0">
              <a:buNone/>
            </a:pPr>
            <a:r>
              <a:rPr lang="en-US" sz="1400" b="1" kern="0" spc="400" dirty="0">
                <a:solidFill>
                  <a:srgbClr val="F59E0B"/>
                </a:solidFill>
                <a:latin typeface="Calibri" pitchFamily="34" charset="0"/>
                <a:ea typeface="Calibri" pitchFamily="34" charset="-122"/>
                <a:cs typeface="Calibri" pitchFamily="34" charset="-120"/>
              </a:rPr>
              <a:t>DIFFERENTIATORS   </a:t>
            </a:r>
            <a:r>
              <a:rPr lang="en-US" sz="1400" dirty="0">
                <a:solidFill>
                  <a:srgbClr val="FFFFFF"/>
                </a:solidFill>
                <a:latin typeface="Calibri" pitchFamily="34" charset="0"/>
                <a:ea typeface="Calibri" pitchFamily="34" charset="-122"/>
                <a:cs typeface="Calibri" pitchFamily="34" charset="-120"/>
              </a:rPr>
              <a:t>CEO/CFO operator  ·  FR–SE dual culture  ·  Fluent Swedish  ·  B2B + B2C data fluency  ·  Data ↔ product alignment</a:t>
            </a:r>
            <a:endParaRPr lang="en-US" sz="1400" dirty="0"/>
          </a:p>
        </p:txBody>
      </p:sp>
      <p:sp>
        <p:nvSpPr>
          <p:cNvPr id="72" name="Shape 67"/>
          <p:cNvSpPr/>
          <p:nvPr/>
        </p:nvSpPr>
        <p:spPr>
          <a:xfrm>
            <a:off x="457200" y="6547104"/>
            <a:ext cx="11274552" cy="0"/>
          </a:xfrm>
          <a:prstGeom prst="line">
            <a:avLst/>
          </a:prstGeom>
          <a:noFill/>
          <a:ln w="9525">
            <a:solidFill>
              <a:srgbClr val="E5E7EB"/>
            </a:solidFill>
            <a:prstDash val="solid"/>
          </a:ln>
        </p:spPr>
        <p:txBody>
          <a:bodyPr/>
          <a:lstStyle/>
          <a:p>
            <a:endParaRPr lang="en-SE"/>
          </a:p>
        </p:txBody>
      </p:sp>
      <p:sp>
        <p:nvSpPr>
          <p:cNvPr id="73" name="Text 68"/>
          <p:cNvSpPr/>
          <p:nvPr/>
        </p:nvSpPr>
        <p:spPr>
          <a:xfrm>
            <a:off x="457200" y="6592824"/>
            <a:ext cx="7315200" cy="201168"/>
          </a:xfrm>
          <a:prstGeom prst="rect">
            <a:avLst/>
          </a:prstGeom>
          <a:noFill/>
          <a:ln/>
        </p:spPr>
        <p:txBody>
          <a:bodyPr wrap="square" lIns="0" tIns="0" rIns="0" bIns="0" rtlCol="0" anchor="ctr"/>
          <a:lstStyle/>
          <a:p>
            <a:pPr marL="0" indent="0">
              <a:buNone/>
            </a:pPr>
            <a:r>
              <a:rPr lang="en-US" sz="850" b="1" kern="0" spc="400" dirty="0">
                <a:solidFill>
                  <a:srgbClr val="6B7280"/>
                </a:solidFill>
                <a:latin typeface="Calibri" pitchFamily="34" charset="0"/>
                <a:ea typeface="Calibri" pitchFamily="34" charset="-122"/>
                <a:cs typeface="Calibri" pitchFamily="34" charset="-120"/>
              </a:rPr>
              <a:t>GAUTHIER VAN WENT  ·  EXECUTIVE PROFILE</a:t>
            </a:r>
            <a:endParaRPr lang="en-US" sz="850" dirty="0"/>
          </a:p>
        </p:txBody>
      </p:sp>
      <p:sp>
        <p:nvSpPr>
          <p:cNvPr id="74" name="Text 69"/>
          <p:cNvSpPr/>
          <p:nvPr/>
        </p:nvSpPr>
        <p:spPr>
          <a:xfrm>
            <a:off x="8229600" y="6592824"/>
            <a:ext cx="3502152" cy="201168"/>
          </a:xfrm>
          <a:prstGeom prst="rect">
            <a:avLst/>
          </a:prstGeom>
          <a:noFill/>
          <a:ln/>
        </p:spPr>
        <p:txBody>
          <a:bodyPr wrap="square" lIns="0" tIns="0" rIns="0" bIns="0" rtlCol="0" anchor="ctr"/>
          <a:lstStyle/>
          <a:p>
            <a:pPr marL="0" indent="0" algn="r">
              <a:buNone/>
            </a:pPr>
            <a:r>
              <a:rPr lang="en-US" sz="850" b="1" kern="0" spc="400" dirty="0">
                <a:solidFill>
                  <a:srgbClr val="14B8A6"/>
                </a:solidFill>
                <a:latin typeface="Calibri" pitchFamily="34" charset="0"/>
                <a:ea typeface="Calibri" pitchFamily="34" charset="-122"/>
                <a:cs typeface="Calibri" pitchFamily="34" charset="-120"/>
              </a:rPr>
              <a:t>02  /  10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0"/>
          </a:xfrm>
          <a:prstGeom prst="rect">
            <a:avLst/>
          </a:prstGeom>
          <a:solidFill>
            <a:srgbClr val="0A1A2F"/>
          </a:solidFill>
          <a:ln/>
        </p:spPr>
        <p:txBody>
          <a:bodyPr/>
          <a:lstStyle/>
          <a:p>
            <a:endParaRPr lang="en-SE"/>
          </a:p>
        </p:txBody>
      </p:sp>
      <p:sp>
        <p:nvSpPr>
          <p:cNvPr id="3" name="Shape 1"/>
          <p:cNvSpPr/>
          <p:nvPr/>
        </p:nvSpPr>
        <p:spPr>
          <a:xfrm>
            <a:off x="0" y="1463040"/>
            <a:ext cx="12188952" cy="54864"/>
          </a:xfrm>
          <a:prstGeom prst="rect">
            <a:avLst/>
          </a:prstGeom>
          <a:solidFill>
            <a:srgbClr val="2DD4BF"/>
          </a:solidFill>
          <a:ln/>
        </p:spPr>
        <p:txBody>
          <a:bodyPr/>
          <a:lstStyle/>
          <a:p>
            <a:endParaRPr lang="en-SE"/>
          </a:p>
        </p:txBody>
      </p:sp>
      <p:sp>
        <p:nvSpPr>
          <p:cNvPr id="4" name="Shape 2"/>
          <p:cNvSpPr/>
          <p:nvPr/>
        </p:nvSpPr>
        <p:spPr>
          <a:xfrm>
            <a:off x="0" y="0"/>
            <a:ext cx="91440" cy="1463040"/>
          </a:xfrm>
          <a:prstGeom prst="rect">
            <a:avLst/>
          </a:prstGeom>
          <a:solidFill>
            <a:srgbClr val="F59E0B"/>
          </a:solidFill>
          <a:ln/>
        </p:spPr>
        <p:txBody>
          <a:bodyPr/>
          <a:lstStyle/>
          <a:p>
            <a:endParaRPr lang="en-SE"/>
          </a:p>
        </p:txBody>
      </p:sp>
      <p:sp>
        <p:nvSpPr>
          <p:cNvPr id="5" name="Shape 3"/>
          <p:cNvSpPr/>
          <p:nvPr/>
        </p:nvSpPr>
        <p:spPr>
          <a:xfrm>
            <a:off x="457200" y="365760"/>
            <a:ext cx="2011680" cy="384048"/>
          </a:xfrm>
          <a:prstGeom prst="roundRect">
            <a:avLst>
              <a:gd name="adj" fmla="val 19048"/>
            </a:avLst>
          </a:prstGeom>
          <a:solidFill>
            <a:srgbClr val="2DD4BF"/>
          </a:solidFill>
          <a:ln/>
        </p:spPr>
        <p:txBody>
          <a:bodyPr/>
          <a:lstStyle/>
          <a:p>
            <a:endParaRPr lang="en-SE"/>
          </a:p>
        </p:txBody>
      </p:sp>
      <p:sp>
        <p:nvSpPr>
          <p:cNvPr id="6" name="Text 4"/>
          <p:cNvSpPr/>
          <p:nvPr/>
        </p:nvSpPr>
        <p:spPr>
          <a:xfrm>
            <a:off x="457200" y="365760"/>
            <a:ext cx="2011680" cy="384048"/>
          </a:xfrm>
          <a:prstGeom prst="rect">
            <a:avLst/>
          </a:prstGeom>
          <a:noFill/>
          <a:ln/>
        </p:spPr>
        <p:txBody>
          <a:bodyPr wrap="square" lIns="0" tIns="0" rIns="0" bIns="0" rtlCol="0" anchor="ctr"/>
          <a:lstStyle/>
          <a:p>
            <a:pPr marL="0" indent="0" algn="ctr">
              <a:buNone/>
            </a:pPr>
            <a:r>
              <a:rPr lang="en-US" sz="1100" b="1" kern="0" spc="300" dirty="0">
                <a:solidFill>
                  <a:srgbClr val="0A1A2F"/>
                </a:solidFill>
                <a:latin typeface="Calibri" pitchFamily="34" charset="0"/>
                <a:ea typeface="Calibri" pitchFamily="34" charset="-122"/>
                <a:cs typeface="Calibri" pitchFamily="34" charset="-120"/>
              </a:rPr>
              <a:t>SINCE NOV. 2024</a:t>
            </a:r>
            <a:endParaRPr lang="en-US" sz="1100" dirty="0"/>
          </a:p>
        </p:txBody>
      </p:sp>
      <p:sp>
        <p:nvSpPr>
          <p:cNvPr id="7" name="Text 5"/>
          <p:cNvSpPr/>
          <p:nvPr/>
        </p:nvSpPr>
        <p:spPr>
          <a:xfrm>
            <a:off x="9601200" y="411480"/>
            <a:ext cx="2194560" cy="292608"/>
          </a:xfrm>
          <a:prstGeom prst="rect">
            <a:avLst/>
          </a:prstGeom>
          <a:noFill/>
          <a:ln/>
        </p:spPr>
        <p:txBody>
          <a:bodyPr wrap="square" lIns="0" tIns="0" rIns="0" bIns="0" rtlCol="0" anchor="ctr"/>
          <a:lstStyle/>
          <a:p>
            <a:pPr marL="0" indent="0" algn="r">
              <a:buNone/>
            </a:pPr>
            <a:r>
              <a:rPr lang="en-US" sz="1000" b="1" kern="0" spc="400" dirty="0">
                <a:solidFill>
                  <a:srgbClr val="F59E0B"/>
                </a:solidFill>
                <a:latin typeface="Calibri" pitchFamily="34" charset="0"/>
                <a:ea typeface="Calibri" pitchFamily="34" charset="-122"/>
                <a:cs typeface="Calibri" pitchFamily="34" charset="-120"/>
              </a:rPr>
              <a:t>ROLE 1  /  7</a:t>
            </a:r>
            <a:endParaRPr lang="en-US" sz="1000" dirty="0"/>
          </a:p>
        </p:txBody>
      </p:sp>
      <p:sp>
        <p:nvSpPr>
          <p:cNvPr id="8" name="Text 6"/>
          <p:cNvSpPr/>
          <p:nvPr/>
        </p:nvSpPr>
        <p:spPr>
          <a:xfrm>
            <a:off x="457200" y="841248"/>
            <a:ext cx="11274552"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Global Tech Data &amp; Analytics Director</a:t>
            </a:r>
            <a:endParaRPr lang="en-US" sz="2600" dirty="0"/>
          </a:p>
        </p:txBody>
      </p:sp>
      <p:sp>
        <p:nvSpPr>
          <p:cNvPr id="9" name="Text 7"/>
          <p:cNvSpPr/>
          <p:nvPr/>
        </p:nvSpPr>
        <p:spPr>
          <a:xfrm>
            <a:off x="457200" y="1207008"/>
            <a:ext cx="11274552" cy="274320"/>
          </a:xfrm>
          <a:prstGeom prst="rect">
            <a:avLst/>
          </a:prstGeom>
          <a:noFill/>
          <a:ln/>
        </p:spPr>
        <p:txBody>
          <a:bodyPr wrap="square" lIns="0" tIns="0" rIns="0" bIns="0" rtlCol="0" anchor="ctr"/>
          <a:lstStyle/>
          <a:p>
            <a:pPr marL="0" indent="0">
              <a:buNone/>
            </a:pPr>
            <a:r>
              <a:rPr lang="en-US" sz="1150" dirty="0">
                <a:solidFill>
                  <a:srgbClr val="B6CFE6"/>
                </a:solidFill>
                <a:latin typeface="Calibri" pitchFamily="34" charset="0"/>
                <a:ea typeface="Calibri" pitchFamily="34" charset="-122"/>
                <a:cs typeface="Calibri" pitchFamily="34" charset="-120"/>
              </a:rPr>
              <a:t>PERNOD RICARD  ·  Group HQ  ·  Reporting to Group CIO line</a:t>
            </a:r>
            <a:endParaRPr lang="en-US" sz="1150" dirty="0"/>
          </a:p>
        </p:txBody>
      </p:sp>
      <p:sp>
        <p:nvSpPr>
          <p:cNvPr id="10" name="Text 8"/>
          <p:cNvSpPr/>
          <p:nvPr/>
        </p:nvSpPr>
        <p:spPr>
          <a:xfrm>
            <a:off x="457200" y="1691640"/>
            <a:ext cx="6766560" cy="274320"/>
          </a:xfrm>
          <a:prstGeom prst="rect">
            <a:avLst/>
          </a:prstGeom>
          <a:noFill/>
          <a:ln/>
        </p:spPr>
        <p:txBody>
          <a:bodyPr wrap="square" lIns="0" tIns="0" rIns="0" bIns="0" rtlCol="0" anchor="ctr"/>
          <a:lstStyle/>
          <a:p>
            <a:pPr marL="0" indent="0">
              <a:buNone/>
            </a:pPr>
            <a:r>
              <a:rPr lang="en-US" sz="1400" b="1" kern="0" spc="500" dirty="0">
                <a:solidFill>
                  <a:srgbClr val="14B8A6"/>
                </a:solidFill>
                <a:latin typeface="Calibri" pitchFamily="34" charset="0"/>
                <a:ea typeface="Calibri" pitchFamily="34" charset="-122"/>
                <a:cs typeface="Calibri" pitchFamily="34" charset="-120"/>
              </a:rPr>
              <a:t>ROLE  OVERVIEW</a:t>
            </a:r>
            <a:endParaRPr lang="en-US" sz="1400" dirty="0"/>
          </a:p>
        </p:txBody>
      </p:sp>
      <p:sp>
        <p:nvSpPr>
          <p:cNvPr id="11" name="Text 9"/>
          <p:cNvSpPr/>
          <p:nvPr/>
        </p:nvSpPr>
        <p:spPr>
          <a:xfrm>
            <a:off x="457200" y="1965960"/>
            <a:ext cx="6766560" cy="1371600"/>
          </a:xfrm>
          <a:prstGeom prst="rect">
            <a:avLst/>
          </a:prstGeom>
          <a:noFill/>
          <a:ln/>
        </p:spPr>
        <p:txBody>
          <a:bodyPr wrap="square" lIns="0" tIns="0" rIns="0" bIns="0" rtlCol="0" anchor="t"/>
          <a:lstStyle/>
          <a:p>
            <a:pPr marL="0" indent="0">
              <a:spcAft>
                <a:spcPts val="400"/>
              </a:spcAft>
              <a:buNone/>
            </a:pPr>
            <a:r>
              <a:rPr lang="en-US" sz="1400" dirty="0">
                <a:solidFill>
                  <a:srgbClr val="111827"/>
                </a:solidFill>
                <a:latin typeface="Calibri" pitchFamily="34" charset="0"/>
                <a:ea typeface="Calibri" pitchFamily="34" charset="-122"/>
                <a:cs typeface="Calibri" pitchFamily="34" charset="-120"/>
              </a:rPr>
              <a:t>Promoted to lead as a director the </a:t>
            </a:r>
            <a:r>
              <a:rPr lang="en-US" sz="1400" b="1" dirty="0">
                <a:solidFill>
                  <a:srgbClr val="111827"/>
                </a:solidFill>
                <a:latin typeface="Calibri" pitchFamily="34" charset="0"/>
                <a:ea typeface="Calibri" pitchFamily="34" charset="-122"/>
                <a:cs typeface="Calibri" pitchFamily="34" charset="-120"/>
              </a:rPr>
              <a:t>global Data &amp; Analytics organization </a:t>
            </a:r>
            <a:r>
              <a:rPr lang="en-US" sz="1400" dirty="0">
                <a:solidFill>
                  <a:srgbClr val="111827"/>
                </a:solidFill>
                <a:latin typeface="Calibri" pitchFamily="34" charset="0"/>
                <a:ea typeface="Calibri" pitchFamily="34" charset="-122"/>
                <a:cs typeface="Calibri" pitchFamily="34" charset="-120"/>
              </a:rPr>
              <a:t>with </a:t>
            </a:r>
            <a:r>
              <a:rPr lang="en-US" sz="1400" b="1" dirty="0">
                <a:solidFill>
                  <a:srgbClr val="111827"/>
                </a:solidFill>
                <a:latin typeface="Calibri" pitchFamily="34" charset="0"/>
                <a:ea typeface="Calibri" pitchFamily="34" charset="-122"/>
                <a:cs typeface="Calibri" pitchFamily="34" charset="-120"/>
              </a:rPr>
              <a:t>three global chapters </a:t>
            </a:r>
            <a:r>
              <a:rPr lang="en-US" sz="1400" dirty="0">
                <a:solidFill>
                  <a:srgbClr val="111827"/>
                </a:solidFill>
                <a:latin typeface="Calibri" pitchFamily="34" charset="0"/>
                <a:ea typeface="Calibri" pitchFamily="34" charset="-122"/>
                <a:cs typeface="Calibri" pitchFamily="34" charset="-120"/>
              </a:rPr>
              <a:t>(Data Engineering, Data Architecture, BI &amp; Analytics) operating across </a:t>
            </a:r>
            <a:r>
              <a:rPr lang="en-US" sz="1400" b="1" dirty="0">
                <a:solidFill>
                  <a:srgbClr val="111827"/>
                </a:solidFill>
                <a:latin typeface="Calibri" pitchFamily="34" charset="0"/>
                <a:ea typeface="Calibri" pitchFamily="34" charset="-122"/>
                <a:cs typeface="Calibri" pitchFamily="34" charset="-120"/>
              </a:rPr>
              <a:t>eight global hubs</a:t>
            </a:r>
            <a:r>
              <a:rPr lang="en-US" sz="1400" dirty="0">
                <a:solidFill>
                  <a:srgbClr val="111827"/>
                </a:solidFill>
                <a:latin typeface="Calibri" pitchFamily="34" charset="0"/>
                <a:ea typeface="Calibri" pitchFamily="34" charset="-122"/>
                <a:cs typeface="Calibri" pitchFamily="34" charset="-120"/>
              </a:rPr>
              <a:t>. Mandate: industrialise </a:t>
            </a:r>
            <a:r>
              <a:rPr lang="en-US" sz="1400" b="1" dirty="0">
                <a:solidFill>
                  <a:srgbClr val="111827"/>
                </a:solidFill>
                <a:latin typeface="Calibri" pitchFamily="34" charset="0"/>
                <a:ea typeface="Calibri" pitchFamily="34" charset="-122"/>
                <a:cs typeface="Calibri" pitchFamily="34" charset="-120"/>
              </a:rPr>
              <a:t>delivery</a:t>
            </a:r>
            <a:r>
              <a:rPr lang="en-US" sz="1400" dirty="0">
                <a:solidFill>
                  <a:srgbClr val="111827"/>
                </a:solidFill>
                <a:latin typeface="Calibri" pitchFamily="34" charset="0"/>
                <a:ea typeface="Calibri" pitchFamily="34" charset="-122"/>
                <a:cs typeface="Calibri" pitchFamily="34" charset="-120"/>
              </a:rPr>
              <a:t>, capture value from a </a:t>
            </a:r>
            <a:r>
              <a:rPr lang="en-US" sz="1400" b="1" dirty="0">
                <a:solidFill>
                  <a:srgbClr val="111827"/>
                </a:solidFill>
                <a:latin typeface="Calibri" pitchFamily="34" charset="0"/>
                <a:ea typeface="Calibri" pitchFamily="34" charset="-122"/>
                <a:cs typeface="Calibri" pitchFamily="34" charset="-120"/>
              </a:rPr>
              <a:t>new vendor strategy</a:t>
            </a:r>
            <a:r>
              <a:rPr lang="en-US" sz="1400" dirty="0">
                <a:solidFill>
                  <a:srgbClr val="111827"/>
                </a:solidFill>
                <a:latin typeface="Calibri" pitchFamily="34" charset="0"/>
                <a:ea typeface="Calibri" pitchFamily="34" charset="-122"/>
                <a:cs typeface="Calibri" pitchFamily="34" charset="-120"/>
              </a:rPr>
              <a:t>, and accelerate the </a:t>
            </a:r>
            <a:r>
              <a:rPr lang="en-US" sz="1400" b="1" dirty="0">
                <a:solidFill>
                  <a:srgbClr val="111827"/>
                </a:solidFill>
                <a:latin typeface="Calibri" pitchFamily="34" charset="0"/>
                <a:ea typeface="Calibri" pitchFamily="34" charset="-122"/>
                <a:cs typeface="Calibri" pitchFamily="34" charset="-120"/>
              </a:rPr>
              <a:t>shift to data-product </a:t>
            </a:r>
            <a:r>
              <a:rPr lang="en-US" sz="1400" dirty="0">
                <a:solidFill>
                  <a:srgbClr val="111827"/>
                </a:solidFill>
                <a:latin typeface="Calibri" pitchFamily="34" charset="0"/>
                <a:ea typeface="Calibri" pitchFamily="34" charset="-122"/>
                <a:cs typeface="Calibri" pitchFamily="34" charset="-120"/>
              </a:rPr>
              <a:t>thinking with </a:t>
            </a:r>
            <a:r>
              <a:rPr lang="en-US" sz="1400" b="1" dirty="0">
                <a:solidFill>
                  <a:srgbClr val="111827"/>
                </a:solidFill>
                <a:latin typeface="Calibri" pitchFamily="34" charset="0"/>
                <a:ea typeface="Calibri" pitchFamily="34" charset="-122"/>
                <a:cs typeface="Calibri" pitchFamily="34" charset="-120"/>
              </a:rPr>
              <a:t>self-service BI </a:t>
            </a:r>
            <a:r>
              <a:rPr lang="en-US" sz="1400" dirty="0">
                <a:solidFill>
                  <a:srgbClr val="111827"/>
                </a:solidFill>
                <a:latin typeface="Calibri" pitchFamily="34" charset="0"/>
                <a:ea typeface="Calibri" pitchFamily="34" charset="-122"/>
                <a:cs typeface="Calibri" pitchFamily="34" charset="-120"/>
              </a:rPr>
              <a:t>as the default operating mode.</a:t>
            </a:r>
            <a:endParaRPr lang="en-US" sz="1400" dirty="0"/>
          </a:p>
        </p:txBody>
      </p:sp>
      <p:sp>
        <p:nvSpPr>
          <p:cNvPr id="12" name="Shape 10"/>
          <p:cNvSpPr/>
          <p:nvPr/>
        </p:nvSpPr>
        <p:spPr>
          <a:xfrm>
            <a:off x="411480" y="3199882"/>
            <a:ext cx="146304" cy="146304"/>
          </a:xfrm>
          <a:prstGeom prst="ellipse">
            <a:avLst/>
          </a:prstGeom>
          <a:solidFill>
            <a:srgbClr val="F59E0B"/>
          </a:solidFill>
          <a:ln/>
        </p:spPr>
        <p:txBody>
          <a:bodyPr/>
          <a:lstStyle/>
          <a:p>
            <a:endParaRPr lang="en-SE"/>
          </a:p>
        </p:txBody>
      </p:sp>
      <p:sp>
        <p:nvSpPr>
          <p:cNvPr id="13" name="Text 11"/>
          <p:cNvSpPr/>
          <p:nvPr/>
        </p:nvSpPr>
        <p:spPr>
          <a:xfrm>
            <a:off x="612648" y="3135874"/>
            <a:ext cx="6565392" cy="274320"/>
          </a:xfrm>
          <a:prstGeom prst="rect">
            <a:avLst/>
          </a:prstGeom>
          <a:noFill/>
          <a:ln/>
        </p:spPr>
        <p:txBody>
          <a:bodyPr wrap="square" lIns="0" tIns="0" rIns="0" bIns="0" rtlCol="0" anchor="ctr"/>
          <a:lstStyle/>
          <a:p>
            <a:pPr marL="0" indent="0">
              <a:buNone/>
            </a:pPr>
            <a:r>
              <a:rPr lang="en-US" sz="1400" b="1" kern="0" spc="500" dirty="0">
                <a:solidFill>
                  <a:srgbClr val="D97706"/>
                </a:solidFill>
                <a:latin typeface="Calibri" pitchFamily="34" charset="0"/>
                <a:ea typeface="Calibri" pitchFamily="34" charset="-122"/>
                <a:cs typeface="Calibri" pitchFamily="34" charset="-120"/>
              </a:rPr>
              <a:t>KEY  ACCOMPLISHMENTS  ·  WITH  IMPACT</a:t>
            </a:r>
            <a:endParaRPr lang="en-US" sz="1400" dirty="0"/>
          </a:p>
        </p:txBody>
      </p:sp>
      <p:sp>
        <p:nvSpPr>
          <p:cNvPr id="14" name="Shape 12"/>
          <p:cNvSpPr/>
          <p:nvPr/>
        </p:nvSpPr>
        <p:spPr>
          <a:xfrm>
            <a:off x="411480" y="3446770"/>
            <a:ext cx="3300984" cy="914400"/>
          </a:xfrm>
          <a:prstGeom prst="rect">
            <a:avLst/>
          </a:prstGeom>
          <a:solidFill>
            <a:srgbClr val="FFFFFF"/>
          </a:solidFill>
          <a:ln w="9525">
            <a:solidFill>
              <a:srgbClr val="E5E7EB"/>
            </a:solidFill>
            <a:prstDash val="solid"/>
          </a:ln>
        </p:spPr>
        <p:txBody>
          <a:bodyPr/>
          <a:lstStyle/>
          <a:p>
            <a:endParaRPr lang="en-SE"/>
          </a:p>
        </p:txBody>
      </p:sp>
      <p:sp>
        <p:nvSpPr>
          <p:cNvPr id="15" name="Shape 13"/>
          <p:cNvSpPr/>
          <p:nvPr/>
        </p:nvSpPr>
        <p:spPr>
          <a:xfrm>
            <a:off x="411480" y="3446770"/>
            <a:ext cx="91440" cy="914400"/>
          </a:xfrm>
          <a:prstGeom prst="rect">
            <a:avLst/>
          </a:prstGeom>
          <a:solidFill>
            <a:srgbClr val="F59E0B"/>
          </a:solidFill>
          <a:ln/>
        </p:spPr>
        <p:txBody>
          <a:bodyPr/>
          <a:lstStyle/>
          <a:p>
            <a:endParaRPr lang="en-SE"/>
          </a:p>
        </p:txBody>
      </p:sp>
      <p:sp>
        <p:nvSpPr>
          <p:cNvPr id="16" name="Shape 14"/>
          <p:cNvSpPr/>
          <p:nvPr/>
        </p:nvSpPr>
        <p:spPr>
          <a:xfrm>
            <a:off x="612648" y="3611362"/>
            <a:ext cx="146304" cy="146304"/>
          </a:xfrm>
          <a:prstGeom prst="ellipse">
            <a:avLst/>
          </a:prstGeom>
          <a:solidFill>
            <a:srgbClr val="F59E0B"/>
          </a:solidFill>
          <a:ln/>
        </p:spPr>
        <p:txBody>
          <a:bodyPr/>
          <a:lstStyle/>
          <a:p>
            <a:endParaRPr lang="en-SE"/>
          </a:p>
        </p:txBody>
      </p:sp>
      <p:sp>
        <p:nvSpPr>
          <p:cNvPr id="17" name="Text 15"/>
          <p:cNvSpPr/>
          <p:nvPr/>
        </p:nvSpPr>
        <p:spPr>
          <a:xfrm>
            <a:off x="822960" y="3519922"/>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€1.5M  →  €1.9M</a:t>
            </a:r>
            <a:endParaRPr lang="en-US" sz="1450" dirty="0"/>
          </a:p>
        </p:txBody>
      </p:sp>
      <p:sp>
        <p:nvSpPr>
          <p:cNvPr id="18" name="Text 16"/>
          <p:cNvSpPr/>
          <p:nvPr/>
        </p:nvSpPr>
        <p:spPr>
          <a:xfrm>
            <a:off x="612648" y="3903970"/>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Internalisation programme: </a:t>
            </a:r>
            <a:r>
              <a:rPr lang="en-US" sz="1020" b="1" dirty="0">
                <a:solidFill>
                  <a:srgbClr val="0A1A2F"/>
                </a:solidFill>
                <a:latin typeface="Calibri" pitchFamily="34" charset="0"/>
                <a:ea typeface="Calibri" pitchFamily="34" charset="-122"/>
                <a:cs typeface="Calibri" pitchFamily="34" charset="-120"/>
              </a:rPr>
              <a:t>€1.5M</a:t>
            </a:r>
            <a:r>
              <a:rPr lang="en-US" sz="1020" dirty="0">
                <a:solidFill>
                  <a:srgbClr val="111827"/>
                </a:solidFill>
                <a:latin typeface="Calibri" pitchFamily="34" charset="0"/>
                <a:ea typeface="Calibri" pitchFamily="34" charset="-122"/>
                <a:cs typeface="Calibri" pitchFamily="34" charset="-120"/>
              </a:rPr>
              <a:t> investment projected to deliver </a:t>
            </a:r>
            <a:r>
              <a:rPr lang="en-US" sz="1020" b="1" dirty="0">
                <a:solidFill>
                  <a:srgbClr val="0A1A2F"/>
                </a:solidFill>
                <a:latin typeface="Calibri" pitchFamily="34" charset="0"/>
                <a:ea typeface="Calibri" pitchFamily="34" charset="-122"/>
                <a:cs typeface="Calibri" pitchFamily="34" charset="-120"/>
              </a:rPr>
              <a:t>€1.9M</a:t>
            </a:r>
            <a:r>
              <a:rPr lang="en-US" sz="1020" dirty="0">
                <a:solidFill>
                  <a:srgbClr val="111827"/>
                </a:solidFill>
                <a:latin typeface="Calibri" pitchFamily="34" charset="0"/>
                <a:ea typeface="Calibri" pitchFamily="34" charset="-122"/>
                <a:cs typeface="Calibri" pitchFamily="34" charset="-120"/>
              </a:rPr>
              <a:t> of recurring savings.</a:t>
            </a:r>
            <a:endParaRPr lang="en-US" sz="1020" dirty="0"/>
          </a:p>
        </p:txBody>
      </p:sp>
      <p:sp>
        <p:nvSpPr>
          <p:cNvPr id="19" name="Shape 17"/>
          <p:cNvSpPr/>
          <p:nvPr/>
        </p:nvSpPr>
        <p:spPr>
          <a:xfrm>
            <a:off x="3877056" y="3446770"/>
            <a:ext cx="3300984" cy="914400"/>
          </a:xfrm>
          <a:prstGeom prst="rect">
            <a:avLst/>
          </a:prstGeom>
          <a:solidFill>
            <a:srgbClr val="FFFFFF"/>
          </a:solidFill>
          <a:ln w="9525">
            <a:solidFill>
              <a:srgbClr val="E5E7EB"/>
            </a:solidFill>
            <a:prstDash val="solid"/>
          </a:ln>
        </p:spPr>
        <p:txBody>
          <a:bodyPr/>
          <a:lstStyle/>
          <a:p>
            <a:endParaRPr lang="en-SE"/>
          </a:p>
        </p:txBody>
      </p:sp>
      <p:sp>
        <p:nvSpPr>
          <p:cNvPr id="20" name="Shape 18"/>
          <p:cNvSpPr/>
          <p:nvPr/>
        </p:nvSpPr>
        <p:spPr>
          <a:xfrm>
            <a:off x="3877056" y="3446770"/>
            <a:ext cx="91440" cy="914400"/>
          </a:xfrm>
          <a:prstGeom prst="rect">
            <a:avLst/>
          </a:prstGeom>
          <a:solidFill>
            <a:srgbClr val="F59E0B"/>
          </a:solidFill>
          <a:ln/>
        </p:spPr>
        <p:txBody>
          <a:bodyPr/>
          <a:lstStyle/>
          <a:p>
            <a:endParaRPr lang="en-SE"/>
          </a:p>
        </p:txBody>
      </p:sp>
      <p:sp>
        <p:nvSpPr>
          <p:cNvPr id="21" name="Shape 19"/>
          <p:cNvSpPr/>
          <p:nvPr/>
        </p:nvSpPr>
        <p:spPr>
          <a:xfrm>
            <a:off x="4078224" y="3611362"/>
            <a:ext cx="146304" cy="146304"/>
          </a:xfrm>
          <a:prstGeom prst="ellipse">
            <a:avLst/>
          </a:prstGeom>
          <a:solidFill>
            <a:srgbClr val="F59E0B"/>
          </a:solidFill>
          <a:ln/>
        </p:spPr>
        <p:txBody>
          <a:bodyPr/>
          <a:lstStyle/>
          <a:p>
            <a:endParaRPr lang="en-SE"/>
          </a:p>
        </p:txBody>
      </p:sp>
      <p:sp>
        <p:nvSpPr>
          <p:cNvPr id="22" name="Text 20"/>
          <p:cNvSpPr/>
          <p:nvPr/>
        </p:nvSpPr>
        <p:spPr>
          <a:xfrm>
            <a:off x="4288536" y="3519922"/>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180+ practitioners</a:t>
            </a:r>
            <a:endParaRPr lang="en-US" sz="1450" dirty="0"/>
          </a:p>
        </p:txBody>
      </p:sp>
      <p:sp>
        <p:nvSpPr>
          <p:cNvPr id="23" name="Text 21"/>
          <p:cNvSpPr/>
          <p:nvPr/>
        </p:nvSpPr>
        <p:spPr>
          <a:xfrm>
            <a:off x="4078224" y="3903970"/>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Led </a:t>
            </a:r>
            <a:r>
              <a:rPr lang="en-US" sz="1020" b="1" dirty="0">
                <a:solidFill>
                  <a:srgbClr val="0A1A2F"/>
                </a:solidFill>
                <a:latin typeface="Calibri" pitchFamily="34" charset="0"/>
                <a:ea typeface="Calibri" pitchFamily="34" charset="-122"/>
                <a:cs typeface="Calibri" pitchFamily="34" charset="-120"/>
              </a:rPr>
              <a:t>30+ internal experts</a:t>
            </a:r>
            <a:r>
              <a:rPr lang="en-US" sz="1020" dirty="0">
                <a:solidFill>
                  <a:srgbClr val="111827"/>
                </a:solidFill>
                <a:latin typeface="Calibri" pitchFamily="34" charset="0"/>
                <a:ea typeface="Calibri" pitchFamily="34" charset="-122"/>
                <a:cs typeface="Calibri" pitchFamily="34" charset="-120"/>
              </a:rPr>
              <a:t> and </a:t>
            </a:r>
            <a:r>
              <a:rPr lang="en-US" sz="1020" b="1" dirty="0">
                <a:solidFill>
                  <a:srgbClr val="0A1A2F"/>
                </a:solidFill>
                <a:latin typeface="Calibri" pitchFamily="34" charset="0"/>
                <a:ea typeface="Calibri" pitchFamily="34" charset="-122"/>
                <a:cs typeface="Calibri" pitchFamily="34" charset="-120"/>
              </a:rPr>
              <a:t>150+ external</a:t>
            </a:r>
            <a:r>
              <a:rPr lang="en-US" sz="1020" dirty="0">
                <a:solidFill>
                  <a:srgbClr val="111827"/>
                </a:solidFill>
                <a:latin typeface="Calibri" pitchFamily="34" charset="0"/>
                <a:ea typeface="Calibri" pitchFamily="34" charset="-122"/>
                <a:cs typeface="Calibri" pitchFamily="34" charset="-120"/>
              </a:rPr>
              <a:t> resources across global hubs.</a:t>
            </a:r>
            <a:endParaRPr lang="en-US" sz="1020" dirty="0"/>
          </a:p>
        </p:txBody>
      </p:sp>
      <p:sp>
        <p:nvSpPr>
          <p:cNvPr id="24" name="Shape 22"/>
          <p:cNvSpPr/>
          <p:nvPr/>
        </p:nvSpPr>
        <p:spPr>
          <a:xfrm>
            <a:off x="411480" y="4470898"/>
            <a:ext cx="3300984" cy="914400"/>
          </a:xfrm>
          <a:prstGeom prst="rect">
            <a:avLst/>
          </a:prstGeom>
          <a:solidFill>
            <a:srgbClr val="FFFFFF"/>
          </a:solidFill>
          <a:ln w="9525">
            <a:solidFill>
              <a:srgbClr val="E5E7EB"/>
            </a:solidFill>
            <a:prstDash val="solid"/>
          </a:ln>
        </p:spPr>
        <p:txBody>
          <a:bodyPr/>
          <a:lstStyle/>
          <a:p>
            <a:endParaRPr lang="en-SE"/>
          </a:p>
        </p:txBody>
      </p:sp>
      <p:sp>
        <p:nvSpPr>
          <p:cNvPr id="25" name="Shape 23"/>
          <p:cNvSpPr/>
          <p:nvPr/>
        </p:nvSpPr>
        <p:spPr>
          <a:xfrm>
            <a:off x="411480" y="4470898"/>
            <a:ext cx="91440" cy="914400"/>
          </a:xfrm>
          <a:prstGeom prst="rect">
            <a:avLst/>
          </a:prstGeom>
          <a:solidFill>
            <a:srgbClr val="F59E0B"/>
          </a:solidFill>
          <a:ln/>
        </p:spPr>
        <p:txBody>
          <a:bodyPr/>
          <a:lstStyle/>
          <a:p>
            <a:endParaRPr lang="en-SE"/>
          </a:p>
        </p:txBody>
      </p:sp>
      <p:sp>
        <p:nvSpPr>
          <p:cNvPr id="26" name="Shape 24"/>
          <p:cNvSpPr/>
          <p:nvPr/>
        </p:nvSpPr>
        <p:spPr>
          <a:xfrm>
            <a:off x="612648" y="4635490"/>
            <a:ext cx="146304" cy="146304"/>
          </a:xfrm>
          <a:prstGeom prst="ellipse">
            <a:avLst/>
          </a:prstGeom>
          <a:solidFill>
            <a:srgbClr val="F59E0B"/>
          </a:solidFill>
          <a:ln/>
        </p:spPr>
        <p:txBody>
          <a:bodyPr/>
          <a:lstStyle/>
          <a:p>
            <a:endParaRPr lang="en-SE"/>
          </a:p>
        </p:txBody>
      </p:sp>
      <p:sp>
        <p:nvSpPr>
          <p:cNvPr id="27" name="Text 25"/>
          <p:cNvSpPr/>
          <p:nvPr/>
        </p:nvSpPr>
        <p:spPr>
          <a:xfrm>
            <a:off x="822960" y="4544050"/>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8 global hubs</a:t>
            </a:r>
            <a:endParaRPr lang="en-US" sz="1450" dirty="0"/>
          </a:p>
        </p:txBody>
      </p:sp>
      <p:sp>
        <p:nvSpPr>
          <p:cNvPr id="28" name="Text 26"/>
          <p:cNvSpPr/>
          <p:nvPr/>
        </p:nvSpPr>
        <p:spPr>
          <a:xfrm>
            <a:off x="612648" y="4928098"/>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Canada · UK · Spain · Italy · India · France · Eastern Europe · China — </a:t>
            </a:r>
            <a:r>
              <a:rPr lang="en-US" sz="1020" b="1" dirty="0">
                <a:solidFill>
                  <a:srgbClr val="0A1A2F"/>
                </a:solidFill>
                <a:latin typeface="Calibri" pitchFamily="34" charset="0"/>
                <a:ea typeface="Calibri" pitchFamily="34" charset="-122"/>
                <a:cs typeface="Calibri" pitchFamily="34" charset="-120"/>
              </a:rPr>
              <a:t>single delivery model</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29" name="Shape 27"/>
          <p:cNvSpPr/>
          <p:nvPr/>
        </p:nvSpPr>
        <p:spPr>
          <a:xfrm>
            <a:off x="3877056" y="4470898"/>
            <a:ext cx="3300984" cy="914400"/>
          </a:xfrm>
          <a:prstGeom prst="rect">
            <a:avLst/>
          </a:prstGeom>
          <a:solidFill>
            <a:srgbClr val="FFFFFF"/>
          </a:solidFill>
          <a:ln w="9525">
            <a:solidFill>
              <a:srgbClr val="E5E7EB"/>
            </a:solidFill>
            <a:prstDash val="solid"/>
          </a:ln>
        </p:spPr>
        <p:txBody>
          <a:bodyPr/>
          <a:lstStyle/>
          <a:p>
            <a:endParaRPr lang="en-SE"/>
          </a:p>
        </p:txBody>
      </p:sp>
      <p:sp>
        <p:nvSpPr>
          <p:cNvPr id="30" name="Shape 28"/>
          <p:cNvSpPr/>
          <p:nvPr/>
        </p:nvSpPr>
        <p:spPr>
          <a:xfrm>
            <a:off x="3877056" y="4470898"/>
            <a:ext cx="91440" cy="914400"/>
          </a:xfrm>
          <a:prstGeom prst="rect">
            <a:avLst/>
          </a:prstGeom>
          <a:solidFill>
            <a:srgbClr val="F59E0B"/>
          </a:solidFill>
          <a:ln/>
        </p:spPr>
        <p:txBody>
          <a:bodyPr/>
          <a:lstStyle/>
          <a:p>
            <a:endParaRPr lang="en-SE"/>
          </a:p>
        </p:txBody>
      </p:sp>
      <p:sp>
        <p:nvSpPr>
          <p:cNvPr id="31" name="Shape 29"/>
          <p:cNvSpPr/>
          <p:nvPr/>
        </p:nvSpPr>
        <p:spPr>
          <a:xfrm>
            <a:off x="4078224" y="4635490"/>
            <a:ext cx="146304" cy="146304"/>
          </a:xfrm>
          <a:prstGeom prst="ellipse">
            <a:avLst/>
          </a:prstGeom>
          <a:solidFill>
            <a:srgbClr val="F59E0B"/>
          </a:solidFill>
          <a:ln/>
        </p:spPr>
        <p:txBody>
          <a:bodyPr/>
          <a:lstStyle/>
          <a:p>
            <a:endParaRPr lang="en-SE"/>
          </a:p>
        </p:txBody>
      </p:sp>
      <p:sp>
        <p:nvSpPr>
          <p:cNvPr id="32" name="Text 30"/>
          <p:cNvSpPr/>
          <p:nvPr/>
        </p:nvSpPr>
        <p:spPr>
          <a:xfrm>
            <a:off x="4288536" y="4544050"/>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4-pillar strategy</a:t>
            </a:r>
            <a:endParaRPr lang="en-US" sz="1450" dirty="0"/>
          </a:p>
        </p:txBody>
      </p:sp>
      <p:sp>
        <p:nvSpPr>
          <p:cNvPr id="33" name="Text 31"/>
          <p:cNvSpPr/>
          <p:nvPr/>
        </p:nvSpPr>
        <p:spPr>
          <a:xfrm>
            <a:off x="4078224" y="4928098"/>
            <a:ext cx="2980944" cy="411480"/>
          </a:xfrm>
          <a:prstGeom prst="rect">
            <a:avLst/>
          </a:prstGeom>
          <a:noFill/>
          <a:ln/>
        </p:spPr>
        <p:txBody>
          <a:bodyPr wrap="square" lIns="0" tIns="0" rIns="0" bIns="0" rtlCol="0" anchor="t"/>
          <a:lstStyle/>
          <a:p>
            <a:pPr marL="0" indent="0">
              <a:buNone/>
            </a:pPr>
            <a:r>
              <a:rPr lang="en-US" sz="1020" b="1" dirty="0">
                <a:solidFill>
                  <a:srgbClr val="0A1A2F"/>
                </a:solidFill>
                <a:latin typeface="Calibri" pitchFamily="34" charset="0"/>
                <a:ea typeface="Calibri" pitchFamily="34" charset="-122"/>
                <a:cs typeface="Calibri" pitchFamily="34" charset="-120"/>
              </a:rPr>
              <a:t>Community of Experts · People &amp; Comms · Tech Outlook · Operational Efficiency</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34" name="Shape 32"/>
          <p:cNvSpPr/>
          <p:nvPr/>
        </p:nvSpPr>
        <p:spPr>
          <a:xfrm>
            <a:off x="411480" y="5495026"/>
            <a:ext cx="3300984" cy="914400"/>
          </a:xfrm>
          <a:prstGeom prst="rect">
            <a:avLst/>
          </a:prstGeom>
          <a:solidFill>
            <a:srgbClr val="FFFFFF"/>
          </a:solidFill>
          <a:ln w="9525">
            <a:solidFill>
              <a:srgbClr val="E5E7EB"/>
            </a:solidFill>
            <a:prstDash val="solid"/>
          </a:ln>
        </p:spPr>
        <p:txBody>
          <a:bodyPr/>
          <a:lstStyle/>
          <a:p>
            <a:endParaRPr lang="en-SE"/>
          </a:p>
        </p:txBody>
      </p:sp>
      <p:sp>
        <p:nvSpPr>
          <p:cNvPr id="35" name="Shape 33"/>
          <p:cNvSpPr/>
          <p:nvPr/>
        </p:nvSpPr>
        <p:spPr>
          <a:xfrm>
            <a:off x="411480" y="5495026"/>
            <a:ext cx="91440" cy="914400"/>
          </a:xfrm>
          <a:prstGeom prst="rect">
            <a:avLst/>
          </a:prstGeom>
          <a:solidFill>
            <a:srgbClr val="F59E0B"/>
          </a:solidFill>
          <a:ln/>
        </p:spPr>
        <p:txBody>
          <a:bodyPr/>
          <a:lstStyle/>
          <a:p>
            <a:endParaRPr lang="en-SE"/>
          </a:p>
        </p:txBody>
      </p:sp>
      <p:sp>
        <p:nvSpPr>
          <p:cNvPr id="36" name="Shape 34"/>
          <p:cNvSpPr/>
          <p:nvPr/>
        </p:nvSpPr>
        <p:spPr>
          <a:xfrm>
            <a:off x="612648" y="5659618"/>
            <a:ext cx="146304" cy="146304"/>
          </a:xfrm>
          <a:prstGeom prst="ellipse">
            <a:avLst/>
          </a:prstGeom>
          <a:solidFill>
            <a:srgbClr val="F59E0B"/>
          </a:solidFill>
          <a:ln/>
        </p:spPr>
        <p:txBody>
          <a:bodyPr/>
          <a:lstStyle/>
          <a:p>
            <a:endParaRPr lang="en-SE"/>
          </a:p>
        </p:txBody>
      </p:sp>
      <p:sp>
        <p:nvSpPr>
          <p:cNvPr id="37" name="Text 35"/>
          <p:cNvSpPr/>
          <p:nvPr/>
        </p:nvSpPr>
        <p:spPr>
          <a:xfrm>
            <a:off x="822960" y="5568178"/>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2 strategic partners</a:t>
            </a:r>
            <a:endParaRPr lang="en-US" sz="1450" dirty="0"/>
          </a:p>
        </p:txBody>
      </p:sp>
      <p:sp>
        <p:nvSpPr>
          <p:cNvPr id="38" name="Text 36"/>
          <p:cNvSpPr/>
          <p:nvPr/>
        </p:nvSpPr>
        <p:spPr>
          <a:xfrm>
            <a:off x="612648" y="5952226"/>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Vendor strategy redesigned: </a:t>
            </a:r>
            <a:r>
              <a:rPr lang="en-US" sz="1020" b="1" dirty="0">
                <a:solidFill>
                  <a:srgbClr val="0A1A2F"/>
                </a:solidFill>
                <a:latin typeface="Calibri" pitchFamily="34" charset="0"/>
                <a:ea typeface="Calibri" pitchFamily="34" charset="-122"/>
                <a:cs typeface="Calibri" pitchFamily="34" charset="-120"/>
              </a:rPr>
              <a:t>SDG and EPAM</a:t>
            </a:r>
            <a:r>
              <a:rPr lang="en-US" sz="1020" dirty="0">
                <a:solidFill>
                  <a:srgbClr val="111827"/>
                </a:solidFill>
                <a:latin typeface="Calibri" pitchFamily="34" charset="0"/>
                <a:ea typeface="Calibri" pitchFamily="34" charset="-122"/>
                <a:cs typeface="Calibri" pitchFamily="34" charset="-120"/>
              </a:rPr>
              <a:t> selected after structured RFP.</a:t>
            </a:r>
            <a:endParaRPr lang="en-US" sz="1020" dirty="0"/>
          </a:p>
        </p:txBody>
      </p:sp>
      <p:sp>
        <p:nvSpPr>
          <p:cNvPr id="39" name="Shape 37"/>
          <p:cNvSpPr/>
          <p:nvPr/>
        </p:nvSpPr>
        <p:spPr>
          <a:xfrm>
            <a:off x="3877056" y="5495026"/>
            <a:ext cx="3300984" cy="914400"/>
          </a:xfrm>
          <a:prstGeom prst="rect">
            <a:avLst/>
          </a:prstGeom>
          <a:solidFill>
            <a:srgbClr val="FFFFFF"/>
          </a:solidFill>
          <a:ln w="9525">
            <a:solidFill>
              <a:srgbClr val="E5E7EB"/>
            </a:solidFill>
            <a:prstDash val="solid"/>
          </a:ln>
        </p:spPr>
        <p:txBody>
          <a:bodyPr/>
          <a:lstStyle/>
          <a:p>
            <a:endParaRPr lang="en-SE"/>
          </a:p>
        </p:txBody>
      </p:sp>
      <p:sp>
        <p:nvSpPr>
          <p:cNvPr id="40" name="Shape 38"/>
          <p:cNvSpPr/>
          <p:nvPr/>
        </p:nvSpPr>
        <p:spPr>
          <a:xfrm>
            <a:off x="3877056" y="5495026"/>
            <a:ext cx="91440" cy="914400"/>
          </a:xfrm>
          <a:prstGeom prst="rect">
            <a:avLst/>
          </a:prstGeom>
          <a:solidFill>
            <a:srgbClr val="F59E0B"/>
          </a:solidFill>
          <a:ln/>
        </p:spPr>
        <p:txBody>
          <a:bodyPr/>
          <a:lstStyle/>
          <a:p>
            <a:endParaRPr lang="en-SE"/>
          </a:p>
        </p:txBody>
      </p:sp>
      <p:sp>
        <p:nvSpPr>
          <p:cNvPr id="41" name="Shape 39"/>
          <p:cNvSpPr/>
          <p:nvPr/>
        </p:nvSpPr>
        <p:spPr>
          <a:xfrm>
            <a:off x="4078224" y="5659618"/>
            <a:ext cx="146304" cy="146304"/>
          </a:xfrm>
          <a:prstGeom prst="ellipse">
            <a:avLst/>
          </a:prstGeom>
          <a:solidFill>
            <a:srgbClr val="F59E0B"/>
          </a:solidFill>
          <a:ln/>
        </p:spPr>
        <p:txBody>
          <a:bodyPr/>
          <a:lstStyle/>
          <a:p>
            <a:endParaRPr lang="en-SE"/>
          </a:p>
        </p:txBody>
      </p:sp>
      <p:sp>
        <p:nvSpPr>
          <p:cNvPr id="42" name="Text 40"/>
          <p:cNvSpPr/>
          <p:nvPr/>
        </p:nvSpPr>
        <p:spPr>
          <a:xfrm>
            <a:off x="4288536" y="5568178"/>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Standard architecture and guidelines</a:t>
            </a:r>
            <a:endParaRPr lang="en-US" sz="1450" dirty="0"/>
          </a:p>
        </p:txBody>
      </p:sp>
      <p:sp>
        <p:nvSpPr>
          <p:cNvPr id="43" name="Text 41"/>
          <p:cNvSpPr/>
          <p:nvPr/>
        </p:nvSpPr>
        <p:spPr>
          <a:xfrm>
            <a:off x="4078224" y="5952226"/>
            <a:ext cx="2980944" cy="411480"/>
          </a:xfrm>
          <a:prstGeom prst="rect">
            <a:avLst/>
          </a:prstGeom>
          <a:noFill/>
          <a:ln/>
        </p:spPr>
        <p:txBody>
          <a:bodyPr wrap="square" lIns="0" tIns="0" rIns="0" bIns="0" rtlCol="0" anchor="t"/>
          <a:lstStyle/>
          <a:p>
            <a:pPr marL="0" indent="0">
              <a:buNone/>
            </a:pPr>
            <a:r>
              <a:rPr lang="en-US" sz="1020" b="1" dirty="0">
                <a:solidFill>
                  <a:srgbClr val="0A1A2F"/>
                </a:solidFill>
                <a:latin typeface="Calibri" pitchFamily="34" charset="0"/>
                <a:ea typeface="Calibri" pitchFamily="34" charset="-122"/>
                <a:cs typeface="Calibri" pitchFamily="34" charset="-120"/>
              </a:rPr>
              <a:t>Snowflake · DBT · ADF · Power BI · GitHub</a:t>
            </a:r>
            <a:r>
              <a:rPr lang="en-US" sz="1020" dirty="0">
                <a:solidFill>
                  <a:srgbClr val="111827"/>
                </a:solidFill>
                <a:latin typeface="Calibri" pitchFamily="34" charset="0"/>
                <a:ea typeface="Calibri" pitchFamily="34" charset="-122"/>
                <a:cs typeface="Calibri" pitchFamily="34" charset="-120"/>
              </a:rPr>
              <a:t> — enforced globally with CODEX architecture.</a:t>
            </a:r>
            <a:endParaRPr lang="en-US" sz="1020" dirty="0"/>
          </a:p>
        </p:txBody>
      </p:sp>
      <p:sp>
        <p:nvSpPr>
          <p:cNvPr id="44" name="Shape 42"/>
          <p:cNvSpPr/>
          <p:nvPr/>
        </p:nvSpPr>
        <p:spPr>
          <a:xfrm>
            <a:off x="7406640" y="1691640"/>
            <a:ext cx="4370832" cy="1170432"/>
          </a:xfrm>
          <a:prstGeom prst="rect">
            <a:avLst/>
          </a:prstGeom>
          <a:solidFill>
            <a:srgbClr val="FFFFFF"/>
          </a:solidFill>
          <a:ln w="9525">
            <a:solidFill>
              <a:srgbClr val="E5E7EB"/>
            </a:solidFill>
            <a:prstDash val="solid"/>
          </a:ln>
        </p:spPr>
        <p:txBody>
          <a:bodyPr/>
          <a:lstStyle/>
          <a:p>
            <a:endParaRPr lang="en-SE"/>
          </a:p>
        </p:txBody>
      </p:sp>
      <p:sp>
        <p:nvSpPr>
          <p:cNvPr id="45" name="Shape 43"/>
          <p:cNvSpPr/>
          <p:nvPr/>
        </p:nvSpPr>
        <p:spPr>
          <a:xfrm>
            <a:off x="7406640" y="1691640"/>
            <a:ext cx="4370832" cy="329184"/>
          </a:xfrm>
          <a:prstGeom prst="rect">
            <a:avLst/>
          </a:prstGeom>
          <a:solidFill>
            <a:srgbClr val="0A1A2F"/>
          </a:solidFill>
          <a:ln/>
        </p:spPr>
        <p:txBody>
          <a:bodyPr/>
          <a:lstStyle/>
          <a:p>
            <a:endParaRPr lang="en-SE"/>
          </a:p>
        </p:txBody>
      </p:sp>
      <p:sp>
        <p:nvSpPr>
          <p:cNvPr id="46" name="Shape 44"/>
          <p:cNvSpPr/>
          <p:nvPr/>
        </p:nvSpPr>
        <p:spPr>
          <a:xfrm>
            <a:off x="7406640" y="1691640"/>
            <a:ext cx="73152" cy="329184"/>
          </a:xfrm>
          <a:prstGeom prst="rect">
            <a:avLst/>
          </a:prstGeom>
          <a:solidFill>
            <a:srgbClr val="2DD4BF"/>
          </a:solidFill>
          <a:ln/>
        </p:spPr>
        <p:txBody>
          <a:bodyPr/>
          <a:lstStyle/>
          <a:p>
            <a:endParaRPr lang="en-SE"/>
          </a:p>
        </p:txBody>
      </p:sp>
      <p:sp>
        <p:nvSpPr>
          <p:cNvPr id="47" name="Text 45"/>
          <p:cNvSpPr/>
          <p:nvPr/>
        </p:nvSpPr>
        <p:spPr>
          <a:xfrm>
            <a:off x="7589520" y="1691640"/>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TECHNOLOGY</a:t>
            </a:r>
            <a:endParaRPr lang="en-US" sz="1050" dirty="0"/>
          </a:p>
        </p:txBody>
      </p:sp>
      <p:sp>
        <p:nvSpPr>
          <p:cNvPr id="48" name="Text 46"/>
          <p:cNvSpPr/>
          <p:nvPr/>
        </p:nvSpPr>
        <p:spPr>
          <a:xfrm>
            <a:off x="7479793" y="2016976"/>
            <a:ext cx="4462270" cy="841248"/>
          </a:xfrm>
          <a:prstGeom prst="rect">
            <a:avLst/>
          </a:prstGeom>
          <a:noFill/>
          <a:ln/>
        </p:spPr>
        <p:txBody>
          <a:bodyPr wrap="square" rtlCol="0" anchor="ctr"/>
          <a:lstStyle/>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Snowflake, Databricks, DBT, Azure Data Factory, Power BI, GitHub</a:t>
            </a:r>
            <a:endParaRPr lang="en-US" sz="1100" dirty="0"/>
          </a:p>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Agile delivery: JIRA backlog, 3-week sprints, full ceremonies</a:t>
            </a:r>
            <a:endParaRPr lang="en-US" sz="1100" dirty="0"/>
          </a:p>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Data platform &amp; product architecture — single source of truth + shared datasets</a:t>
            </a:r>
            <a:endParaRPr lang="en-US" sz="1100" dirty="0"/>
          </a:p>
        </p:txBody>
      </p:sp>
      <p:sp>
        <p:nvSpPr>
          <p:cNvPr id="49" name="Shape 47"/>
          <p:cNvSpPr/>
          <p:nvPr/>
        </p:nvSpPr>
        <p:spPr>
          <a:xfrm>
            <a:off x="7406640" y="2971800"/>
            <a:ext cx="4370832" cy="1170432"/>
          </a:xfrm>
          <a:prstGeom prst="rect">
            <a:avLst/>
          </a:prstGeom>
          <a:solidFill>
            <a:srgbClr val="FFFFFF"/>
          </a:solidFill>
          <a:ln w="9525">
            <a:solidFill>
              <a:srgbClr val="E5E7EB"/>
            </a:solidFill>
            <a:prstDash val="solid"/>
          </a:ln>
        </p:spPr>
        <p:txBody>
          <a:bodyPr/>
          <a:lstStyle/>
          <a:p>
            <a:endParaRPr lang="en-SE"/>
          </a:p>
        </p:txBody>
      </p:sp>
      <p:sp>
        <p:nvSpPr>
          <p:cNvPr id="50" name="Shape 48"/>
          <p:cNvSpPr/>
          <p:nvPr/>
        </p:nvSpPr>
        <p:spPr>
          <a:xfrm>
            <a:off x="7406640" y="2971800"/>
            <a:ext cx="4370832" cy="329184"/>
          </a:xfrm>
          <a:prstGeom prst="rect">
            <a:avLst/>
          </a:prstGeom>
          <a:solidFill>
            <a:srgbClr val="0A1A2F"/>
          </a:solidFill>
          <a:ln/>
        </p:spPr>
        <p:txBody>
          <a:bodyPr/>
          <a:lstStyle/>
          <a:p>
            <a:endParaRPr lang="en-SE"/>
          </a:p>
        </p:txBody>
      </p:sp>
      <p:sp>
        <p:nvSpPr>
          <p:cNvPr id="51" name="Shape 49"/>
          <p:cNvSpPr/>
          <p:nvPr/>
        </p:nvSpPr>
        <p:spPr>
          <a:xfrm>
            <a:off x="7406640" y="2971800"/>
            <a:ext cx="73152" cy="329184"/>
          </a:xfrm>
          <a:prstGeom prst="rect">
            <a:avLst/>
          </a:prstGeom>
          <a:solidFill>
            <a:srgbClr val="2DD4BF"/>
          </a:solidFill>
          <a:ln/>
        </p:spPr>
        <p:txBody>
          <a:bodyPr/>
          <a:lstStyle/>
          <a:p>
            <a:endParaRPr lang="en-SE"/>
          </a:p>
        </p:txBody>
      </p:sp>
      <p:sp>
        <p:nvSpPr>
          <p:cNvPr id="52" name="Text 50"/>
          <p:cNvSpPr/>
          <p:nvPr/>
        </p:nvSpPr>
        <p:spPr>
          <a:xfrm>
            <a:off x="7589520" y="2971800"/>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BUSINESS  SPECTRUM</a:t>
            </a:r>
            <a:endParaRPr lang="en-US" sz="1050" dirty="0"/>
          </a:p>
        </p:txBody>
      </p:sp>
      <p:sp>
        <p:nvSpPr>
          <p:cNvPr id="53" name="Text 51"/>
          <p:cNvSpPr/>
          <p:nvPr/>
        </p:nvSpPr>
        <p:spPr>
          <a:xfrm>
            <a:off x="7479792" y="3300503"/>
            <a:ext cx="4315968" cy="829218"/>
          </a:xfrm>
          <a:prstGeom prst="rect">
            <a:avLst/>
          </a:prstGeom>
          <a:noFill/>
          <a:ln/>
        </p:spPr>
        <p:txBody>
          <a:bodyPr wrap="square" rtlCol="0" anchor="ctr"/>
          <a:lstStyle/>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Group-wide D&amp;A capability serving brand, supply, finance and consumer</a:t>
            </a:r>
            <a:endParaRPr lang="en-US" sz="1100" dirty="0"/>
          </a:p>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B2B operations + B2C consumer analytics in one platform</a:t>
            </a:r>
            <a:endParaRPr lang="en-US" sz="1100" dirty="0"/>
          </a:p>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Self-service BI shift — from project delivery to data product</a:t>
            </a:r>
            <a:endParaRPr lang="en-US" sz="1100" dirty="0"/>
          </a:p>
        </p:txBody>
      </p:sp>
      <p:sp>
        <p:nvSpPr>
          <p:cNvPr id="54" name="Shape 52"/>
          <p:cNvSpPr/>
          <p:nvPr/>
        </p:nvSpPr>
        <p:spPr>
          <a:xfrm>
            <a:off x="7406640" y="4251960"/>
            <a:ext cx="4370832" cy="1048193"/>
          </a:xfrm>
          <a:prstGeom prst="rect">
            <a:avLst/>
          </a:prstGeom>
          <a:solidFill>
            <a:srgbClr val="FFFFFF"/>
          </a:solidFill>
          <a:ln w="9525">
            <a:solidFill>
              <a:srgbClr val="E5E7EB"/>
            </a:solidFill>
            <a:prstDash val="solid"/>
          </a:ln>
        </p:spPr>
        <p:txBody>
          <a:bodyPr/>
          <a:lstStyle/>
          <a:p>
            <a:endParaRPr lang="en-SE"/>
          </a:p>
        </p:txBody>
      </p:sp>
      <p:sp>
        <p:nvSpPr>
          <p:cNvPr id="55" name="Shape 53"/>
          <p:cNvSpPr/>
          <p:nvPr/>
        </p:nvSpPr>
        <p:spPr>
          <a:xfrm>
            <a:off x="7406640" y="4251960"/>
            <a:ext cx="4370832" cy="329184"/>
          </a:xfrm>
          <a:prstGeom prst="rect">
            <a:avLst/>
          </a:prstGeom>
          <a:solidFill>
            <a:srgbClr val="0A1A2F"/>
          </a:solidFill>
          <a:ln/>
        </p:spPr>
        <p:txBody>
          <a:bodyPr/>
          <a:lstStyle/>
          <a:p>
            <a:endParaRPr lang="en-SE"/>
          </a:p>
        </p:txBody>
      </p:sp>
      <p:sp>
        <p:nvSpPr>
          <p:cNvPr id="56" name="Shape 54"/>
          <p:cNvSpPr/>
          <p:nvPr/>
        </p:nvSpPr>
        <p:spPr>
          <a:xfrm>
            <a:off x="7406640" y="4251960"/>
            <a:ext cx="73152" cy="329184"/>
          </a:xfrm>
          <a:prstGeom prst="rect">
            <a:avLst/>
          </a:prstGeom>
          <a:solidFill>
            <a:srgbClr val="2DD4BF"/>
          </a:solidFill>
          <a:ln/>
        </p:spPr>
        <p:txBody>
          <a:bodyPr/>
          <a:lstStyle/>
          <a:p>
            <a:endParaRPr lang="en-SE"/>
          </a:p>
        </p:txBody>
      </p:sp>
      <p:sp>
        <p:nvSpPr>
          <p:cNvPr id="57" name="Text 55"/>
          <p:cNvSpPr/>
          <p:nvPr/>
        </p:nvSpPr>
        <p:spPr>
          <a:xfrm>
            <a:off x="7589520" y="4251960"/>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LEADERSHIP  EVOLUTION</a:t>
            </a:r>
            <a:endParaRPr lang="en-US" sz="1050" dirty="0"/>
          </a:p>
        </p:txBody>
      </p:sp>
      <p:sp>
        <p:nvSpPr>
          <p:cNvPr id="58" name="Text 56"/>
          <p:cNvSpPr/>
          <p:nvPr/>
        </p:nvSpPr>
        <p:spPr>
          <a:xfrm>
            <a:off x="7479792" y="4577296"/>
            <a:ext cx="4187952" cy="844134"/>
          </a:xfrm>
          <a:prstGeom prst="rect">
            <a:avLst/>
          </a:prstGeom>
          <a:noFill/>
          <a:ln/>
        </p:spPr>
        <p:txBody>
          <a:bodyPr wrap="square" rtlCol="0" anchor="t"/>
          <a:lstStyle/>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Direct reports: 3 chapter leads + cross-hub leads</a:t>
            </a:r>
            <a:endParaRPr lang="en-US" sz="1100" dirty="0"/>
          </a:p>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Total scope: 30 internal + 150 external across 8 countries</a:t>
            </a:r>
            <a:endParaRPr lang="en-US" sz="1100" dirty="0"/>
          </a:p>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Operates as peer to Group CIO leadership team and brand CDOs</a:t>
            </a:r>
            <a:endParaRPr lang="en-US" sz="1100" dirty="0"/>
          </a:p>
        </p:txBody>
      </p:sp>
      <p:sp>
        <p:nvSpPr>
          <p:cNvPr id="59" name="Shape 57"/>
          <p:cNvSpPr/>
          <p:nvPr/>
        </p:nvSpPr>
        <p:spPr>
          <a:xfrm>
            <a:off x="7406640" y="5406995"/>
            <a:ext cx="4370832" cy="1014983"/>
          </a:xfrm>
          <a:prstGeom prst="rect">
            <a:avLst/>
          </a:prstGeom>
          <a:solidFill>
            <a:srgbClr val="FFFFFF"/>
          </a:solidFill>
          <a:ln w="9525">
            <a:solidFill>
              <a:srgbClr val="E5E7EB"/>
            </a:solidFill>
            <a:prstDash val="solid"/>
          </a:ln>
        </p:spPr>
        <p:txBody>
          <a:bodyPr/>
          <a:lstStyle/>
          <a:p>
            <a:endParaRPr lang="en-SE"/>
          </a:p>
        </p:txBody>
      </p:sp>
      <p:sp>
        <p:nvSpPr>
          <p:cNvPr id="60" name="Shape 58"/>
          <p:cNvSpPr/>
          <p:nvPr/>
        </p:nvSpPr>
        <p:spPr>
          <a:xfrm>
            <a:off x="7406640" y="5406995"/>
            <a:ext cx="4370832" cy="329184"/>
          </a:xfrm>
          <a:prstGeom prst="rect">
            <a:avLst/>
          </a:prstGeom>
          <a:solidFill>
            <a:srgbClr val="0A1A2F"/>
          </a:solidFill>
          <a:ln/>
        </p:spPr>
        <p:txBody>
          <a:bodyPr/>
          <a:lstStyle/>
          <a:p>
            <a:endParaRPr lang="en-SE"/>
          </a:p>
        </p:txBody>
      </p:sp>
      <p:sp>
        <p:nvSpPr>
          <p:cNvPr id="61" name="Shape 59"/>
          <p:cNvSpPr/>
          <p:nvPr/>
        </p:nvSpPr>
        <p:spPr>
          <a:xfrm>
            <a:off x="7406640" y="5406995"/>
            <a:ext cx="73152" cy="329184"/>
          </a:xfrm>
          <a:prstGeom prst="rect">
            <a:avLst/>
          </a:prstGeom>
          <a:solidFill>
            <a:srgbClr val="2DD4BF"/>
          </a:solidFill>
          <a:ln/>
        </p:spPr>
        <p:txBody>
          <a:bodyPr/>
          <a:lstStyle/>
          <a:p>
            <a:endParaRPr lang="en-SE"/>
          </a:p>
        </p:txBody>
      </p:sp>
      <p:sp>
        <p:nvSpPr>
          <p:cNvPr id="62" name="Text 60"/>
          <p:cNvSpPr/>
          <p:nvPr/>
        </p:nvSpPr>
        <p:spPr>
          <a:xfrm>
            <a:off x="7589520" y="5406995"/>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KEY  STAKEHOLDERS</a:t>
            </a:r>
            <a:endParaRPr lang="en-US" sz="1050" dirty="0"/>
          </a:p>
        </p:txBody>
      </p:sp>
      <p:sp>
        <p:nvSpPr>
          <p:cNvPr id="63" name="Text 61"/>
          <p:cNvSpPr/>
          <p:nvPr/>
        </p:nvSpPr>
        <p:spPr>
          <a:xfrm>
            <a:off x="7479793" y="5732331"/>
            <a:ext cx="4297679" cy="624678"/>
          </a:xfrm>
          <a:prstGeom prst="rect">
            <a:avLst/>
          </a:prstGeom>
          <a:noFill/>
          <a:ln/>
        </p:spPr>
        <p:txBody>
          <a:bodyPr wrap="square" rtlCol="0" anchor="ctr"/>
          <a:lstStyle/>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Group CIO and IT exec committee</a:t>
            </a:r>
            <a:endParaRPr lang="en-US" sz="1100" dirty="0"/>
          </a:p>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Brand CFOs · Supply, Marketing &amp; Operations leadership</a:t>
            </a:r>
            <a:endParaRPr lang="en-US" sz="1100" dirty="0"/>
          </a:p>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Strategic partners SDG and EPAM</a:t>
            </a:r>
            <a:endParaRPr lang="en-US" sz="1100" dirty="0"/>
          </a:p>
        </p:txBody>
      </p:sp>
      <p:sp>
        <p:nvSpPr>
          <p:cNvPr id="64" name="Shape 62"/>
          <p:cNvSpPr/>
          <p:nvPr/>
        </p:nvSpPr>
        <p:spPr>
          <a:xfrm>
            <a:off x="457200" y="6547104"/>
            <a:ext cx="11274552" cy="0"/>
          </a:xfrm>
          <a:prstGeom prst="line">
            <a:avLst/>
          </a:prstGeom>
          <a:noFill/>
          <a:ln w="9525">
            <a:solidFill>
              <a:srgbClr val="E5E7EB"/>
            </a:solidFill>
            <a:prstDash val="solid"/>
          </a:ln>
        </p:spPr>
        <p:txBody>
          <a:bodyPr/>
          <a:lstStyle/>
          <a:p>
            <a:endParaRPr lang="en-SE"/>
          </a:p>
        </p:txBody>
      </p:sp>
      <p:sp>
        <p:nvSpPr>
          <p:cNvPr id="65" name="Text 63"/>
          <p:cNvSpPr/>
          <p:nvPr/>
        </p:nvSpPr>
        <p:spPr>
          <a:xfrm>
            <a:off x="457200" y="6592824"/>
            <a:ext cx="7315200" cy="201168"/>
          </a:xfrm>
          <a:prstGeom prst="rect">
            <a:avLst/>
          </a:prstGeom>
          <a:noFill/>
          <a:ln/>
        </p:spPr>
        <p:txBody>
          <a:bodyPr wrap="square" lIns="0" tIns="0" rIns="0" bIns="0" rtlCol="0" anchor="ctr"/>
          <a:lstStyle/>
          <a:p>
            <a:pPr marL="0" indent="0">
              <a:buNone/>
            </a:pPr>
            <a:r>
              <a:rPr lang="en-US" sz="850" b="1" kern="0" spc="400" dirty="0">
                <a:solidFill>
                  <a:srgbClr val="6B7280"/>
                </a:solidFill>
                <a:latin typeface="Calibri" pitchFamily="34" charset="0"/>
                <a:ea typeface="Calibri" pitchFamily="34" charset="-122"/>
                <a:cs typeface="Calibri" pitchFamily="34" charset="-120"/>
              </a:rPr>
              <a:t>GAUTHIER VAN WENT  ·  EXECUTIVE PROFILE</a:t>
            </a:r>
            <a:endParaRPr lang="en-US" sz="850" dirty="0"/>
          </a:p>
        </p:txBody>
      </p:sp>
      <p:sp>
        <p:nvSpPr>
          <p:cNvPr id="66" name="Text 64"/>
          <p:cNvSpPr/>
          <p:nvPr/>
        </p:nvSpPr>
        <p:spPr>
          <a:xfrm>
            <a:off x="8229600" y="6592824"/>
            <a:ext cx="3502152" cy="201168"/>
          </a:xfrm>
          <a:prstGeom prst="rect">
            <a:avLst/>
          </a:prstGeom>
          <a:noFill/>
          <a:ln/>
        </p:spPr>
        <p:txBody>
          <a:bodyPr wrap="square" lIns="0" tIns="0" rIns="0" bIns="0" rtlCol="0" anchor="ctr"/>
          <a:lstStyle/>
          <a:p>
            <a:pPr marL="0" indent="0" algn="r">
              <a:buNone/>
            </a:pPr>
            <a:r>
              <a:rPr lang="en-US" sz="850" b="1" kern="0" spc="400" dirty="0">
                <a:solidFill>
                  <a:srgbClr val="14B8A6"/>
                </a:solidFill>
                <a:latin typeface="Calibri" pitchFamily="34" charset="0"/>
                <a:ea typeface="Calibri" pitchFamily="34" charset="-122"/>
                <a:cs typeface="Calibri" pitchFamily="34" charset="-120"/>
              </a:rPr>
              <a:t>03  /  10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0"/>
          </a:xfrm>
          <a:prstGeom prst="rect">
            <a:avLst/>
          </a:prstGeom>
          <a:solidFill>
            <a:srgbClr val="0A1A2F"/>
          </a:solidFill>
          <a:ln/>
        </p:spPr>
        <p:txBody>
          <a:bodyPr/>
          <a:lstStyle/>
          <a:p>
            <a:endParaRPr lang="en-SE"/>
          </a:p>
        </p:txBody>
      </p:sp>
      <p:sp>
        <p:nvSpPr>
          <p:cNvPr id="3" name="Shape 1"/>
          <p:cNvSpPr/>
          <p:nvPr/>
        </p:nvSpPr>
        <p:spPr>
          <a:xfrm>
            <a:off x="0" y="1463040"/>
            <a:ext cx="12188952" cy="54864"/>
          </a:xfrm>
          <a:prstGeom prst="rect">
            <a:avLst/>
          </a:prstGeom>
          <a:solidFill>
            <a:srgbClr val="2DD4BF"/>
          </a:solidFill>
          <a:ln/>
        </p:spPr>
        <p:txBody>
          <a:bodyPr/>
          <a:lstStyle/>
          <a:p>
            <a:endParaRPr lang="en-SE"/>
          </a:p>
        </p:txBody>
      </p:sp>
      <p:sp>
        <p:nvSpPr>
          <p:cNvPr id="4" name="Shape 2"/>
          <p:cNvSpPr/>
          <p:nvPr/>
        </p:nvSpPr>
        <p:spPr>
          <a:xfrm>
            <a:off x="0" y="0"/>
            <a:ext cx="91440" cy="1463040"/>
          </a:xfrm>
          <a:prstGeom prst="rect">
            <a:avLst/>
          </a:prstGeom>
          <a:solidFill>
            <a:srgbClr val="F59E0B"/>
          </a:solidFill>
          <a:ln/>
        </p:spPr>
        <p:txBody>
          <a:bodyPr/>
          <a:lstStyle/>
          <a:p>
            <a:endParaRPr lang="en-SE"/>
          </a:p>
        </p:txBody>
      </p:sp>
      <p:sp>
        <p:nvSpPr>
          <p:cNvPr id="5" name="Shape 3"/>
          <p:cNvSpPr/>
          <p:nvPr/>
        </p:nvSpPr>
        <p:spPr>
          <a:xfrm>
            <a:off x="457200" y="365760"/>
            <a:ext cx="2011680" cy="384048"/>
          </a:xfrm>
          <a:prstGeom prst="roundRect">
            <a:avLst>
              <a:gd name="adj" fmla="val 19048"/>
            </a:avLst>
          </a:prstGeom>
          <a:solidFill>
            <a:srgbClr val="2DD4BF"/>
          </a:solidFill>
          <a:ln/>
        </p:spPr>
        <p:txBody>
          <a:bodyPr/>
          <a:lstStyle/>
          <a:p>
            <a:endParaRPr lang="en-SE"/>
          </a:p>
        </p:txBody>
      </p:sp>
      <p:sp>
        <p:nvSpPr>
          <p:cNvPr id="6" name="Text 4"/>
          <p:cNvSpPr/>
          <p:nvPr/>
        </p:nvSpPr>
        <p:spPr>
          <a:xfrm>
            <a:off x="457200" y="365760"/>
            <a:ext cx="2011680" cy="384048"/>
          </a:xfrm>
          <a:prstGeom prst="rect">
            <a:avLst/>
          </a:prstGeom>
          <a:noFill/>
          <a:ln/>
        </p:spPr>
        <p:txBody>
          <a:bodyPr wrap="square" lIns="0" tIns="0" rIns="0" bIns="0" rtlCol="0" anchor="ctr"/>
          <a:lstStyle/>
          <a:p>
            <a:pPr marL="0" indent="0" algn="ctr">
              <a:buNone/>
            </a:pPr>
            <a:r>
              <a:rPr lang="en-US" sz="1100" b="1" kern="0" spc="300" dirty="0">
                <a:solidFill>
                  <a:srgbClr val="0A1A2F"/>
                </a:solidFill>
                <a:latin typeface="Calibri" pitchFamily="34" charset="0"/>
                <a:ea typeface="Calibri" pitchFamily="34" charset="-122"/>
                <a:cs typeface="Calibri" pitchFamily="34" charset="-120"/>
              </a:rPr>
              <a:t>2023 – 2024</a:t>
            </a:r>
            <a:endParaRPr lang="en-US" sz="1100" dirty="0"/>
          </a:p>
        </p:txBody>
      </p:sp>
      <p:sp>
        <p:nvSpPr>
          <p:cNvPr id="7" name="Text 5"/>
          <p:cNvSpPr/>
          <p:nvPr/>
        </p:nvSpPr>
        <p:spPr>
          <a:xfrm>
            <a:off x="9601200" y="411480"/>
            <a:ext cx="2194560" cy="292608"/>
          </a:xfrm>
          <a:prstGeom prst="rect">
            <a:avLst/>
          </a:prstGeom>
          <a:noFill/>
          <a:ln/>
        </p:spPr>
        <p:txBody>
          <a:bodyPr wrap="square" lIns="0" tIns="0" rIns="0" bIns="0" rtlCol="0" anchor="ctr"/>
          <a:lstStyle/>
          <a:p>
            <a:pPr marL="0" indent="0" algn="r">
              <a:buNone/>
            </a:pPr>
            <a:r>
              <a:rPr lang="en-US" sz="1000" b="1" kern="0" spc="400" dirty="0">
                <a:solidFill>
                  <a:srgbClr val="F59E0B"/>
                </a:solidFill>
                <a:latin typeface="Calibri" pitchFamily="34" charset="0"/>
                <a:ea typeface="Calibri" pitchFamily="34" charset="-122"/>
                <a:cs typeface="Calibri" pitchFamily="34" charset="-120"/>
              </a:rPr>
              <a:t>ROLE 2  /  7</a:t>
            </a:r>
            <a:endParaRPr lang="en-US" sz="1000" dirty="0"/>
          </a:p>
        </p:txBody>
      </p:sp>
      <p:sp>
        <p:nvSpPr>
          <p:cNvPr id="8" name="Text 6"/>
          <p:cNvSpPr/>
          <p:nvPr/>
        </p:nvSpPr>
        <p:spPr>
          <a:xfrm>
            <a:off x="457200" y="841248"/>
            <a:ext cx="11274552"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Global Tech Data Transformation Officer</a:t>
            </a:r>
            <a:endParaRPr lang="en-US" sz="2600" dirty="0"/>
          </a:p>
        </p:txBody>
      </p:sp>
      <p:sp>
        <p:nvSpPr>
          <p:cNvPr id="9" name="Text 7"/>
          <p:cNvSpPr/>
          <p:nvPr/>
        </p:nvSpPr>
        <p:spPr>
          <a:xfrm>
            <a:off x="457200" y="1207008"/>
            <a:ext cx="11274552" cy="274320"/>
          </a:xfrm>
          <a:prstGeom prst="rect">
            <a:avLst/>
          </a:prstGeom>
          <a:noFill/>
          <a:ln/>
        </p:spPr>
        <p:txBody>
          <a:bodyPr wrap="square" lIns="0" tIns="0" rIns="0" bIns="0" rtlCol="0" anchor="ctr"/>
          <a:lstStyle/>
          <a:p>
            <a:pPr marL="0" indent="0">
              <a:buNone/>
            </a:pPr>
            <a:r>
              <a:rPr lang="en-US" sz="1150" dirty="0">
                <a:solidFill>
                  <a:srgbClr val="B6CFE6"/>
                </a:solidFill>
                <a:latin typeface="Calibri" pitchFamily="34" charset="0"/>
                <a:ea typeface="Calibri" pitchFamily="34" charset="-122"/>
                <a:cs typeface="Calibri" pitchFamily="34" charset="-120"/>
              </a:rPr>
              <a:t>PERNOD RICARD  ·  Group IT Transformation Office</a:t>
            </a:r>
            <a:endParaRPr lang="en-US" sz="1150" dirty="0"/>
          </a:p>
        </p:txBody>
      </p:sp>
      <p:sp>
        <p:nvSpPr>
          <p:cNvPr id="10" name="Text 8"/>
          <p:cNvSpPr/>
          <p:nvPr/>
        </p:nvSpPr>
        <p:spPr>
          <a:xfrm>
            <a:off x="457200" y="1691640"/>
            <a:ext cx="6766560" cy="274320"/>
          </a:xfrm>
          <a:prstGeom prst="rect">
            <a:avLst/>
          </a:prstGeom>
          <a:noFill/>
          <a:ln/>
        </p:spPr>
        <p:txBody>
          <a:bodyPr wrap="square" lIns="0" tIns="0" rIns="0" bIns="0" rtlCol="0" anchor="ctr"/>
          <a:lstStyle/>
          <a:p>
            <a:pPr marL="0" indent="0">
              <a:buNone/>
            </a:pPr>
            <a:r>
              <a:rPr lang="en-US" sz="1400" b="1" kern="0" spc="500" dirty="0">
                <a:solidFill>
                  <a:srgbClr val="14B8A6"/>
                </a:solidFill>
                <a:latin typeface="Calibri" pitchFamily="34" charset="0"/>
                <a:ea typeface="Calibri" pitchFamily="34" charset="-122"/>
                <a:cs typeface="Calibri" pitchFamily="34" charset="-120"/>
              </a:rPr>
              <a:t>ROLE  OVERVIEW</a:t>
            </a:r>
            <a:endParaRPr lang="en-US" sz="1400" dirty="0"/>
          </a:p>
        </p:txBody>
      </p:sp>
      <p:sp>
        <p:nvSpPr>
          <p:cNvPr id="11" name="Text 9"/>
          <p:cNvSpPr/>
          <p:nvPr/>
        </p:nvSpPr>
        <p:spPr>
          <a:xfrm>
            <a:off x="457200" y="1965960"/>
            <a:ext cx="6766560" cy="1371600"/>
          </a:xfrm>
          <a:prstGeom prst="rect">
            <a:avLst/>
          </a:prstGeom>
          <a:noFill/>
          <a:ln/>
        </p:spPr>
        <p:txBody>
          <a:bodyPr wrap="square" lIns="0" tIns="0" rIns="0" bIns="0" rtlCol="0" anchor="t"/>
          <a:lstStyle/>
          <a:p>
            <a:pPr marL="0" indent="0">
              <a:spcAft>
                <a:spcPts val="400"/>
              </a:spcAft>
              <a:buNone/>
            </a:pPr>
            <a:r>
              <a:rPr lang="en-US" sz="1400" dirty="0">
                <a:solidFill>
                  <a:srgbClr val="111827"/>
                </a:solidFill>
                <a:latin typeface="Calibri" pitchFamily="34" charset="0"/>
                <a:ea typeface="Calibri" pitchFamily="34" charset="-122"/>
                <a:cs typeface="Calibri" pitchFamily="34" charset="-120"/>
              </a:rPr>
              <a:t>Selected to lead the redesign of the </a:t>
            </a:r>
            <a:r>
              <a:rPr lang="en-US" sz="1400" b="1" dirty="0">
                <a:solidFill>
                  <a:srgbClr val="111827"/>
                </a:solidFill>
                <a:latin typeface="Calibri" pitchFamily="34" charset="0"/>
                <a:ea typeface="Calibri" pitchFamily="34" charset="-122"/>
                <a:cs typeface="Calibri" pitchFamily="34" charset="-120"/>
              </a:rPr>
              <a:t>120-person Group Data &amp; Analytics organisation </a:t>
            </a:r>
            <a:r>
              <a:rPr lang="en-US" sz="1400" dirty="0">
                <a:solidFill>
                  <a:srgbClr val="111827"/>
                </a:solidFill>
                <a:latin typeface="Calibri" pitchFamily="34" charset="0"/>
                <a:ea typeface="Calibri" pitchFamily="34" charset="-122"/>
                <a:cs typeface="Calibri" pitchFamily="34" charset="-120"/>
              </a:rPr>
              <a:t>as one of the largest workstreams of a </a:t>
            </a:r>
            <a:r>
              <a:rPr lang="en-US" sz="1400" b="1" dirty="0">
                <a:solidFill>
                  <a:srgbClr val="111827"/>
                </a:solidFill>
                <a:latin typeface="Calibri" pitchFamily="34" charset="0"/>
                <a:ea typeface="Calibri" pitchFamily="34" charset="-122"/>
                <a:cs typeface="Calibri" pitchFamily="34" charset="-120"/>
              </a:rPr>
              <a:t>600+ person Global IT transformation</a:t>
            </a:r>
            <a:r>
              <a:rPr lang="en-US" sz="1400" dirty="0">
                <a:solidFill>
                  <a:srgbClr val="111827"/>
                </a:solidFill>
                <a:latin typeface="Calibri" pitchFamily="34" charset="0"/>
                <a:ea typeface="Calibri" pitchFamily="34" charset="-122"/>
                <a:cs typeface="Calibri" pitchFamily="34" charset="-120"/>
              </a:rPr>
              <a:t>. Adjusted the target operating model end-to-end: chapters, roles, sourcing model, ways of working — and </a:t>
            </a:r>
            <a:r>
              <a:rPr lang="en-US" sz="1400" b="1" dirty="0">
                <a:solidFill>
                  <a:srgbClr val="111827"/>
                </a:solidFill>
                <a:latin typeface="Calibri" pitchFamily="34" charset="0"/>
                <a:ea typeface="Calibri" pitchFamily="34" charset="-122"/>
                <a:cs typeface="Calibri" pitchFamily="34" charset="-120"/>
              </a:rPr>
              <a:t>ran the organisational transition </a:t>
            </a:r>
            <a:r>
              <a:rPr lang="en-US" sz="1400" dirty="0">
                <a:solidFill>
                  <a:srgbClr val="111827"/>
                </a:solidFill>
                <a:latin typeface="Calibri" pitchFamily="34" charset="0"/>
                <a:ea typeface="Calibri" pitchFamily="34" charset="-122"/>
                <a:cs typeface="Calibri" pitchFamily="34" charset="-120"/>
              </a:rPr>
              <a:t>through to landed adoption. Outcome: appointed to run the resulting organisation.</a:t>
            </a:r>
            <a:endParaRPr lang="en-US" sz="1400" dirty="0"/>
          </a:p>
        </p:txBody>
      </p:sp>
      <p:sp>
        <p:nvSpPr>
          <p:cNvPr id="12" name="Shape 10"/>
          <p:cNvSpPr/>
          <p:nvPr/>
        </p:nvSpPr>
        <p:spPr>
          <a:xfrm>
            <a:off x="428325" y="3251564"/>
            <a:ext cx="146304" cy="146304"/>
          </a:xfrm>
          <a:prstGeom prst="ellipse">
            <a:avLst/>
          </a:prstGeom>
          <a:solidFill>
            <a:srgbClr val="F59E0B"/>
          </a:solidFill>
          <a:ln/>
        </p:spPr>
        <p:txBody>
          <a:bodyPr/>
          <a:lstStyle/>
          <a:p>
            <a:endParaRPr lang="en-SE"/>
          </a:p>
        </p:txBody>
      </p:sp>
      <p:sp>
        <p:nvSpPr>
          <p:cNvPr id="13" name="Text 11"/>
          <p:cNvSpPr/>
          <p:nvPr/>
        </p:nvSpPr>
        <p:spPr>
          <a:xfrm>
            <a:off x="629493" y="3187556"/>
            <a:ext cx="6565392" cy="274320"/>
          </a:xfrm>
          <a:prstGeom prst="rect">
            <a:avLst/>
          </a:prstGeom>
          <a:noFill/>
          <a:ln/>
        </p:spPr>
        <p:txBody>
          <a:bodyPr wrap="square" lIns="0" tIns="0" rIns="0" bIns="0" rtlCol="0" anchor="ctr"/>
          <a:lstStyle/>
          <a:p>
            <a:pPr marL="0" indent="0">
              <a:buNone/>
            </a:pPr>
            <a:r>
              <a:rPr lang="en-US" sz="1400" b="1" kern="0" spc="500" dirty="0">
                <a:solidFill>
                  <a:srgbClr val="D97706"/>
                </a:solidFill>
                <a:latin typeface="Calibri" pitchFamily="34" charset="0"/>
                <a:ea typeface="Calibri" pitchFamily="34" charset="-122"/>
                <a:cs typeface="Calibri" pitchFamily="34" charset="-120"/>
              </a:rPr>
              <a:t>KEY  ACCOMPLISHMENTS  ·  WITH  IMPACT</a:t>
            </a:r>
            <a:endParaRPr lang="en-US" sz="1400" dirty="0"/>
          </a:p>
        </p:txBody>
      </p:sp>
      <p:sp>
        <p:nvSpPr>
          <p:cNvPr id="14" name="Shape 12"/>
          <p:cNvSpPr/>
          <p:nvPr/>
        </p:nvSpPr>
        <p:spPr>
          <a:xfrm>
            <a:off x="428325" y="3498452"/>
            <a:ext cx="3300984" cy="914400"/>
          </a:xfrm>
          <a:prstGeom prst="rect">
            <a:avLst/>
          </a:prstGeom>
          <a:solidFill>
            <a:srgbClr val="FFFFFF"/>
          </a:solidFill>
          <a:ln w="9525">
            <a:solidFill>
              <a:srgbClr val="E5E7EB"/>
            </a:solidFill>
            <a:prstDash val="solid"/>
          </a:ln>
        </p:spPr>
        <p:txBody>
          <a:bodyPr/>
          <a:lstStyle/>
          <a:p>
            <a:endParaRPr lang="en-SE"/>
          </a:p>
        </p:txBody>
      </p:sp>
      <p:sp>
        <p:nvSpPr>
          <p:cNvPr id="15" name="Shape 13"/>
          <p:cNvSpPr/>
          <p:nvPr/>
        </p:nvSpPr>
        <p:spPr>
          <a:xfrm>
            <a:off x="428325" y="3498452"/>
            <a:ext cx="91440" cy="914400"/>
          </a:xfrm>
          <a:prstGeom prst="rect">
            <a:avLst/>
          </a:prstGeom>
          <a:solidFill>
            <a:srgbClr val="F59E0B"/>
          </a:solidFill>
          <a:ln/>
        </p:spPr>
        <p:txBody>
          <a:bodyPr/>
          <a:lstStyle/>
          <a:p>
            <a:endParaRPr lang="en-SE"/>
          </a:p>
        </p:txBody>
      </p:sp>
      <p:sp>
        <p:nvSpPr>
          <p:cNvPr id="16" name="Shape 14"/>
          <p:cNvSpPr/>
          <p:nvPr/>
        </p:nvSpPr>
        <p:spPr>
          <a:xfrm>
            <a:off x="629493" y="3663044"/>
            <a:ext cx="146304" cy="146304"/>
          </a:xfrm>
          <a:prstGeom prst="ellipse">
            <a:avLst/>
          </a:prstGeom>
          <a:solidFill>
            <a:srgbClr val="F59E0B"/>
          </a:solidFill>
          <a:ln/>
        </p:spPr>
        <p:txBody>
          <a:bodyPr/>
          <a:lstStyle/>
          <a:p>
            <a:endParaRPr lang="en-SE"/>
          </a:p>
        </p:txBody>
      </p:sp>
      <p:sp>
        <p:nvSpPr>
          <p:cNvPr id="17" name="Text 15"/>
          <p:cNvSpPr/>
          <p:nvPr/>
        </p:nvSpPr>
        <p:spPr>
          <a:xfrm>
            <a:off x="839805" y="3571604"/>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120 people redesigned</a:t>
            </a:r>
            <a:endParaRPr lang="en-US" sz="1450" dirty="0"/>
          </a:p>
        </p:txBody>
      </p:sp>
      <p:sp>
        <p:nvSpPr>
          <p:cNvPr id="18" name="Text 16"/>
          <p:cNvSpPr/>
          <p:nvPr/>
        </p:nvSpPr>
        <p:spPr>
          <a:xfrm>
            <a:off x="629493" y="3955652"/>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Full </a:t>
            </a:r>
            <a:r>
              <a:rPr lang="en-US" sz="1020" b="1" dirty="0">
                <a:solidFill>
                  <a:srgbClr val="0A1A2F"/>
                </a:solidFill>
                <a:latin typeface="Calibri" pitchFamily="34" charset="0"/>
                <a:ea typeface="Calibri" pitchFamily="34" charset="-122"/>
                <a:cs typeface="Calibri" pitchFamily="34" charset="-120"/>
              </a:rPr>
              <a:t>Data &amp; Analytics organisation</a:t>
            </a:r>
            <a:r>
              <a:rPr lang="en-US" sz="1020" dirty="0">
                <a:solidFill>
                  <a:srgbClr val="111827"/>
                </a:solidFill>
                <a:latin typeface="Calibri" pitchFamily="34" charset="0"/>
                <a:ea typeface="Calibri" pitchFamily="34" charset="-122"/>
                <a:cs typeface="Calibri" pitchFamily="34" charset="-120"/>
              </a:rPr>
              <a:t> re-architected role-by-role.</a:t>
            </a:r>
            <a:endParaRPr lang="en-US" sz="1020" dirty="0"/>
          </a:p>
        </p:txBody>
      </p:sp>
      <p:sp>
        <p:nvSpPr>
          <p:cNvPr id="19" name="Shape 17"/>
          <p:cNvSpPr/>
          <p:nvPr/>
        </p:nvSpPr>
        <p:spPr>
          <a:xfrm>
            <a:off x="3893901" y="3498452"/>
            <a:ext cx="3300984" cy="914400"/>
          </a:xfrm>
          <a:prstGeom prst="rect">
            <a:avLst/>
          </a:prstGeom>
          <a:solidFill>
            <a:srgbClr val="FFFFFF"/>
          </a:solidFill>
          <a:ln w="9525">
            <a:solidFill>
              <a:srgbClr val="E5E7EB"/>
            </a:solidFill>
            <a:prstDash val="solid"/>
          </a:ln>
        </p:spPr>
        <p:txBody>
          <a:bodyPr/>
          <a:lstStyle/>
          <a:p>
            <a:endParaRPr lang="en-SE"/>
          </a:p>
        </p:txBody>
      </p:sp>
      <p:sp>
        <p:nvSpPr>
          <p:cNvPr id="20" name="Shape 18"/>
          <p:cNvSpPr/>
          <p:nvPr/>
        </p:nvSpPr>
        <p:spPr>
          <a:xfrm>
            <a:off x="3893901" y="3498452"/>
            <a:ext cx="91440" cy="914400"/>
          </a:xfrm>
          <a:prstGeom prst="rect">
            <a:avLst/>
          </a:prstGeom>
          <a:solidFill>
            <a:srgbClr val="F59E0B"/>
          </a:solidFill>
          <a:ln/>
        </p:spPr>
        <p:txBody>
          <a:bodyPr/>
          <a:lstStyle/>
          <a:p>
            <a:endParaRPr lang="en-SE"/>
          </a:p>
        </p:txBody>
      </p:sp>
      <p:sp>
        <p:nvSpPr>
          <p:cNvPr id="21" name="Shape 19"/>
          <p:cNvSpPr/>
          <p:nvPr/>
        </p:nvSpPr>
        <p:spPr>
          <a:xfrm>
            <a:off x="4095069" y="3663044"/>
            <a:ext cx="146304" cy="146304"/>
          </a:xfrm>
          <a:prstGeom prst="ellipse">
            <a:avLst/>
          </a:prstGeom>
          <a:solidFill>
            <a:srgbClr val="F59E0B"/>
          </a:solidFill>
          <a:ln/>
        </p:spPr>
        <p:txBody>
          <a:bodyPr/>
          <a:lstStyle/>
          <a:p>
            <a:endParaRPr lang="en-SE"/>
          </a:p>
        </p:txBody>
      </p:sp>
      <p:sp>
        <p:nvSpPr>
          <p:cNvPr id="22" name="Text 20"/>
          <p:cNvSpPr/>
          <p:nvPr/>
        </p:nvSpPr>
        <p:spPr>
          <a:xfrm>
            <a:off x="4305381" y="3571604"/>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600+ org context</a:t>
            </a:r>
            <a:endParaRPr lang="en-US" sz="1450" dirty="0"/>
          </a:p>
        </p:txBody>
      </p:sp>
      <p:sp>
        <p:nvSpPr>
          <p:cNvPr id="23" name="Text 21"/>
          <p:cNvSpPr/>
          <p:nvPr/>
        </p:nvSpPr>
        <p:spPr>
          <a:xfrm>
            <a:off x="4095069" y="3955652"/>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Workstream of one of the </a:t>
            </a:r>
            <a:r>
              <a:rPr lang="en-US" sz="1020" b="1" dirty="0">
                <a:solidFill>
                  <a:srgbClr val="0A1A2F"/>
                </a:solidFill>
                <a:latin typeface="Calibri" pitchFamily="34" charset="0"/>
                <a:ea typeface="Calibri" pitchFamily="34" charset="-122"/>
                <a:cs typeface="Calibri" pitchFamily="34" charset="-120"/>
              </a:rPr>
              <a:t>Group’s largest IT transformations</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24" name="Shape 22"/>
          <p:cNvSpPr/>
          <p:nvPr/>
        </p:nvSpPr>
        <p:spPr>
          <a:xfrm>
            <a:off x="428325" y="4522580"/>
            <a:ext cx="3300984" cy="914400"/>
          </a:xfrm>
          <a:prstGeom prst="rect">
            <a:avLst/>
          </a:prstGeom>
          <a:solidFill>
            <a:srgbClr val="FFFFFF"/>
          </a:solidFill>
          <a:ln w="9525">
            <a:solidFill>
              <a:srgbClr val="E5E7EB"/>
            </a:solidFill>
            <a:prstDash val="solid"/>
          </a:ln>
        </p:spPr>
        <p:txBody>
          <a:bodyPr/>
          <a:lstStyle/>
          <a:p>
            <a:endParaRPr lang="en-SE"/>
          </a:p>
        </p:txBody>
      </p:sp>
      <p:sp>
        <p:nvSpPr>
          <p:cNvPr id="25" name="Shape 23"/>
          <p:cNvSpPr/>
          <p:nvPr/>
        </p:nvSpPr>
        <p:spPr>
          <a:xfrm>
            <a:off x="428325" y="4522580"/>
            <a:ext cx="91440" cy="914400"/>
          </a:xfrm>
          <a:prstGeom prst="rect">
            <a:avLst/>
          </a:prstGeom>
          <a:solidFill>
            <a:srgbClr val="F59E0B"/>
          </a:solidFill>
          <a:ln/>
        </p:spPr>
        <p:txBody>
          <a:bodyPr/>
          <a:lstStyle/>
          <a:p>
            <a:endParaRPr lang="en-SE"/>
          </a:p>
        </p:txBody>
      </p:sp>
      <p:sp>
        <p:nvSpPr>
          <p:cNvPr id="26" name="Shape 24"/>
          <p:cNvSpPr/>
          <p:nvPr/>
        </p:nvSpPr>
        <p:spPr>
          <a:xfrm>
            <a:off x="629493" y="4687172"/>
            <a:ext cx="146304" cy="146304"/>
          </a:xfrm>
          <a:prstGeom prst="ellipse">
            <a:avLst/>
          </a:prstGeom>
          <a:solidFill>
            <a:srgbClr val="F59E0B"/>
          </a:solidFill>
          <a:ln/>
        </p:spPr>
        <p:txBody>
          <a:bodyPr/>
          <a:lstStyle/>
          <a:p>
            <a:endParaRPr lang="en-SE"/>
          </a:p>
        </p:txBody>
      </p:sp>
      <p:sp>
        <p:nvSpPr>
          <p:cNvPr id="27" name="Text 25"/>
          <p:cNvSpPr/>
          <p:nvPr/>
        </p:nvSpPr>
        <p:spPr>
          <a:xfrm>
            <a:off x="839805" y="4595732"/>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Target operating model</a:t>
            </a:r>
            <a:endParaRPr lang="en-US" sz="1450" dirty="0"/>
          </a:p>
        </p:txBody>
      </p:sp>
      <p:sp>
        <p:nvSpPr>
          <p:cNvPr id="28" name="Text 26"/>
          <p:cNvSpPr/>
          <p:nvPr/>
        </p:nvSpPr>
        <p:spPr>
          <a:xfrm>
            <a:off x="629493" y="4979780"/>
            <a:ext cx="2980944" cy="411480"/>
          </a:xfrm>
          <a:prstGeom prst="rect">
            <a:avLst/>
          </a:prstGeom>
          <a:noFill/>
          <a:ln/>
        </p:spPr>
        <p:txBody>
          <a:bodyPr wrap="square" lIns="0" tIns="0" rIns="0" bIns="0" rtlCol="0" anchor="t"/>
          <a:lstStyle/>
          <a:p>
            <a:pPr marL="0" indent="0">
              <a:buNone/>
            </a:pPr>
            <a:r>
              <a:rPr lang="en-US" sz="1020" b="1" dirty="0">
                <a:solidFill>
                  <a:srgbClr val="0A1A2F"/>
                </a:solidFill>
                <a:latin typeface="Calibri" pitchFamily="34" charset="0"/>
                <a:ea typeface="Calibri" pitchFamily="34" charset="-122"/>
                <a:cs typeface="Calibri" pitchFamily="34" charset="-120"/>
              </a:rPr>
              <a:t>Chapters, capability model, sourcing strategy, governance</a:t>
            </a:r>
            <a:r>
              <a:rPr lang="en-US" sz="1020" dirty="0">
                <a:solidFill>
                  <a:srgbClr val="111827"/>
                </a:solidFill>
                <a:latin typeface="Calibri" pitchFamily="34" charset="0"/>
                <a:ea typeface="Calibri" pitchFamily="34" charset="-122"/>
                <a:cs typeface="Calibri" pitchFamily="34" charset="-120"/>
              </a:rPr>
              <a:t> — designed and signed off.</a:t>
            </a:r>
            <a:endParaRPr lang="en-US" sz="1020" dirty="0"/>
          </a:p>
        </p:txBody>
      </p:sp>
      <p:sp>
        <p:nvSpPr>
          <p:cNvPr id="29" name="Shape 27"/>
          <p:cNvSpPr/>
          <p:nvPr/>
        </p:nvSpPr>
        <p:spPr>
          <a:xfrm>
            <a:off x="3893901" y="4522580"/>
            <a:ext cx="3300984" cy="914400"/>
          </a:xfrm>
          <a:prstGeom prst="rect">
            <a:avLst/>
          </a:prstGeom>
          <a:solidFill>
            <a:srgbClr val="FFFFFF"/>
          </a:solidFill>
          <a:ln w="9525">
            <a:solidFill>
              <a:srgbClr val="E5E7EB"/>
            </a:solidFill>
            <a:prstDash val="solid"/>
          </a:ln>
        </p:spPr>
        <p:txBody>
          <a:bodyPr/>
          <a:lstStyle/>
          <a:p>
            <a:endParaRPr lang="en-SE"/>
          </a:p>
        </p:txBody>
      </p:sp>
      <p:sp>
        <p:nvSpPr>
          <p:cNvPr id="30" name="Shape 28"/>
          <p:cNvSpPr/>
          <p:nvPr/>
        </p:nvSpPr>
        <p:spPr>
          <a:xfrm>
            <a:off x="3893901" y="4522580"/>
            <a:ext cx="91440" cy="914400"/>
          </a:xfrm>
          <a:prstGeom prst="rect">
            <a:avLst/>
          </a:prstGeom>
          <a:solidFill>
            <a:srgbClr val="F59E0B"/>
          </a:solidFill>
          <a:ln/>
        </p:spPr>
        <p:txBody>
          <a:bodyPr/>
          <a:lstStyle/>
          <a:p>
            <a:endParaRPr lang="en-SE"/>
          </a:p>
        </p:txBody>
      </p:sp>
      <p:sp>
        <p:nvSpPr>
          <p:cNvPr id="31" name="Shape 29"/>
          <p:cNvSpPr/>
          <p:nvPr/>
        </p:nvSpPr>
        <p:spPr>
          <a:xfrm>
            <a:off x="4095069" y="4687172"/>
            <a:ext cx="146304" cy="146304"/>
          </a:xfrm>
          <a:prstGeom prst="ellipse">
            <a:avLst/>
          </a:prstGeom>
          <a:solidFill>
            <a:srgbClr val="F59E0B"/>
          </a:solidFill>
          <a:ln/>
        </p:spPr>
        <p:txBody>
          <a:bodyPr/>
          <a:lstStyle/>
          <a:p>
            <a:endParaRPr lang="en-SE"/>
          </a:p>
        </p:txBody>
      </p:sp>
      <p:sp>
        <p:nvSpPr>
          <p:cNvPr id="32" name="Text 30"/>
          <p:cNvSpPr/>
          <p:nvPr/>
        </p:nvSpPr>
        <p:spPr>
          <a:xfrm>
            <a:off x="4305381" y="4595732"/>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Org transition executed</a:t>
            </a:r>
            <a:endParaRPr lang="en-US" sz="1450" dirty="0"/>
          </a:p>
        </p:txBody>
      </p:sp>
      <p:sp>
        <p:nvSpPr>
          <p:cNvPr id="33" name="Text 31"/>
          <p:cNvSpPr/>
          <p:nvPr/>
        </p:nvSpPr>
        <p:spPr>
          <a:xfrm>
            <a:off x="4095069" y="4979780"/>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Roles, reporting lines, contracts, comms — landed </a:t>
            </a:r>
            <a:r>
              <a:rPr lang="en-US" sz="1020" b="1" dirty="0">
                <a:solidFill>
                  <a:srgbClr val="0A1A2F"/>
                </a:solidFill>
                <a:latin typeface="Calibri" pitchFamily="34" charset="0"/>
                <a:ea typeface="Calibri" pitchFamily="34" charset="-122"/>
                <a:cs typeface="Calibri" pitchFamily="34" charset="-120"/>
              </a:rPr>
              <a:t>without service disruption</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34" name="Shape 32"/>
          <p:cNvSpPr/>
          <p:nvPr/>
        </p:nvSpPr>
        <p:spPr>
          <a:xfrm>
            <a:off x="428325" y="5546708"/>
            <a:ext cx="3300984" cy="914400"/>
          </a:xfrm>
          <a:prstGeom prst="rect">
            <a:avLst/>
          </a:prstGeom>
          <a:solidFill>
            <a:srgbClr val="FFFFFF"/>
          </a:solidFill>
          <a:ln w="9525">
            <a:solidFill>
              <a:srgbClr val="E5E7EB"/>
            </a:solidFill>
            <a:prstDash val="solid"/>
          </a:ln>
        </p:spPr>
        <p:txBody>
          <a:bodyPr/>
          <a:lstStyle/>
          <a:p>
            <a:endParaRPr lang="en-SE"/>
          </a:p>
        </p:txBody>
      </p:sp>
      <p:sp>
        <p:nvSpPr>
          <p:cNvPr id="35" name="Shape 33"/>
          <p:cNvSpPr/>
          <p:nvPr/>
        </p:nvSpPr>
        <p:spPr>
          <a:xfrm>
            <a:off x="428325" y="5546708"/>
            <a:ext cx="91440" cy="914400"/>
          </a:xfrm>
          <a:prstGeom prst="rect">
            <a:avLst/>
          </a:prstGeom>
          <a:solidFill>
            <a:srgbClr val="F59E0B"/>
          </a:solidFill>
          <a:ln/>
        </p:spPr>
        <p:txBody>
          <a:bodyPr/>
          <a:lstStyle/>
          <a:p>
            <a:endParaRPr lang="en-SE"/>
          </a:p>
        </p:txBody>
      </p:sp>
      <p:sp>
        <p:nvSpPr>
          <p:cNvPr id="36" name="Shape 34"/>
          <p:cNvSpPr/>
          <p:nvPr/>
        </p:nvSpPr>
        <p:spPr>
          <a:xfrm>
            <a:off x="629493" y="5711300"/>
            <a:ext cx="146304" cy="146304"/>
          </a:xfrm>
          <a:prstGeom prst="ellipse">
            <a:avLst/>
          </a:prstGeom>
          <a:solidFill>
            <a:srgbClr val="F59E0B"/>
          </a:solidFill>
          <a:ln/>
        </p:spPr>
        <p:txBody>
          <a:bodyPr/>
          <a:lstStyle/>
          <a:p>
            <a:endParaRPr lang="en-SE"/>
          </a:p>
        </p:txBody>
      </p:sp>
      <p:sp>
        <p:nvSpPr>
          <p:cNvPr id="37" name="Text 35"/>
          <p:cNvSpPr/>
          <p:nvPr/>
        </p:nvSpPr>
        <p:spPr>
          <a:xfrm>
            <a:off x="839805" y="5619860"/>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Culture shift</a:t>
            </a:r>
            <a:endParaRPr lang="en-US" sz="1450" dirty="0"/>
          </a:p>
        </p:txBody>
      </p:sp>
      <p:sp>
        <p:nvSpPr>
          <p:cNvPr id="38" name="Text 36"/>
          <p:cNvSpPr/>
          <p:nvPr/>
        </p:nvSpPr>
        <p:spPr>
          <a:xfrm>
            <a:off x="629493" y="6003908"/>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From project factory to </a:t>
            </a:r>
            <a:r>
              <a:rPr lang="en-US" sz="1020" b="1" dirty="0">
                <a:solidFill>
                  <a:srgbClr val="0A1A2F"/>
                </a:solidFill>
                <a:latin typeface="Calibri" pitchFamily="34" charset="0"/>
                <a:ea typeface="Calibri" pitchFamily="34" charset="-122"/>
                <a:cs typeface="Calibri" pitchFamily="34" charset="-120"/>
              </a:rPr>
              <a:t>data-product chapters</a:t>
            </a:r>
            <a:r>
              <a:rPr lang="en-US" sz="1020" dirty="0">
                <a:solidFill>
                  <a:srgbClr val="111827"/>
                </a:solidFill>
                <a:latin typeface="Calibri" pitchFamily="34" charset="0"/>
                <a:ea typeface="Calibri" pitchFamily="34" charset="-122"/>
                <a:cs typeface="Calibri" pitchFamily="34" charset="-120"/>
              </a:rPr>
              <a:t> with embedded community model.</a:t>
            </a:r>
            <a:endParaRPr lang="en-US" sz="1020" dirty="0"/>
          </a:p>
        </p:txBody>
      </p:sp>
      <p:sp>
        <p:nvSpPr>
          <p:cNvPr id="39" name="Shape 37"/>
          <p:cNvSpPr/>
          <p:nvPr/>
        </p:nvSpPr>
        <p:spPr>
          <a:xfrm>
            <a:off x="3893901" y="5546708"/>
            <a:ext cx="3300984" cy="914400"/>
          </a:xfrm>
          <a:prstGeom prst="rect">
            <a:avLst/>
          </a:prstGeom>
          <a:solidFill>
            <a:srgbClr val="FFFFFF"/>
          </a:solidFill>
          <a:ln w="9525">
            <a:solidFill>
              <a:srgbClr val="E5E7EB"/>
            </a:solidFill>
            <a:prstDash val="solid"/>
          </a:ln>
        </p:spPr>
        <p:txBody>
          <a:bodyPr/>
          <a:lstStyle/>
          <a:p>
            <a:endParaRPr lang="en-SE"/>
          </a:p>
        </p:txBody>
      </p:sp>
      <p:sp>
        <p:nvSpPr>
          <p:cNvPr id="40" name="Shape 38"/>
          <p:cNvSpPr/>
          <p:nvPr/>
        </p:nvSpPr>
        <p:spPr>
          <a:xfrm>
            <a:off x="3893901" y="5546708"/>
            <a:ext cx="91440" cy="914400"/>
          </a:xfrm>
          <a:prstGeom prst="rect">
            <a:avLst/>
          </a:prstGeom>
          <a:solidFill>
            <a:srgbClr val="F59E0B"/>
          </a:solidFill>
          <a:ln/>
        </p:spPr>
        <p:txBody>
          <a:bodyPr/>
          <a:lstStyle/>
          <a:p>
            <a:endParaRPr lang="en-SE"/>
          </a:p>
        </p:txBody>
      </p:sp>
      <p:sp>
        <p:nvSpPr>
          <p:cNvPr id="41" name="Shape 39"/>
          <p:cNvSpPr/>
          <p:nvPr/>
        </p:nvSpPr>
        <p:spPr>
          <a:xfrm>
            <a:off x="4095069" y="5711300"/>
            <a:ext cx="146304" cy="146304"/>
          </a:xfrm>
          <a:prstGeom prst="ellipse">
            <a:avLst/>
          </a:prstGeom>
          <a:solidFill>
            <a:srgbClr val="F59E0B"/>
          </a:solidFill>
          <a:ln/>
        </p:spPr>
        <p:txBody>
          <a:bodyPr/>
          <a:lstStyle/>
          <a:p>
            <a:endParaRPr lang="en-SE"/>
          </a:p>
        </p:txBody>
      </p:sp>
      <p:sp>
        <p:nvSpPr>
          <p:cNvPr id="42" name="Text 40"/>
          <p:cNvSpPr/>
          <p:nvPr/>
        </p:nvSpPr>
        <p:spPr>
          <a:xfrm>
            <a:off x="4305381" y="5619860"/>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Promotion outcome</a:t>
            </a:r>
            <a:endParaRPr lang="en-US" sz="1450" dirty="0"/>
          </a:p>
        </p:txBody>
      </p:sp>
      <p:sp>
        <p:nvSpPr>
          <p:cNvPr id="43" name="Text 41"/>
          <p:cNvSpPr/>
          <p:nvPr/>
        </p:nvSpPr>
        <p:spPr>
          <a:xfrm>
            <a:off x="4095069" y="6003908"/>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Appointed </a:t>
            </a:r>
            <a:r>
              <a:rPr lang="en-US" sz="1020" b="1" dirty="0">
                <a:solidFill>
                  <a:srgbClr val="0A1A2F"/>
                </a:solidFill>
                <a:latin typeface="Calibri" pitchFamily="34" charset="0"/>
                <a:ea typeface="Calibri" pitchFamily="34" charset="-122"/>
                <a:cs typeface="Calibri" pitchFamily="34" charset="-120"/>
              </a:rPr>
              <a:t>Global Tech Data &amp; Analytics Director</a:t>
            </a:r>
            <a:r>
              <a:rPr lang="en-US" sz="1020" dirty="0">
                <a:solidFill>
                  <a:srgbClr val="111827"/>
                </a:solidFill>
                <a:latin typeface="Calibri" pitchFamily="34" charset="0"/>
                <a:ea typeface="Calibri" pitchFamily="34" charset="-122"/>
                <a:cs typeface="Calibri" pitchFamily="34" charset="-120"/>
              </a:rPr>
              <a:t> to run the new org.</a:t>
            </a:r>
            <a:endParaRPr lang="en-US" sz="1020" dirty="0"/>
          </a:p>
        </p:txBody>
      </p:sp>
      <p:sp>
        <p:nvSpPr>
          <p:cNvPr id="44" name="Shape 42"/>
          <p:cNvSpPr/>
          <p:nvPr/>
        </p:nvSpPr>
        <p:spPr>
          <a:xfrm>
            <a:off x="7406640" y="1759650"/>
            <a:ext cx="4370832" cy="1038568"/>
          </a:xfrm>
          <a:prstGeom prst="rect">
            <a:avLst/>
          </a:prstGeom>
          <a:solidFill>
            <a:srgbClr val="FFFFFF"/>
          </a:solidFill>
          <a:ln w="9525">
            <a:solidFill>
              <a:srgbClr val="E5E7EB"/>
            </a:solidFill>
            <a:prstDash val="solid"/>
          </a:ln>
        </p:spPr>
        <p:txBody>
          <a:bodyPr/>
          <a:lstStyle/>
          <a:p>
            <a:endParaRPr lang="en-SE"/>
          </a:p>
        </p:txBody>
      </p:sp>
      <p:sp>
        <p:nvSpPr>
          <p:cNvPr id="45" name="Shape 43"/>
          <p:cNvSpPr/>
          <p:nvPr/>
        </p:nvSpPr>
        <p:spPr>
          <a:xfrm>
            <a:off x="7406640" y="1769275"/>
            <a:ext cx="4370832" cy="329184"/>
          </a:xfrm>
          <a:prstGeom prst="rect">
            <a:avLst/>
          </a:prstGeom>
          <a:solidFill>
            <a:srgbClr val="0A1A2F"/>
          </a:solidFill>
          <a:ln/>
        </p:spPr>
        <p:txBody>
          <a:bodyPr/>
          <a:lstStyle/>
          <a:p>
            <a:endParaRPr lang="en-SE"/>
          </a:p>
        </p:txBody>
      </p:sp>
      <p:sp>
        <p:nvSpPr>
          <p:cNvPr id="46" name="Shape 44"/>
          <p:cNvSpPr/>
          <p:nvPr/>
        </p:nvSpPr>
        <p:spPr>
          <a:xfrm>
            <a:off x="7406640" y="1769275"/>
            <a:ext cx="73152" cy="329184"/>
          </a:xfrm>
          <a:prstGeom prst="rect">
            <a:avLst/>
          </a:prstGeom>
          <a:solidFill>
            <a:srgbClr val="2DD4BF"/>
          </a:solidFill>
          <a:ln/>
        </p:spPr>
        <p:txBody>
          <a:bodyPr/>
          <a:lstStyle/>
          <a:p>
            <a:endParaRPr lang="en-SE"/>
          </a:p>
        </p:txBody>
      </p:sp>
      <p:sp>
        <p:nvSpPr>
          <p:cNvPr id="47" name="Text 45"/>
          <p:cNvSpPr/>
          <p:nvPr/>
        </p:nvSpPr>
        <p:spPr>
          <a:xfrm>
            <a:off x="7589520" y="1769275"/>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TECHNOLOGY</a:t>
            </a:r>
            <a:endParaRPr lang="en-US" sz="1050" dirty="0"/>
          </a:p>
        </p:txBody>
      </p:sp>
      <p:sp>
        <p:nvSpPr>
          <p:cNvPr id="48" name="Text 46"/>
          <p:cNvSpPr/>
          <p:nvPr/>
        </p:nvSpPr>
        <p:spPr>
          <a:xfrm>
            <a:off x="7479792" y="2094611"/>
            <a:ext cx="4297680" cy="713232"/>
          </a:xfrm>
          <a:prstGeom prst="rect">
            <a:avLst/>
          </a:prstGeom>
          <a:noFill/>
          <a:ln/>
        </p:spPr>
        <p:txBody>
          <a:bodyPr wrap="square" rtlCol="0" anchor="t"/>
          <a:lstStyle/>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Operating-model tooling: capability maps, RACI, role catalogues</a:t>
            </a:r>
            <a:endParaRPr lang="en-US" sz="1100" dirty="0"/>
          </a:p>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Skills assessment / chapter design frameworks</a:t>
            </a:r>
            <a:endParaRPr lang="en-US" sz="1100" dirty="0"/>
          </a:p>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Connection points to Snowflake, Power BI, Azure target stack</a:t>
            </a:r>
            <a:endParaRPr lang="en-US" sz="1100" dirty="0"/>
          </a:p>
        </p:txBody>
      </p:sp>
      <p:sp>
        <p:nvSpPr>
          <p:cNvPr id="49" name="Shape 47"/>
          <p:cNvSpPr/>
          <p:nvPr/>
        </p:nvSpPr>
        <p:spPr>
          <a:xfrm>
            <a:off x="7406640" y="2943560"/>
            <a:ext cx="4370832" cy="1014984"/>
          </a:xfrm>
          <a:prstGeom prst="rect">
            <a:avLst/>
          </a:prstGeom>
          <a:solidFill>
            <a:srgbClr val="FFFFFF"/>
          </a:solidFill>
          <a:ln w="9525">
            <a:solidFill>
              <a:srgbClr val="E5E7EB"/>
            </a:solidFill>
            <a:prstDash val="solid"/>
          </a:ln>
        </p:spPr>
        <p:txBody>
          <a:bodyPr/>
          <a:lstStyle/>
          <a:p>
            <a:endParaRPr lang="en-SE" sz="2000"/>
          </a:p>
        </p:txBody>
      </p:sp>
      <p:sp>
        <p:nvSpPr>
          <p:cNvPr id="50" name="Shape 48"/>
          <p:cNvSpPr/>
          <p:nvPr/>
        </p:nvSpPr>
        <p:spPr>
          <a:xfrm>
            <a:off x="7406640" y="2943560"/>
            <a:ext cx="4370832" cy="329184"/>
          </a:xfrm>
          <a:prstGeom prst="rect">
            <a:avLst/>
          </a:prstGeom>
          <a:solidFill>
            <a:srgbClr val="0A1A2F"/>
          </a:solidFill>
          <a:ln/>
        </p:spPr>
        <p:txBody>
          <a:bodyPr/>
          <a:lstStyle/>
          <a:p>
            <a:endParaRPr lang="en-SE"/>
          </a:p>
        </p:txBody>
      </p:sp>
      <p:sp>
        <p:nvSpPr>
          <p:cNvPr id="51" name="Shape 49"/>
          <p:cNvSpPr/>
          <p:nvPr/>
        </p:nvSpPr>
        <p:spPr>
          <a:xfrm>
            <a:off x="7406640" y="2943560"/>
            <a:ext cx="73152" cy="329184"/>
          </a:xfrm>
          <a:prstGeom prst="rect">
            <a:avLst/>
          </a:prstGeom>
          <a:solidFill>
            <a:srgbClr val="2DD4BF"/>
          </a:solidFill>
          <a:ln/>
        </p:spPr>
        <p:txBody>
          <a:bodyPr/>
          <a:lstStyle/>
          <a:p>
            <a:endParaRPr lang="en-SE"/>
          </a:p>
        </p:txBody>
      </p:sp>
      <p:sp>
        <p:nvSpPr>
          <p:cNvPr id="52" name="Text 50"/>
          <p:cNvSpPr/>
          <p:nvPr/>
        </p:nvSpPr>
        <p:spPr>
          <a:xfrm>
            <a:off x="7589520" y="2943560"/>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BUSINESS  SPECTRUM</a:t>
            </a:r>
            <a:endParaRPr lang="en-US" sz="1050" dirty="0"/>
          </a:p>
        </p:txBody>
      </p:sp>
      <p:sp>
        <p:nvSpPr>
          <p:cNvPr id="53" name="Text 51"/>
          <p:cNvSpPr/>
          <p:nvPr/>
        </p:nvSpPr>
        <p:spPr>
          <a:xfrm>
            <a:off x="7482177" y="3268896"/>
            <a:ext cx="4185567" cy="713232"/>
          </a:xfrm>
          <a:prstGeom prst="rect">
            <a:avLst/>
          </a:prstGeom>
          <a:noFill/>
          <a:ln/>
        </p:spPr>
        <p:txBody>
          <a:bodyPr wrap="square" rtlCol="0" anchor="t"/>
          <a:lstStyle/>
          <a:p>
            <a:pPr marL="342900" indent="-342900">
              <a:spcAft>
                <a:spcPts val="200"/>
              </a:spcAft>
              <a:buSzPct val="100000"/>
              <a:buChar char="■"/>
            </a:pPr>
            <a:r>
              <a:rPr lang="en-US" sz="1050" dirty="0">
                <a:solidFill>
                  <a:srgbClr val="111827"/>
                </a:solidFill>
                <a:latin typeface="Calibri" pitchFamily="34" charset="0"/>
                <a:ea typeface="Calibri" pitchFamily="34" charset="-122"/>
                <a:cs typeface="Calibri" pitchFamily="34" charset="-120"/>
              </a:rPr>
              <a:t>Group-wide — affecting every brand, region and global function</a:t>
            </a:r>
            <a:endParaRPr lang="en-US" sz="1050" dirty="0"/>
          </a:p>
          <a:p>
            <a:pPr marL="342900" indent="-342900">
              <a:spcAft>
                <a:spcPts val="200"/>
              </a:spcAft>
              <a:buSzPct val="100000"/>
              <a:buChar char="■"/>
            </a:pPr>
            <a:r>
              <a:rPr lang="en-US" sz="1050" dirty="0">
                <a:solidFill>
                  <a:srgbClr val="111827"/>
                </a:solidFill>
                <a:latin typeface="Calibri" pitchFamily="34" charset="0"/>
                <a:ea typeface="Calibri" pitchFamily="34" charset="-122"/>
                <a:cs typeface="Calibri" pitchFamily="34" charset="-120"/>
              </a:rPr>
              <a:t>Enterprise transformation lens, not a single business unit</a:t>
            </a:r>
            <a:endParaRPr lang="en-US" sz="1050" dirty="0"/>
          </a:p>
          <a:p>
            <a:pPr marL="342900" indent="-342900">
              <a:spcAft>
                <a:spcPts val="200"/>
              </a:spcAft>
              <a:buSzPct val="100000"/>
              <a:buChar char="■"/>
            </a:pPr>
            <a:r>
              <a:rPr lang="en-US" sz="1050" dirty="0">
                <a:solidFill>
                  <a:srgbClr val="111827"/>
                </a:solidFill>
                <a:latin typeface="Calibri" pitchFamily="34" charset="0"/>
                <a:ea typeface="Calibri" pitchFamily="34" charset="-122"/>
                <a:cs typeface="Calibri" pitchFamily="34" charset="-120"/>
              </a:rPr>
              <a:t>Sourcing economics + capability build-vs-buy decisions</a:t>
            </a:r>
            <a:endParaRPr lang="en-US" sz="1050" dirty="0"/>
          </a:p>
        </p:txBody>
      </p:sp>
      <p:sp>
        <p:nvSpPr>
          <p:cNvPr id="54" name="Shape 52"/>
          <p:cNvSpPr/>
          <p:nvPr/>
        </p:nvSpPr>
        <p:spPr>
          <a:xfrm>
            <a:off x="7406640" y="4108220"/>
            <a:ext cx="4370832" cy="1170432"/>
          </a:xfrm>
          <a:prstGeom prst="rect">
            <a:avLst/>
          </a:prstGeom>
          <a:solidFill>
            <a:srgbClr val="FFFFFF"/>
          </a:solidFill>
          <a:ln w="9525">
            <a:solidFill>
              <a:srgbClr val="E5E7EB"/>
            </a:solidFill>
            <a:prstDash val="solid"/>
          </a:ln>
        </p:spPr>
        <p:txBody>
          <a:bodyPr/>
          <a:lstStyle/>
          <a:p>
            <a:endParaRPr lang="en-SE"/>
          </a:p>
        </p:txBody>
      </p:sp>
      <p:sp>
        <p:nvSpPr>
          <p:cNvPr id="55" name="Shape 53"/>
          <p:cNvSpPr/>
          <p:nvPr/>
        </p:nvSpPr>
        <p:spPr>
          <a:xfrm>
            <a:off x="7406640" y="4108220"/>
            <a:ext cx="4370832" cy="329184"/>
          </a:xfrm>
          <a:prstGeom prst="rect">
            <a:avLst/>
          </a:prstGeom>
          <a:solidFill>
            <a:srgbClr val="0A1A2F"/>
          </a:solidFill>
          <a:ln/>
        </p:spPr>
        <p:txBody>
          <a:bodyPr/>
          <a:lstStyle/>
          <a:p>
            <a:endParaRPr lang="en-SE"/>
          </a:p>
        </p:txBody>
      </p:sp>
      <p:sp>
        <p:nvSpPr>
          <p:cNvPr id="56" name="Shape 54"/>
          <p:cNvSpPr/>
          <p:nvPr/>
        </p:nvSpPr>
        <p:spPr>
          <a:xfrm>
            <a:off x="7406640" y="4108220"/>
            <a:ext cx="73152" cy="329184"/>
          </a:xfrm>
          <a:prstGeom prst="rect">
            <a:avLst/>
          </a:prstGeom>
          <a:solidFill>
            <a:srgbClr val="2DD4BF"/>
          </a:solidFill>
          <a:ln/>
        </p:spPr>
        <p:txBody>
          <a:bodyPr/>
          <a:lstStyle/>
          <a:p>
            <a:endParaRPr lang="en-SE"/>
          </a:p>
        </p:txBody>
      </p:sp>
      <p:sp>
        <p:nvSpPr>
          <p:cNvPr id="57" name="Text 55"/>
          <p:cNvSpPr/>
          <p:nvPr/>
        </p:nvSpPr>
        <p:spPr>
          <a:xfrm>
            <a:off x="7589520" y="4108220"/>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LEADERSHIP  EVOLUTION</a:t>
            </a:r>
            <a:endParaRPr lang="en-US" sz="1050" dirty="0"/>
          </a:p>
        </p:txBody>
      </p:sp>
      <p:sp>
        <p:nvSpPr>
          <p:cNvPr id="58" name="Text 56"/>
          <p:cNvSpPr/>
          <p:nvPr/>
        </p:nvSpPr>
        <p:spPr>
          <a:xfrm>
            <a:off x="7482177" y="4433556"/>
            <a:ext cx="4185567" cy="713232"/>
          </a:xfrm>
          <a:prstGeom prst="rect">
            <a:avLst/>
          </a:prstGeom>
          <a:noFill/>
          <a:ln/>
        </p:spPr>
        <p:txBody>
          <a:bodyPr wrap="square" rtlCol="0" anchor="t"/>
          <a:lstStyle/>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Senior peer of Group transformation leadership</a:t>
            </a:r>
            <a:endParaRPr lang="en-US" sz="1100" dirty="0"/>
          </a:p>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120 people through a redesign — protecting talent and delivery</a:t>
            </a:r>
            <a:endParaRPr lang="en-US" sz="1100" dirty="0"/>
          </a:p>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Earned trust to take operational ownership of the new organisation</a:t>
            </a:r>
            <a:endParaRPr lang="en-US" sz="1100" dirty="0"/>
          </a:p>
        </p:txBody>
      </p:sp>
      <p:sp>
        <p:nvSpPr>
          <p:cNvPr id="59" name="Shape 57"/>
          <p:cNvSpPr/>
          <p:nvPr/>
        </p:nvSpPr>
        <p:spPr>
          <a:xfrm>
            <a:off x="7406640" y="5644259"/>
            <a:ext cx="4370832" cy="817193"/>
          </a:xfrm>
          <a:prstGeom prst="rect">
            <a:avLst/>
          </a:prstGeom>
          <a:solidFill>
            <a:srgbClr val="FFFFFF"/>
          </a:solidFill>
          <a:ln w="9525">
            <a:solidFill>
              <a:srgbClr val="E5E7EB"/>
            </a:solidFill>
            <a:prstDash val="solid"/>
          </a:ln>
        </p:spPr>
        <p:txBody>
          <a:bodyPr/>
          <a:lstStyle/>
          <a:p>
            <a:endParaRPr lang="en-SE"/>
          </a:p>
        </p:txBody>
      </p:sp>
      <p:sp>
        <p:nvSpPr>
          <p:cNvPr id="60" name="Shape 58"/>
          <p:cNvSpPr/>
          <p:nvPr/>
        </p:nvSpPr>
        <p:spPr>
          <a:xfrm>
            <a:off x="7406640" y="5422884"/>
            <a:ext cx="4370832" cy="329184"/>
          </a:xfrm>
          <a:prstGeom prst="rect">
            <a:avLst/>
          </a:prstGeom>
          <a:solidFill>
            <a:srgbClr val="0A1A2F"/>
          </a:solidFill>
          <a:ln/>
        </p:spPr>
        <p:txBody>
          <a:bodyPr/>
          <a:lstStyle/>
          <a:p>
            <a:endParaRPr lang="en-SE"/>
          </a:p>
        </p:txBody>
      </p:sp>
      <p:sp>
        <p:nvSpPr>
          <p:cNvPr id="61" name="Shape 59"/>
          <p:cNvSpPr/>
          <p:nvPr/>
        </p:nvSpPr>
        <p:spPr>
          <a:xfrm>
            <a:off x="7406640" y="5422884"/>
            <a:ext cx="73152" cy="329184"/>
          </a:xfrm>
          <a:prstGeom prst="rect">
            <a:avLst/>
          </a:prstGeom>
          <a:solidFill>
            <a:srgbClr val="2DD4BF"/>
          </a:solidFill>
          <a:ln/>
        </p:spPr>
        <p:txBody>
          <a:bodyPr/>
          <a:lstStyle/>
          <a:p>
            <a:endParaRPr lang="en-SE"/>
          </a:p>
        </p:txBody>
      </p:sp>
      <p:sp>
        <p:nvSpPr>
          <p:cNvPr id="62" name="Text 60"/>
          <p:cNvSpPr/>
          <p:nvPr/>
        </p:nvSpPr>
        <p:spPr>
          <a:xfrm>
            <a:off x="7589520" y="5422884"/>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KEY  STAKEHOLDERS</a:t>
            </a:r>
            <a:endParaRPr lang="en-US" sz="1050" dirty="0"/>
          </a:p>
        </p:txBody>
      </p:sp>
      <p:sp>
        <p:nvSpPr>
          <p:cNvPr id="63" name="Text 61"/>
          <p:cNvSpPr/>
          <p:nvPr/>
        </p:nvSpPr>
        <p:spPr>
          <a:xfrm>
            <a:off x="7482177" y="5748220"/>
            <a:ext cx="4185567" cy="713232"/>
          </a:xfrm>
          <a:prstGeom prst="rect">
            <a:avLst/>
          </a:prstGeom>
          <a:noFill/>
          <a:ln/>
        </p:spPr>
        <p:txBody>
          <a:bodyPr wrap="square" rtlCol="0" anchor="t"/>
          <a:lstStyle/>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Group CIO and IT transformation programme leadership</a:t>
            </a:r>
            <a:endParaRPr lang="en-US" sz="1100" dirty="0"/>
          </a:p>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HR · Finance · Legal · Procurement on the transition</a:t>
            </a:r>
            <a:endParaRPr lang="en-US" sz="1100" dirty="0"/>
          </a:p>
          <a:p>
            <a:pPr marL="342900" indent="-342900">
              <a:spcAft>
                <a:spcPts val="200"/>
              </a:spcAft>
              <a:buSzPct val="100000"/>
              <a:buChar char="■"/>
            </a:pPr>
            <a:r>
              <a:rPr lang="en-US" sz="1100" dirty="0">
                <a:solidFill>
                  <a:srgbClr val="111827"/>
                </a:solidFill>
                <a:latin typeface="Calibri" pitchFamily="34" charset="0"/>
                <a:ea typeface="Calibri" pitchFamily="34" charset="-122"/>
                <a:cs typeface="Calibri" pitchFamily="34" charset="-120"/>
              </a:rPr>
              <a:t>Existing D&amp;A leadership population and chapter leads</a:t>
            </a:r>
            <a:endParaRPr lang="en-US" sz="1100" dirty="0"/>
          </a:p>
        </p:txBody>
      </p:sp>
      <p:sp>
        <p:nvSpPr>
          <p:cNvPr id="64" name="Shape 62"/>
          <p:cNvSpPr/>
          <p:nvPr/>
        </p:nvSpPr>
        <p:spPr>
          <a:xfrm>
            <a:off x="457200" y="6547104"/>
            <a:ext cx="11274552" cy="0"/>
          </a:xfrm>
          <a:prstGeom prst="line">
            <a:avLst/>
          </a:prstGeom>
          <a:noFill/>
          <a:ln w="9525">
            <a:solidFill>
              <a:srgbClr val="E5E7EB"/>
            </a:solidFill>
            <a:prstDash val="solid"/>
          </a:ln>
        </p:spPr>
        <p:txBody>
          <a:bodyPr/>
          <a:lstStyle/>
          <a:p>
            <a:endParaRPr lang="en-SE"/>
          </a:p>
        </p:txBody>
      </p:sp>
      <p:sp>
        <p:nvSpPr>
          <p:cNvPr id="65" name="Text 63"/>
          <p:cNvSpPr/>
          <p:nvPr/>
        </p:nvSpPr>
        <p:spPr>
          <a:xfrm>
            <a:off x="457200" y="6592824"/>
            <a:ext cx="7315200" cy="201168"/>
          </a:xfrm>
          <a:prstGeom prst="rect">
            <a:avLst/>
          </a:prstGeom>
          <a:noFill/>
          <a:ln/>
        </p:spPr>
        <p:txBody>
          <a:bodyPr wrap="square" lIns="0" tIns="0" rIns="0" bIns="0" rtlCol="0" anchor="ctr"/>
          <a:lstStyle/>
          <a:p>
            <a:pPr marL="0" indent="0">
              <a:buNone/>
            </a:pPr>
            <a:r>
              <a:rPr lang="en-US" sz="850" b="1" kern="0" spc="400" dirty="0">
                <a:solidFill>
                  <a:srgbClr val="6B7280"/>
                </a:solidFill>
                <a:latin typeface="Calibri" pitchFamily="34" charset="0"/>
                <a:ea typeface="Calibri" pitchFamily="34" charset="-122"/>
                <a:cs typeface="Calibri" pitchFamily="34" charset="-120"/>
              </a:rPr>
              <a:t>GAUTHIER VAN WENT  ·  EXECUTIVE PROFILE</a:t>
            </a:r>
            <a:endParaRPr lang="en-US" sz="850" dirty="0"/>
          </a:p>
        </p:txBody>
      </p:sp>
      <p:sp>
        <p:nvSpPr>
          <p:cNvPr id="66" name="Text 64"/>
          <p:cNvSpPr/>
          <p:nvPr/>
        </p:nvSpPr>
        <p:spPr>
          <a:xfrm>
            <a:off x="8229600" y="6592824"/>
            <a:ext cx="3502152" cy="201168"/>
          </a:xfrm>
          <a:prstGeom prst="rect">
            <a:avLst/>
          </a:prstGeom>
          <a:noFill/>
          <a:ln/>
        </p:spPr>
        <p:txBody>
          <a:bodyPr wrap="square" lIns="0" tIns="0" rIns="0" bIns="0" rtlCol="0" anchor="ctr"/>
          <a:lstStyle/>
          <a:p>
            <a:pPr marL="0" indent="0" algn="r">
              <a:buNone/>
            </a:pPr>
            <a:r>
              <a:rPr lang="en-US" sz="850" b="1" kern="0" spc="400" dirty="0">
                <a:solidFill>
                  <a:srgbClr val="14B8A6"/>
                </a:solidFill>
                <a:latin typeface="Calibri" pitchFamily="34" charset="0"/>
                <a:ea typeface="Calibri" pitchFamily="34" charset="-122"/>
                <a:cs typeface="Calibri" pitchFamily="34" charset="-120"/>
              </a:rPr>
              <a:t>04  /  10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0"/>
          </a:xfrm>
          <a:prstGeom prst="rect">
            <a:avLst/>
          </a:prstGeom>
          <a:solidFill>
            <a:srgbClr val="0A1A2F"/>
          </a:solidFill>
          <a:ln/>
        </p:spPr>
        <p:txBody>
          <a:bodyPr/>
          <a:lstStyle/>
          <a:p>
            <a:endParaRPr lang="en-SE"/>
          </a:p>
        </p:txBody>
      </p:sp>
      <p:sp>
        <p:nvSpPr>
          <p:cNvPr id="3" name="Shape 1"/>
          <p:cNvSpPr/>
          <p:nvPr/>
        </p:nvSpPr>
        <p:spPr>
          <a:xfrm>
            <a:off x="0" y="1463040"/>
            <a:ext cx="12188952" cy="54864"/>
          </a:xfrm>
          <a:prstGeom prst="rect">
            <a:avLst/>
          </a:prstGeom>
          <a:solidFill>
            <a:srgbClr val="2DD4BF"/>
          </a:solidFill>
          <a:ln/>
        </p:spPr>
        <p:txBody>
          <a:bodyPr/>
          <a:lstStyle/>
          <a:p>
            <a:endParaRPr lang="en-SE"/>
          </a:p>
        </p:txBody>
      </p:sp>
      <p:sp>
        <p:nvSpPr>
          <p:cNvPr id="4" name="Shape 2"/>
          <p:cNvSpPr/>
          <p:nvPr/>
        </p:nvSpPr>
        <p:spPr>
          <a:xfrm>
            <a:off x="0" y="0"/>
            <a:ext cx="91440" cy="1463040"/>
          </a:xfrm>
          <a:prstGeom prst="rect">
            <a:avLst/>
          </a:prstGeom>
          <a:solidFill>
            <a:srgbClr val="F59E0B"/>
          </a:solidFill>
          <a:ln/>
        </p:spPr>
        <p:txBody>
          <a:bodyPr/>
          <a:lstStyle/>
          <a:p>
            <a:endParaRPr lang="en-SE"/>
          </a:p>
        </p:txBody>
      </p:sp>
      <p:sp>
        <p:nvSpPr>
          <p:cNvPr id="5" name="Shape 3"/>
          <p:cNvSpPr/>
          <p:nvPr/>
        </p:nvSpPr>
        <p:spPr>
          <a:xfrm>
            <a:off x="457200" y="365760"/>
            <a:ext cx="2011680" cy="384048"/>
          </a:xfrm>
          <a:prstGeom prst="roundRect">
            <a:avLst>
              <a:gd name="adj" fmla="val 19048"/>
            </a:avLst>
          </a:prstGeom>
          <a:solidFill>
            <a:srgbClr val="2DD4BF"/>
          </a:solidFill>
          <a:ln/>
        </p:spPr>
        <p:txBody>
          <a:bodyPr/>
          <a:lstStyle/>
          <a:p>
            <a:endParaRPr lang="en-SE"/>
          </a:p>
        </p:txBody>
      </p:sp>
      <p:sp>
        <p:nvSpPr>
          <p:cNvPr id="6" name="Text 4"/>
          <p:cNvSpPr/>
          <p:nvPr/>
        </p:nvSpPr>
        <p:spPr>
          <a:xfrm>
            <a:off x="457200" y="365760"/>
            <a:ext cx="2011680" cy="384048"/>
          </a:xfrm>
          <a:prstGeom prst="rect">
            <a:avLst/>
          </a:prstGeom>
          <a:noFill/>
          <a:ln/>
        </p:spPr>
        <p:txBody>
          <a:bodyPr wrap="square" lIns="0" tIns="0" rIns="0" bIns="0" rtlCol="0" anchor="ctr"/>
          <a:lstStyle/>
          <a:p>
            <a:pPr marL="0" indent="0" algn="ctr">
              <a:buNone/>
            </a:pPr>
            <a:r>
              <a:rPr lang="en-US" sz="1100" b="1" kern="0" spc="300" dirty="0">
                <a:solidFill>
                  <a:srgbClr val="0A1A2F"/>
                </a:solidFill>
                <a:latin typeface="Calibri" pitchFamily="34" charset="0"/>
                <a:ea typeface="Calibri" pitchFamily="34" charset="-122"/>
                <a:cs typeface="Calibri" pitchFamily="34" charset="-120"/>
              </a:rPr>
              <a:t>2021 – 2024</a:t>
            </a:r>
            <a:endParaRPr lang="en-US" sz="1100" dirty="0"/>
          </a:p>
        </p:txBody>
      </p:sp>
      <p:sp>
        <p:nvSpPr>
          <p:cNvPr id="7" name="Text 5"/>
          <p:cNvSpPr/>
          <p:nvPr/>
        </p:nvSpPr>
        <p:spPr>
          <a:xfrm>
            <a:off x="9601200" y="411480"/>
            <a:ext cx="2194560" cy="292608"/>
          </a:xfrm>
          <a:prstGeom prst="rect">
            <a:avLst/>
          </a:prstGeom>
          <a:noFill/>
          <a:ln/>
        </p:spPr>
        <p:txBody>
          <a:bodyPr wrap="square" lIns="0" tIns="0" rIns="0" bIns="0" rtlCol="0" anchor="ctr"/>
          <a:lstStyle/>
          <a:p>
            <a:pPr marL="0" indent="0" algn="r">
              <a:buNone/>
            </a:pPr>
            <a:r>
              <a:rPr lang="en-US" sz="1000" b="1" kern="0" spc="400" dirty="0">
                <a:solidFill>
                  <a:srgbClr val="F59E0B"/>
                </a:solidFill>
                <a:latin typeface="Calibri" pitchFamily="34" charset="0"/>
                <a:ea typeface="Calibri" pitchFamily="34" charset="-122"/>
                <a:cs typeface="Calibri" pitchFamily="34" charset="-120"/>
              </a:rPr>
              <a:t>ROLE 3  /  7</a:t>
            </a:r>
            <a:endParaRPr lang="en-US" sz="1000" dirty="0"/>
          </a:p>
        </p:txBody>
      </p:sp>
      <p:sp>
        <p:nvSpPr>
          <p:cNvPr id="8" name="Text 6"/>
          <p:cNvSpPr/>
          <p:nvPr/>
        </p:nvSpPr>
        <p:spPr>
          <a:xfrm>
            <a:off x="457200" y="841248"/>
            <a:ext cx="11274552"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Transformation Director</a:t>
            </a:r>
            <a:endParaRPr lang="en-US" sz="2600" dirty="0"/>
          </a:p>
        </p:txBody>
      </p:sp>
      <p:sp>
        <p:nvSpPr>
          <p:cNvPr id="9" name="Text 7"/>
          <p:cNvSpPr/>
          <p:nvPr/>
        </p:nvSpPr>
        <p:spPr>
          <a:xfrm>
            <a:off x="457200" y="1207008"/>
            <a:ext cx="11274552" cy="274320"/>
          </a:xfrm>
          <a:prstGeom prst="rect">
            <a:avLst/>
          </a:prstGeom>
          <a:noFill/>
          <a:ln/>
        </p:spPr>
        <p:txBody>
          <a:bodyPr wrap="square" lIns="0" tIns="0" rIns="0" bIns="0" rtlCol="0" anchor="ctr"/>
          <a:lstStyle/>
          <a:p>
            <a:pPr marL="0" indent="0">
              <a:buNone/>
            </a:pPr>
            <a:r>
              <a:rPr lang="en-US" sz="1150" dirty="0">
                <a:solidFill>
                  <a:srgbClr val="B6CFE6"/>
                </a:solidFill>
                <a:latin typeface="Calibri" pitchFamily="34" charset="0"/>
                <a:ea typeface="Calibri" pitchFamily="34" charset="-122"/>
                <a:cs typeface="Calibri" pitchFamily="34" charset="-120"/>
              </a:rPr>
              <a:t>THE ABSOLUT GROUP  ·  500-person company  ·  CEO / CFO sponsorship</a:t>
            </a:r>
            <a:endParaRPr lang="en-US" sz="1150" dirty="0"/>
          </a:p>
        </p:txBody>
      </p:sp>
      <p:sp>
        <p:nvSpPr>
          <p:cNvPr id="10" name="Text 8"/>
          <p:cNvSpPr/>
          <p:nvPr/>
        </p:nvSpPr>
        <p:spPr>
          <a:xfrm>
            <a:off x="457200" y="1691640"/>
            <a:ext cx="6766560" cy="274320"/>
          </a:xfrm>
          <a:prstGeom prst="rect">
            <a:avLst/>
          </a:prstGeom>
          <a:noFill/>
          <a:ln/>
        </p:spPr>
        <p:txBody>
          <a:bodyPr wrap="square" lIns="0" tIns="0" rIns="0" bIns="0" rtlCol="0" anchor="ctr"/>
          <a:lstStyle/>
          <a:p>
            <a:pPr marL="0" indent="0">
              <a:buNone/>
            </a:pPr>
            <a:r>
              <a:rPr lang="en-US" sz="1400" b="1" kern="0" spc="500" dirty="0">
                <a:solidFill>
                  <a:srgbClr val="14B8A6"/>
                </a:solidFill>
                <a:latin typeface="Calibri" pitchFamily="34" charset="0"/>
                <a:ea typeface="Calibri" pitchFamily="34" charset="-122"/>
                <a:cs typeface="Calibri" pitchFamily="34" charset="-120"/>
              </a:rPr>
              <a:t>ROLE  OVERVIEW</a:t>
            </a:r>
            <a:endParaRPr lang="en-US" sz="1400" dirty="0"/>
          </a:p>
        </p:txBody>
      </p:sp>
      <p:sp>
        <p:nvSpPr>
          <p:cNvPr id="11" name="Text 9"/>
          <p:cNvSpPr/>
          <p:nvPr/>
        </p:nvSpPr>
        <p:spPr>
          <a:xfrm>
            <a:off x="457200" y="1965960"/>
            <a:ext cx="6766560" cy="1371600"/>
          </a:xfrm>
          <a:prstGeom prst="rect">
            <a:avLst/>
          </a:prstGeom>
          <a:noFill/>
          <a:ln/>
        </p:spPr>
        <p:txBody>
          <a:bodyPr wrap="square" lIns="0" tIns="0" rIns="0" bIns="0" rtlCol="0" anchor="t"/>
          <a:lstStyle/>
          <a:p>
            <a:pPr marL="0" indent="0">
              <a:spcAft>
                <a:spcPts val="400"/>
              </a:spcAft>
              <a:buNone/>
            </a:pPr>
            <a:r>
              <a:rPr lang="en-US" sz="1400" dirty="0">
                <a:solidFill>
                  <a:srgbClr val="111827"/>
                </a:solidFill>
                <a:latin typeface="Calibri" pitchFamily="34" charset="0"/>
                <a:ea typeface="Calibri" pitchFamily="34" charset="-122"/>
                <a:cs typeface="Calibri" pitchFamily="34" charset="-120"/>
              </a:rPr>
              <a:t>Designed and built a </a:t>
            </a:r>
            <a:r>
              <a:rPr lang="en-US" sz="1400" b="1" dirty="0">
                <a:solidFill>
                  <a:srgbClr val="111827"/>
                </a:solidFill>
                <a:latin typeface="Calibri" pitchFamily="34" charset="0"/>
                <a:ea typeface="Calibri" pitchFamily="34" charset="-122"/>
                <a:cs typeface="Calibri" pitchFamily="34" charset="-120"/>
              </a:rPr>
              <a:t>company management </a:t>
            </a:r>
            <a:r>
              <a:rPr lang="en-US" sz="1400" dirty="0">
                <a:solidFill>
                  <a:srgbClr val="111827"/>
                </a:solidFill>
                <a:latin typeface="Calibri" pitchFamily="34" charset="0"/>
                <a:ea typeface="Calibri" pitchFamily="34" charset="-122"/>
                <a:cs typeface="Calibri" pitchFamily="34" charset="-120"/>
              </a:rPr>
              <a:t>from scratch — the operating system through which The Absolut Group steers its 500-person organization program/project execution. </a:t>
            </a:r>
            <a:r>
              <a:rPr lang="en-US" sz="1400" b="1" dirty="0">
                <a:solidFill>
                  <a:srgbClr val="111827"/>
                </a:solidFill>
                <a:latin typeface="Calibri" pitchFamily="34" charset="0"/>
                <a:ea typeface="Calibri" pitchFamily="34" charset="-122"/>
                <a:cs typeface="Calibri" pitchFamily="34" charset="-120"/>
              </a:rPr>
              <a:t>Three-pillar model</a:t>
            </a:r>
            <a:r>
              <a:rPr lang="en-US" sz="1400" dirty="0">
                <a:solidFill>
                  <a:srgbClr val="111827"/>
                </a:solidFill>
                <a:latin typeface="Calibri" pitchFamily="34" charset="0"/>
                <a:ea typeface="Calibri" pitchFamily="34" charset="-122"/>
                <a:cs typeface="Calibri" pitchFamily="34" charset="-120"/>
              </a:rPr>
              <a:t> spanning </a:t>
            </a:r>
            <a:r>
              <a:rPr lang="en-US" sz="1400" b="1" dirty="0">
                <a:solidFill>
                  <a:srgbClr val="111827"/>
                </a:solidFill>
                <a:latin typeface="Calibri" pitchFamily="34" charset="0"/>
                <a:ea typeface="Calibri" pitchFamily="34" charset="-122"/>
                <a:cs typeface="Calibri" pitchFamily="34" charset="-120"/>
              </a:rPr>
              <a:t>governance</a:t>
            </a:r>
            <a:r>
              <a:rPr lang="en-US" sz="1400" dirty="0">
                <a:solidFill>
                  <a:srgbClr val="111827"/>
                </a:solidFill>
                <a:latin typeface="Calibri" pitchFamily="34" charset="0"/>
                <a:ea typeface="Calibri" pitchFamily="34" charset="-122"/>
                <a:cs typeface="Calibri" pitchFamily="34" charset="-120"/>
              </a:rPr>
              <a:t>, </a:t>
            </a:r>
            <a:r>
              <a:rPr lang="en-US" sz="1400" b="1" dirty="0">
                <a:solidFill>
                  <a:srgbClr val="111827"/>
                </a:solidFill>
                <a:latin typeface="Calibri" pitchFamily="34" charset="0"/>
                <a:ea typeface="Calibri" pitchFamily="34" charset="-122"/>
                <a:cs typeface="Calibri" pitchFamily="34" charset="-120"/>
              </a:rPr>
              <a:t>project delivery </a:t>
            </a:r>
            <a:r>
              <a:rPr lang="en-US" sz="1400" dirty="0">
                <a:solidFill>
                  <a:srgbClr val="111827"/>
                </a:solidFill>
                <a:latin typeface="Calibri" pitchFamily="34" charset="0"/>
                <a:ea typeface="Calibri" pitchFamily="34" charset="-122"/>
                <a:cs typeface="Calibri" pitchFamily="34" charset="-120"/>
              </a:rPr>
              <a:t>and </a:t>
            </a:r>
            <a:r>
              <a:rPr lang="en-US" sz="1400" b="1" dirty="0">
                <a:solidFill>
                  <a:srgbClr val="111827"/>
                </a:solidFill>
                <a:latin typeface="Calibri" pitchFamily="34" charset="0"/>
                <a:ea typeface="Calibri" pitchFamily="34" charset="-122"/>
                <a:cs typeface="Calibri" pitchFamily="34" charset="-120"/>
              </a:rPr>
              <a:t>prioritisation</a:t>
            </a:r>
            <a:r>
              <a:rPr lang="en-US" sz="1400" dirty="0">
                <a:solidFill>
                  <a:srgbClr val="111827"/>
                </a:solidFill>
                <a:latin typeface="Calibri" pitchFamily="34" charset="0"/>
                <a:ea typeface="Calibri" pitchFamily="34" charset="-122"/>
                <a:cs typeface="Calibri" pitchFamily="34" charset="-120"/>
              </a:rPr>
              <a:t>, sponsored directly by the CEO and CFO, with full company adoption inside two years.</a:t>
            </a:r>
            <a:endParaRPr lang="en-US" sz="1400" dirty="0"/>
          </a:p>
        </p:txBody>
      </p:sp>
      <p:sp>
        <p:nvSpPr>
          <p:cNvPr id="12" name="Shape 10"/>
          <p:cNvSpPr/>
          <p:nvPr/>
        </p:nvSpPr>
        <p:spPr>
          <a:xfrm>
            <a:off x="457200" y="3203165"/>
            <a:ext cx="146304" cy="146304"/>
          </a:xfrm>
          <a:prstGeom prst="ellipse">
            <a:avLst/>
          </a:prstGeom>
          <a:solidFill>
            <a:srgbClr val="F59E0B"/>
          </a:solidFill>
          <a:ln/>
        </p:spPr>
        <p:txBody>
          <a:bodyPr/>
          <a:lstStyle/>
          <a:p>
            <a:endParaRPr lang="en-SE"/>
          </a:p>
        </p:txBody>
      </p:sp>
      <p:sp>
        <p:nvSpPr>
          <p:cNvPr id="13" name="Text 11"/>
          <p:cNvSpPr/>
          <p:nvPr/>
        </p:nvSpPr>
        <p:spPr>
          <a:xfrm>
            <a:off x="658368" y="3139157"/>
            <a:ext cx="6565392" cy="274320"/>
          </a:xfrm>
          <a:prstGeom prst="rect">
            <a:avLst/>
          </a:prstGeom>
          <a:noFill/>
          <a:ln/>
        </p:spPr>
        <p:txBody>
          <a:bodyPr wrap="square" lIns="0" tIns="0" rIns="0" bIns="0" rtlCol="0" anchor="ctr"/>
          <a:lstStyle/>
          <a:p>
            <a:pPr marL="0" indent="0">
              <a:buNone/>
            </a:pPr>
            <a:r>
              <a:rPr lang="en-US" sz="1400" b="1" kern="0" spc="500" dirty="0">
                <a:solidFill>
                  <a:srgbClr val="D97706"/>
                </a:solidFill>
                <a:latin typeface="Calibri" pitchFamily="34" charset="0"/>
                <a:ea typeface="Calibri" pitchFamily="34" charset="-122"/>
                <a:cs typeface="Calibri" pitchFamily="34" charset="-120"/>
              </a:rPr>
              <a:t>KEY  ACCOMPLISHMENTS  ·  WITH  IMPACT</a:t>
            </a:r>
            <a:endParaRPr lang="en-US" sz="1400" dirty="0"/>
          </a:p>
        </p:txBody>
      </p:sp>
      <p:sp>
        <p:nvSpPr>
          <p:cNvPr id="14" name="Shape 12"/>
          <p:cNvSpPr/>
          <p:nvPr/>
        </p:nvSpPr>
        <p:spPr>
          <a:xfrm>
            <a:off x="457200" y="3450053"/>
            <a:ext cx="3300984" cy="914400"/>
          </a:xfrm>
          <a:prstGeom prst="rect">
            <a:avLst/>
          </a:prstGeom>
          <a:solidFill>
            <a:srgbClr val="FFFFFF"/>
          </a:solidFill>
          <a:ln w="9525">
            <a:solidFill>
              <a:srgbClr val="E5E7EB"/>
            </a:solidFill>
            <a:prstDash val="solid"/>
          </a:ln>
        </p:spPr>
        <p:txBody>
          <a:bodyPr/>
          <a:lstStyle/>
          <a:p>
            <a:endParaRPr lang="en-SE"/>
          </a:p>
        </p:txBody>
      </p:sp>
      <p:sp>
        <p:nvSpPr>
          <p:cNvPr id="15" name="Shape 13"/>
          <p:cNvSpPr/>
          <p:nvPr/>
        </p:nvSpPr>
        <p:spPr>
          <a:xfrm>
            <a:off x="457200" y="3450053"/>
            <a:ext cx="91440" cy="914400"/>
          </a:xfrm>
          <a:prstGeom prst="rect">
            <a:avLst/>
          </a:prstGeom>
          <a:solidFill>
            <a:srgbClr val="F59E0B"/>
          </a:solidFill>
          <a:ln/>
        </p:spPr>
        <p:txBody>
          <a:bodyPr/>
          <a:lstStyle/>
          <a:p>
            <a:endParaRPr lang="en-SE"/>
          </a:p>
        </p:txBody>
      </p:sp>
      <p:sp>
        <p:nvSpPr>
          <p:cNvPr id="16" name="Shape 14"/>
          <p:cNvSpPr/>
          <p:nvPr/>
        </p:nvSpPr>
        <p:spPr>
          <a:xfrm>
            <a:off x="658368" y="3614645"/>
            <a:ext cx="146304" cy="146304"/>
          </a:xfrm>
          <a:prstGeom prst="ellipse">
            <a:avLst/>
          </a:prstGeom>
          <a:solidFill>
            <a:srgbClr val="F59E0B"/>
          </a:solidFill>
          <a:ln/>
        </p:spPr>
        <p:txBody>
          <a:bodyPr/>
          <a:lstStyle/>
          <a:p>
            <a:endParaRPr lang="en-SE"/>
          </a:p>
        </p:txBody>
      </p:sp>
      <p:sp>
        <p:nvSpPr>
          <p:cNvPr id="17" name="Text 15"/>
          <p:cNvSpPr/>
          <p:nvPr/>
        </p:nvSpPr>
        <p:spPr>
          <a:xfrm>
            <a:off x="868680" y="3523205"/>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Mngmt System built from zero</a:t>
            </a:r>
            <a:endParaRPr lang="en-US" sz="1450" dirty="0"/>
          </a:p>
        </p:txBody>
      </p:sp>
      <p:sp>
        <p:nvSpPr>
          <p:cNvPr id="18" name="Text 16"/>
          <p:cNvSpPr/>
          <p:nvPr/>
        </p:nvSpPr>
        <p:spPr>
          <a:xfrm>
            <a:off x="658368" y="3907253"/>
            <a:ext cx="2980944" cy="411480"/>
          </a:xfrm>
          <a:prstGeom prst="rect">
            <a:avLst/>
          </a:prstGeom>
          <a:noFill/>
          <a:ln/>
        </p:spPr>
        <p:txBody>
          <a:bodyPr wrap="square" lIns="0" tIns="0" rIns="0" bIns="0" rtlCol="0" anchor="t"/>
          <a:lstStyle/>
          <a:p>
            <a:pPr marL="0" indent="0">
              <a:buNone/>
            </a:pPr>
            <a:r>
              <a:rPr lang="en-US" sz="1020" b="1" dirty="0">
                <a:solidFill>
                  <a:srgbClr val="0A1A2F"/>
                </a:solidFill>
                <a:latin typeface="Calibri" pitchFamily="34" charset="0"/>
                <a:ea typeface="Calibri" pitchFamily="34" charset="-122"/>
                <a:cs typeface="Calibri" pitchFamily="34" charset="-120"/>
              </a:rPr>
              <a:t>TAG Management System</a:t>
            </a:r>
            <a:r>
              <a:rPr lang="en-US" sz="1020" dirty="0">
                <a:solidFill>
                  <a:srgbClr val="111827"/>
                </a:solidFill>
                <a:latin typeface="Calibri" pitchFamily="34" charset="0"/>
                <a:ea typeface="Calibri" pitchFamily="34" charset="-122"/>
                <a:cs typeface="Calibri" pitchFamily="34" charset="-120"/>
              </a:rPr>
              <a:t>: governance, delivery, prioritisation — single backbone.</a:t>
            </a:r>
            <a:endParaRPr lang="en-US" sz="1020" dirty="0"/>
          </a:p>
        </p:txBody>
      </p:sp>
      <p:sp>
        <p:nvSpPr>
          <p:cNvPr id="19" name="Shape 17"/>
          <p:cNvSpPr/>
          <p:nvPr/>
        </p:nvSpPr>
        <p:spPr>
          <a:xfrm>
            <a:off x="3922776" y="3450053"/>
            <a:ext cx="3300984" cy="914400"/>
          </a:xfrm>
          <a:prstGeom prst="rect">
            <a:avLst/>
          </a:prstGeom>
          <a:solidFill>
            <a:srgbClr val="FFFFFF"/>
          </a:solidFill>
          <a:ln w="9525">
            <a:solidFill>
              <a:srgbClr val="E5E7EB"/>
            </a:solidFill>
            <a:prstDash val="solid"/>
          </a:ln>
        </p:spPr>
        <p:txBody>
          <a:bodyPr/>
          <a:lstStyle/>
          <a:p>
            <a:endParaRPr lang="en-SE"/>
          </a:p>
        </p:txBody>
      </p:sp>
      <p:sp>
        <p:nvSpPr>
          <p:cNvPr id="20" name="Shape 18"/>
          <p:cNvSpPr/>
          <p:nvPr/>
        </p:nvSpPr>
        <p:spPr>
          <a:xfrm>
            <a:off x="3922776" y="3450053"/>
            <a:ext cx="91440" cy="914400"/>
          </a:xfrm>
          <a:prstGeom prst="rect">
            <a:avLst/>
          </a:prstGeom>
          <a:solidFill>
            <a:srgbClr val="F59E0B"/>
          </a:solidFill>
          <a:ln/>
        </p:spPr>
        <p:txBody>
          <a:bodyPr/>
          <a:lstStyle/>
          <a:p>
            <a:endParaRPr lang="en-SE"/>
          </a:p>
        </p:txBody>
      </p:sp>
      <p:sp>
        <p:nvSpPr>
          <p:cNvPr id="21" name="Shape 19"/>
          <p:cNvSpPr/>
          <p:nvPr/>
        </p:nvSpPr>
        <p:spPr>
          <a:xfrm>
            <a:off x="4123944" y="3614645"/>
            <a:ext cx="146304" cy="146304"/>
          </a:xfrm>
          <a:prstGeom prst="ellipse">
            <a:avLst/>
          </a:prstGeom>
          <a:solidFill>
            <a:srgbClr val="F59E0B"/>
          </a:solidFill>
          <a:ln/>
        </p:spPr>
        <p:txBody>
          <a:bodyPr/>
          <a:lstStyle/>
          <a:p>
            <a:endParaRPr lang="en-SE"/>
          </a:p>
        </p:txBody>
      </p:sp>
      <p:sp>
        <p:nvSpPr>
          <p:cNvPr id="22" name="Text 20"/>
          <p:cNvSpPr/>
          <p:nvPr/>
        </p:nvSpPr>
        <p:spPr>
          <a:xfrm>
            <a:off x="4334256" y="3523205"/>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117 projects</a:t>
            </a:r>
            <a:endParaRPr lang="en-US" sz="1450" dirty="0"/>
          </a:p>
        </p:txBody>
      </p:sp>
      <p:sp>
        <p:nvSpPr>
          <p:cNvPr id="23" name="Text 21"/>
          <p:cNvSpPr/>
          <p:nvPr/>
        </p:nvSpPr>
        <p:spPr>
          <a:xfrm>
            <a:off x="4123944" y="3907253"/>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Actively managed under TMS — </a:t>
            </a:r>
            <a:r>
              <a:rPr lang="en-US" sz="1020" b="1" dirty="0">
                <a:solidFill>
                  <a:srgbClr val="0A1A2F"/>
                </a:solidFill>
                <a:latin typeface="Calibri" pitchFamily="34" charset="0"/>
                <a:ea typeface="Calibri" pitchFamily="34" charset="-122"/>
                <a:cs typeface="Calibri" pitchFamily="34" charset="-120"/>
              </a:rPr>
              <a:t>visible, prioritised, steered</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24" name="Shape 22"/>
          <p:cNvSpPr/>
          <p:nvPr/>
        </p:nvSpPr>
        <p:spPr>
          <a:xfrm>
            <a:off x="457200" y="4474181"/>
            <a:ext cx="3300984" cy="914400"/>
          </a:xfrm>
          <a:prstGeom prst="rect">
            <a:avLst/>
          </a:prstGeom>
          <a:solidFill>
            <a:srgbClr val="FFFFFF"/>
          </a:solidFill>
          <a:ln w="9525">
            <a:solidFill>
              <a:srgbClr val="E5E7EB"/>
            </a:solidFill>
            <a:prstDash val="solid"/>
          </a:ln>
        </p:spPr>
        <p:txBody>
          <a:bodyPr/>
          <a:lstStyle/>
          <a:p>
            <a:endParaRPr lang="en-SE"/>
          </a:p>
        </p:txBody>
      </p:sp>
      <p:sp>
        <p:nvSpPr>
          <p:cNvPr id="25" name="Shape 23"/>
          <p:cNvSpPr/>
          <p:nvPr/>
        </p:nvSpPr>
        <p:spPr>
          <a:xfrm>
            <a:off x="457200" y="4474181"/>
            <a:ext cx="91440" cy="914400"/>
          </a:xfrm>
          <a:prstGeom prst="rect">
            <a:avLst/>
          </a:prstGeom>
          <a:solidFill>
            <a:srgbClr val="F59E0B"/>
          </a:solidFill>
          <a:ln/>
        </p:spPr>
        <p:txBody>
          <a:bodyPr/>
          <a:lstStyle/>
          <a:p>
            <a:endParaRPr lang="en-SE"/>
          </a:p>
        </p:txBody>
      </p:sp>
      <p:sp>
        <p:nvSpPr>
          <p:cNvPr id="26" name="Shape 24"/>
          <p:cNvSpPr/>
          <p:nvPr/>
        </p:nvSpPr>
        <p:spPr>
          <a:xfrm>
            <a:off x="658368" y="4638773"/>
            <a:ext cx="146304" cy="146304"/>
          </a:xfrm>
          <a:prstGeom prst="ellipse">
            <a:avLst/>
          </a:prstGeom>
          <a:solidFill>
            <a:srgbClr val="F59E0B"/>
          </a:solidFill>
          <a:ln/>
        </p:spPr>
        <p:txBody>
          <a:bodyPr/>
          <a:lstStyle/>
          <a:p>
            <a:endParaRPr lang="en-SE"/>
          </a:p>
        </p:txBody>
      </p:sp>
      <p:sp>
        <p:nvSpPr>
          <p:cNvPr id="27" name="Text 25"/>
          <p:cNvSpPr/>
          <p:nvPr/>
        </p:nvSpPr>
        <p:spPr>
          <a:xfrm>
            <a:off x="868680" y="4547333"/>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100% adoption</a:t>
            </a:r>
            <a:endParaRPr lang="en-US" sz="1450" dirty="0"/>
          </a:p>
        </p:txBody>
      </p:sp>
      <p:sp>
        <p:nvSpPr>
          <p:cNvPr id="28" name="Text 26"/>
          <p:cNvSpPr/>
          <p:nvPr/>
        </p:nvSpPr>
        <p:spPr>
          <a:xfrm>
            <a:off x="658368" y="4931381"/>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Rolled out across the entire </a:t>
            </a:r>
            <a:r>
              <a:rPr lang="en-US" sz="1020" b="1" dirty="0">
                <a:solidFill>
                  <a:srgbClr val="0A1A2F"/>
                </a:solidFill>
                <a:latin typeface="Calibri" pitchFamily="34" charset="0"/>
                <a:ea typeface="Calibri" pitchFamily="34" charset="-122"/>
                <a:cs typeface="Calibri" pitchFamily="34" charset="-120"/>
              </a:rPr>
              <a:t>500-person company</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29" name="Shape 27"/>
          <p:cNvSpPr/>
          <p:nvPr/>
        </p:nvSpPr>
        <p:spPr>
          <a:xfrm>
            <a:off x="3922776" y="4474181"/>
            <a:ext cx="3300984" cy="914400"/>
          </a:xfrm>
          <a:prstGeom prst="rect">
            <a:avLst/>
          </a:prstGeom>
          <a:solidFill>
            <a:srgbClr val="FFFFFF"/>
          </a:solidFill>
          <a:ln w="9525">
            <a:solidFill>
              <a:srgbClr val="E5E7EB"/>
            </a:solidFill>
            <a:prstDash val="solid"/>
          </a:ln>
        </p:spPr>
        <p:txBody>
          <a:bodyPr/>
          <a:lstStyle/>
          <a:p>
            <a:endParaRPr lang="en-SE"/>
          </a:p>
        </p:txBody>
      </p:sp>
      <p:sp>
        <p:nvSpPr>
          <p:cNvPr id="30" name="Shape 28"/>
          <p:cNvSpPr/>
          <p:nvPr/>
        </p:nvSpPr>
        <p:spPr>
          <a:xfrm>
            <a:off x="3922776" y="4474181"/>
            <a:ext cx="91440" cy="914400"/>
          </a:xfrm>
          <a:prstGeom prst="rect">
            <a:avLst/>
          </a:prstGeom>
          <a:solidFill>
            <a:srgbClr val="F59E0B"/>
          </a:solidFill>
          <a:ln/>
        </p:spPr>
        <p:txBody>
          <a:bodyPr/>
          <a:lstStyle/>
          <a:p>
            <a:endParaRPr lang="en-SE"/>
          </a:p>
        </p:txBody>
      </p:sp>
      <p:sp>
        <p:nvSpPr>
          <p:cNvPr id="31" name="Shape 29"/>
          <p:cNvSpPr/>
          <p:nvPr/>
        </p:nvSpPr>
        <p:spPr>
          <a:xfrm>
            <a:off x="4123944" y="4638773"/>
            <a:ext cx="146304" cy="146304"/>
          </a:xfrm>
          <a:prstGeom prst="ellipse">
            <a:avLst/>
          </a:prstGeom>
          <a:solidFill>
            <a:srgbClr val="F59E0B"/>
          </a:solidFill>
          <a:ln/>
        </p:spPr>
        <p:txBody>
          <a:bodyPr/>
          <a:lstStyle/>
          <a:p>
            <a:endParaRPr lang="en-SE"/>
          </a:p>
        </p:txBody>
      </p:sp>
      <p:sp>
        <p:nvSpPr>
          <p:cNvPr id="32" name="Text 30"/>
          <p:cNvSpPr/>
          <p:nvPr/>
        </p:nvSpPr>
        <p:spPr>
          <a:xfrm>
            <a:off x="4334256" y="4547333"/>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5-stage lifecycle</a:t>
            </a:r>
            <a:endParaRPr lang="en-US" sz="1450" dirty="0"/>
          </a:p>
        </p:txBody>
      </p:sp>
      <p:sp>
        <p:nvSpPr>
          <p:cNvPr id="33" name="Text 31"/>
          <p:cNvSpPr/>
          <p:nvPr/>
        </p:nvSpPr>
        <p:spPr>
          <a:xfrm>
            <a:off x="4123944" y="4931381"/>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Standardised PMO operating model — </a:t>
            </a:r>
            <a:r>
              <a:rPr lang="en-US" sz="1020" b="1" dirty="0">
                <a:solidFill>
                  <a:srgbClr val="0A1A2F"/>
                </a:solidFill>
                <a:latin typeface="Calibri" pitchFamily="34" charset="0"/>
                <a:ea typeface="Calibri" pitchFamily="34" charset="-122"/>
                <a:cs typeface="Calibri" pitchFamily="34" charset="-120"/>
              </a:rPr>
              <a:t>idea to value capture</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34" name="Shape 32"/>
          <p:cNvSpPr/>
          <p:nvPr/>
        </p:nvSpPr>
        <p:spPr>
          <a:xfrm>
            <a:off x="457200" y="5498309"/>
            <a:ext cx="3300984" cy="914400"/>
          </a:xfrm>
          <a:prstGeom prst="rect">
            <a:avLst/>
          </a:prstGeom>
          <a:solidFill>
            <a:srgbClr val="FFFFFF"/>
          </a:solidFill>
          <a:ln w="9525">
            <a:solidFill>
              <a:srgbClr val="E5E7EB"/>
            </a:solidFill>
            <a:prstDash val="solid"/>
          </a:ln>
        </p:spPr>
        <p:txBody>
          <a:bodyPr/>
          <a:lstStyle/>
          <a:p>
            <a:endParaRPr lang="en-SE"/>
          </a:p>
        </p:txBody>
      </p:sp>
      <p:sp>
        <p:nvSpPr>
          <p:cNvPr id="35" name="Shape 33"/>
          <p:cNvSpPr/>
          <p:nvPr/>
        </p:nvSpPr>
        <p:spPr>
          <a:xfrm>
            <a:off x="457200" y="5498309"/>
            <a:ext cx="91440" cy="914400"/>
          </a:xfrm>
          <a:prstGeom prst="rect">
            <a:avLst/>
          </a:prstGeom>
          <a:solidFill>
            <a:srgbClr val="F59E0B"/>
          </a:solidFill>
          <a:ln/>
        </p:spPr>
        <p:txBody>
          <a:bodyPr/>
          <a:lstStyle/>
          <a:p>
            <a:endParaRPr lang="en-SE"/>
          </a:p>
        </p:txBody>
      </p:sp>
      <p:sp>
        <p:nvSpPr>
          <p:cNvPr id="36" name="Shape 34"/>
          <p:cNvSpPr/>
          <p:nvPr/>
        </p:nvSpPr>
        <p:spPr>
          <a:xfrm>
            <a:off x="658368" y="5662901"/>
            <a:ext cx="146304" cy="146304"/>
          </a:xfrm>
          <a:prstGeom prst="ellipse">
            <a:avLst/>
          </a:prstGeom>
          <a:solidFill>
            <a:srgbClr val="F59E0B"/>
          </a:solidFill>
          <a:ln/>
        </p:spPr>
        <p:txBody>
          <a:bodyPr/>
          <a:lstStyle/>
          <a:p>
            <a:endParaRPr lang="en-SE"/>
          </a:p>
        </p:txBody>
      </p:sp>
      <p:sp>
        <p:nvSpPr>
          <p:cNvPr id="37" name="Text 35"/>
          <p:cNvSpPr/>
          <p:nvPr/>
        </p:nvSpPr>
        <p:spPr>
          <a:xfrm>
            <a:off x="868680" y="5571461"/>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Gold / Silver / Bronze</a:t>
            </a:r>
            <a:endParaRPr lang="en-US" sz="1450" dirty="0"/>
          </a:p>
        </p:txBody>
      </p:sp>
      <p:sp>
        <p:nvSpPr>
          <p:cNvPr id="38" name="Text 36"/>
          <p:cNvSpPr/>
          <p:nvPr/>
        </p:nvSpPr>
        <p:spPr>
          <a:xfrm>
            <a:off x="658368" y="5955509"/>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Prioritisation model that turns </a:t>
            </a:r>
            <a:r>
              <a:rPr lang="en-US" sz="1020" b="1" dirty="0">
                <a:solidFill>
                  <a:srgbClr val="0A1A2F"/>
                </a:solidFill>
                <a:latin typeface="Calibri" pitchFamily="34" charset="0"/>
                <a:ea typeface="Calibri" pitchFamily="34" charset="-122"/>
                <a:cs typeface="Calibri" pitchFamily="34" charset="-120"/>
              </a:rPr>
              <a:t>demand into a portfolio decision</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39" name="Shape 37"/>
          <p:cNvSpPr/>
          <p:nvPr/>
        </p:nvSpPr>
        <p:spPr>
          <a:xfrm>
            <a:off x="3922776" y="5498309"/>
            <a:ext cx="3300984" cy="914400"/>
          </a:xfrm>
          <a:prstGeom prst="rect">
            <a:avLst/>
          </a:prstGeom>
          <a:solidFill>
            <a:srgbClr val="FFFFFF"/>
          </a:solidFill>
          <a:ln w="9525">
            <a:solidFill>
              <a:srgbClr val="E5E7EB"/>
            </a:solidFill>
            <a:prstDash val="solid"/>
          </a:ln>
        </p:spPr>
        <p:txBody>
          <a:bodyPr/>
          <a:lstStyle/>
          <a:p>
            <a:endParaRPr lang="en-SE"/>
          </a:p>
        </p:txBody>
      </p:sp>
      <p:sp>
        <p:nvSpPr>
          <p:cNvPr id="40" name="Shape 38"/>
          <p:cNvSpPr/>
          <p:nvPr/>
        </p:nvSpPr>
        <p:spPr>
          <a:xfrm>
            <a:off x="3922776" y="5498309"/>
            <a:ext cx="91440" cy="914400"/>
          </a:xfrm>
          <a:prstGeom prst="rect">
            <a:avLst/>
          </a:prstGeom>
          <a:solidFill>
            <a:srgbClr val="F59E0B"/>
          </a:solidFill>
          <a:ln/>
        </p:spPr>
        <p:txBody>
          <a:bodyPr/>
          <a:lstStyle/>
          <a:p>
            <a:endParaRPr lang="en-SE"/>
          </a:p>
        </p:txBody>
      </p:sp>
      <p:sp>
        <p:nvSpPr>
          <p:cNvPr id="41" name="Shape 39"/>
          <p:cNvSpPr/>
          <p:nvPr/>
        </p:nvSpPr>
        <p:spPr>
          <a:xfrm>
            <a:off x="4123944" y="5662901"/>
            <a:ext cx="146304" cy="146304"/>
          </a:xfrm>
          <a:prstGeom prst="ellipse">
            <a:avLst/>
          </a:prstGeom>
          <a:solidFill>
            <a:srgbClr val="F59E0B"/>
          </a:solidFill>
          <a:ln/>
        </p:spPr>
        <p:txBody>
          <a:bodyPr/>
          <a:lstStyle/>
          <a:p>
            <a:endParaRPr lang="en-SE"/>
          </a:p>
        </p:txBody>
      </p:sp>
      <p:sp>
        <p:nvSpPr>
          <p:cNvPr id="42" name="Text 40"/>
          <p:cNvSpPr/>
          <p:nvPr/>
        </p:nvSpPr>
        <p:spPr>
          <a:xfrm>
            <a:off x="4334256" y="5571461"/>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Steering Committee Week</a:t>
            </a:r>
            <a:endParaRPr lang="en-US" sz="1450" dirty="0"/>
          </a:p>
        </p:txBody>
      </p:sp>
      <p:sp>
        <p:nvSpPr>
          <p:cNvPr id="43" name="Text 41"/>
          <p:cNvSpPr/>
          <p:nvPr/>
        </p:nvSpPr>
        <p:spPr>
          <a:xfrm>
            <a:off x="4123944" y="5955509"/>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Cadenced governance forum sponsored by </a:t>
            </a:r>
            <a:r>
              <a:rPr lang="en-US" sz="1020" b="1" dirty="0">
                <a:solidFill>
                  <a:srgbClr val="0A1A2F"/>
                </a:solidFill>
                <a:latin typeface="Calibri" pitchFamily="34" charset="0"/>
                <a:ea typeface="Calibri" pitchFamily="34" charset="-122"/>
                <a:cs typeface="Calibri" pitchFamily="34" charset="-120"/>
              </a:rPr>
              <a:t>CEO and CFO</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44" name="Shape 42"/>
          <p:cNvSpPr/>
          <p:nvPr/>
        </p:nvSpPr>
        <p:spPr>
          <a:xfrm>
            <a:off x="7406640" y="1691640"/>
            <a:ext cx="4370832" cy="1115568"/>
          </a:xfrm>
          <a:prstGeom prst="rect">
            <a:avLst/>
          </a:prstGeom>
          <a:solidFill>
            <a:srgbClr val="FFFFFF"/>
          </a:solidFill>
          <a:ln w="9525">
            <a:solidFill>
              <a:srgbClr val="E5E7EB"/>
            </a:solidFill>
            <a:prstDash val="solid"/>
          </a:ln>
        </p:spPr>
        <p:txBody>
          <a:bodyPr/>
          <a:lstStyle/>
          <a:p>
            <a:endParaRPr lang="en-SE"/>
          </a:p>
        </p:txBody>
      </p:sp>
      <p:sp>
        <p:nvSpPr>
          <p:cNvPr id="45" name="Shape 43"/>
          <p:cNvSpPr/>
          <p:nvPr/>
        </p:nvSpPr>
        <p:spPr>
          <a:xfrm>
            <a:off x="7406640" y="1691640"/>
            <a:ext cx="4370832" cy="329184"/>
          </a:xfrm>
          <a:prstGeom prst="rect">
            <a:avLst/>
          </a:prstGeom>
          <a:solidFill>
            <a:srgbClr val="0A1A2F"/>
          </a:solidFill>
          <a:ln/>
        </p:spPr>
        <p:txBody>
          <a:bodyPr/>
          <a:lstStyle/>
          <a:p>
            <a:endParaRPr lang="en-SE"/>
          </a:p>
        </p:txBody>
      </p:sp>
      <p:sp>
        <p:nvSpPr>
          <p:cNvPr id="46" name="Shape 44"/>
          <p:cNvSpPr/>
          <p:nvPr/>
        </p:nvSpPr>
        <p:spPr>
          <a:xfrm>
            <a:off x="7406640" y="1691640"/>
            <a:ext cx="73152" cy="329184"/>
          </a:xfrm>
          <a:prstGeom prst="rect">
            <a:avLst/>
          </a:prstGeom>
          <a:solidFill>
            <a:srgbClr val="2DD4BF"/>
          </a:solidFill>
          <a:ln/>
        </p:spPr>
        <p:txBody>
          <a:bodyPr/>
          <a:lstStyle/>
          <a:p>
            <a:endParaRPr lang="en-SE"/>
          </a:p>
        </p:txBody>
      </p:sp>
      <p:sp>
        <p:nvSpPr>
          <p:cNvPr id="47" name="Text 45"/>
          <p:cNvSpPr/>
          <p:nvPr/>
        </p:nvSpPr>
        <p:spPr>
          <a:xfrm>
            <a:off x="7589520" y="1691640"/>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TECHNOLOGY</a:t>
            </a:r>
            <a:endParaRPr lang="en-US" sz="1050" dirty="0"/>
          </a:p>
        </p:txBody>
      </p:sp>
      <p:sp>
        <p:nvSpPr>
          <p:cNvPr id="48" name="Text 46"/>
          <p:cNvSpPr/>
          <p:nvPr/>
        </p:nvSpPr>
        <p:spPr>
          <a:xfrm>
            <a:off x="7571232" y="2024968"/>
            <a:ext cx="4096512" cy="612648"/>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PMO platform &amp; demand management tooling</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Portfolio dashboards integrated with finance reporting</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Lifecycle templates — stage-gates, RAID, benefits tracking</a:t>
            </a:r>
            <a:endParaRPr lang="en-US" sz="1000" dirty="0"/>
          </a:p>
        </p:txBody>
      </p:sp>
      <p:sp>
        <p:nvSpPr>
          <p:cNvPr id="49" name="Shape 47"/>
          <p:cNvSpPr/>
          <p:nvPr/>
        </p:nvSpPr>
        <p:spPr>
          <a:xfrm>
            <a:off x="7406640" y="2954548"/>
            <a:ext cx="4370832" cy="1033272"/>
          </a:xfrm>
          <a:prstGeom prst="rect">
            <a:avLst/>
          </a:prstGeom>
          <a:solidFill>
            <a:srgbClr val="FFFFFF"/>
          </a:solidFill>
          <a:ln w="9525">
            <a:solidFill>
              <a:srgbClr val="E5E7EB"/>
            </a:solidFill>
            <a:prstDash val="solid"/>
          </a:ln>
        </p:spPr>
        <p:txBody>
          <a:bodyPr/>
          <a:lstStyle/>
          <a:p>
            <a:endParaRPr lang="en-SE"/>
          </a:p>
        </p:txBody>
      </p:sp>
      <p:sp>
        <p:nvSpPr>
          <p:cNvPr id="50" name="Shape 48"/>
          <p:cNvSpPr/>
          <p:nvPr/>
        </p:nvSpPr>
        <p:spPr>
          <a:xfrm>
            <a:off x="7406640" y="2954548"/>
            <a:ext cx="4370832" cy="329184"/>
          </a:xfrm>
          <a:prstGeom prst="rect">
            <a:avLst/>
          </a:prstGeom>
          <a:solidFill>
            <a:srgbClr val="0A1A2F"/>
          </a:solidFill>
          <a:ln/>
        </p:spPr>
        <p:txBody>
          <a:bodyPr/>
          <a:lstStyle/>
          <a:p>
            <a:endParaRPr lang="en-SE"/>
          </a:p>
        </p:txBody>
      </p:sp>
      <p:sp>
        <p:nvSpPr>
          <p:cNvPr id="51" name="Shape 49"/>
          <p:cNvSpPr/>
          <p:nvPr/>
        </p:nvSpPr>
        <p:spPr>
          <a:xfrm>
            <a:off x="7406640" y="2954548"/>
            <a:ext cx="73152" cy="329184"/>
          </a:xfrm>
          <a:prstGeom prst="rect">
            <a:avLst/>
          </a:prstGeom>
          <a:solidFill>
            <a:srgbClr val="2DD4BF"/>
          </a:solidFill>
          <a:ln/>
        </p:spPr>
        <p:txBody>
          <a:bodyPr/>
          <a:lstStyle/>
          <a:p>
            <a:endParaRPr lang="en-SE"/>
          </a:p>
        </p:txBody>
      </p:sp>
      <p:sp>
        <p:nvSpPr>
          <p:cNvPr id="52" name="Text 50"/>
          <p:cNvSpPr/>
          <p:nvPr/>
        </p:nvSpPr>
        <p:spPr>
          <a:xfrm>
            <a:off x="7589520" y="2954548"/>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BUSINESS  SPECTRUM</a:t>
            </a:r>
            <a:endParaRPr lang="en-US" sz="1050" dirty="0"/>
          </a:p>
        </p:txBody>
      </p:sp>
      <p:sp>
        <p:nvSpPr>
          <p:cNvPr id="53" name="Text 51"/>
          <p:cNvSpPr/>
          <p:nvPr/>
        </p:nvSpPr>
        <p:spPr>
          <a:xfrm>
            <a:off x="7571232" y="3287876"/>
            <a:ext cx="4096512" cy="713232"/>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Cross-functional: brand, supply, sales, finance, IT, sustainability</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From siloed initiatives to enterprise portfolio steering</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Direct line of sight to strategic objectives and budget</a:t>
            </a:r>
            <a:endParaRPr lang="en-US" sz="1000" dirty="0"/>
          </a:p>
        </p:txBody>
      </p:sp>
      <p:sp>
        <p:nvSpPr>
          <p:cNvPr id="54" name="Shape 52"/>
          <p:cNvSpPr/>
          <p:nvPr/>
        </p:nvSpPr>
        <p:spPr>
          <a:xfrm>
            <a:off x="7406640" y="4148448"/>
            <a:ext cx="4370832" cy="1046560"/>
          </a:xfrm>
          <a:prstGeom prst="rect">
            <a:avLst/>
          </a:prstGeom>
          <a:solidFill>
            <a:srgbClr val="FFFFFF"/>
          </a:solidFill>
          <a:ln w="9525">
            <a:solidFill>
              <a:srgbClr val="E5E7EB"/>
            </a:solidFill>
            <a:prstDash val="solid"/>
          </a:ln>
        </p:spPr>
        <p:txBody>
          <a:bodyPr/>
          <a:lstStyle/>
          <a:p>
            <a:endParaRPr lang="en-SE"/>
          </a:p>
        </p:txBody>
      </p:sp>
      <p:sp>
        <p:nvSpPr>
          <p:cNvPr id="55" name="Shape 53"/>
          <p:cNvSpPr/>
          <p:nvPr/>
        </p:nvSpPr>
        <p:spPr>
          <a:xfrm>
            <a:off x="7406640" y="4148448"/>
            <a:ext cx="4370832" cy="329184"/>
          </a:xfrm>
          <a:prstGeom prst="rect">
            <a:avLst/>
          </a:prstGeom>
          <a:solidFill>
            <a:srgbClr val="0A1A2F"/>
          </a:solidFill>
          <a:ln/>
        </p:spPr>
        <p:txBody>
          <a:bodyPr/>
          <a:lstStyle/>
          <a:p>
            <a:endParaRPr lang="en-SE"/>
          </a:p>
        </p:txBody>
      </p:sp>
      <p:sp>
        <p:nvSpPr>
          <p:cNvPr id="56" name="Shape 54"/>
          <p:cNvSpPr/>
          <p:nvPr/>
        </p:nvSpPr>
        <p:spPr>
          <a:xfrm>
            <a:off x="7406640" y="4131196"/>
            <a:ext cx="73152" cy="329184"/>
          </a:xfrm>
          <a:prstGeom prst="rect">
            <a:avLst/>
          </a:prstGeom>
          <a:solidFill>
            <a:srgbClr val="2DD4BF"/>
          </a:solidFill>
          <a:ln/>
        </p:spPr>
        <p:txBody>
          <a:bodyPr/>
          <a:lstStyle/>
          <a:p>
            <a:endParaRPr lang="en-SE"/>
          </a:p>
        </p:txBody>
      </p:sp>
      <p:sp>
        <p:nvSpPr>
          <p:cNvPr id="57" name="Text 55"/>
          <p:cNvSpPr/>
          <p:nvPr/>
        </p:nvSpPr>
        <p:spPr>
          <a:xfrm>
            <a:off x="7589520" y="4148448"/>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LEADERSHIP  EVOLUTION</a:t>
            </a:r>
            <a:endParaRPr lang="en-US" sz="1050" dirty="0"/>
          </a:p>
        </p:txBody>
      </p:sp>
      <p:sp>
        <p:nvSpPr>
          <p:cNvPr id="58" name="Text 56"/>
          <p:cNvSpPr/>
          <p:nvPr/>
        </p:nvSpPr>
        <p:spPr>
          <a:xfrm>
            <a:off x="7571232" y="4481776"/>
            <a:ext cx="4096512" cy="713232"/>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Built the function and the framework — not just inherited</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Reported into and partnered with CEO and CFO directly</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Coached project sponsors and leadership on portfolio thinking</a:t>
            </a:r>
            <a:endParaRPr lang="en-US" sz="1000" dirty="0"/>
          </a:p>
        </p:txBody>
      </p:sp>
      <p:sp>
        <p:nvSpPr>
          <p:cNvPr id="59" name="Shape 57"/>
          <p:cNvSpPr/>
          <p:nvPr/>
        </p:nvSpPr>
        <p:spPr>
          <a:xfrm>
            <a:off x="7406640" y="5359594"/>
            <a:ext cx="4370832" cy="1046560"/>
          </a:xfrm>
          <a:prstGeom prst="rect">
            <a:avLst/>
          </a:prstGeom>
          <a:solidFill>
            <a:srgbClr val="FFFFFF"/>
          </a:solidFill>
          <a:ln w="9525">
            <a:solidFill>
              <a:srgbClr val="E5E7EB"/>
            </a:solidFill>
            <a:prstDash val="solid"/>
          </a:ln>
        </p:spPr>
        <p:txBody>
          <a:bodyPr/>
          <a:lstStyle/>
          <a:p>
            <a:endParaRPr lang="en-SE"/>
          </a:p>
        </p:txBody>
      </p:sp>
      <p:sp>
        <p:nvSpPr>
          <p:cNvPr id="60" name="Shape 58"/>
          <p:cNvSpPr/>
          <p:nvPr/>
        </p:nvSpPr>
        <p:spPr>
          <a:xfrm>
            <a:off x="7406640" y="5359594"/>
            <a:ext cx="4370832" cy="329184"/>
          </a:xfrm>
          <a:prstGeom prst="rect">
            <a:avLst/>
          </a:prstGeom>
          <a:solidFill>
            <a:srgbClr val="0A1A2F"/>
          </a:solidFill>
          <a:ln/>
        </p:spPr>
        <p:txBody>
          <a:bodyPr/>
          <a:lstStyle/>
          <a:p>
            <a:endParaRPr lang="en-SE"/>
          </a:p>
        </p:txBody>
      </p:sp>
      <p:sp>
        <p:nvSpPr>
          <p:cNvPr id="61" name="Shape 59"/>
          <p:cNvSpPr/>
          <p:nvPr/>
        </p:nvSpPr>
        <p:spPr>
          <a:xfrm>
            <a:off x="7406640" y="5342342"/>
            <a:ext cx="73152" cy="329184"/>
          </a:xfrm>
          <a:prstGeom prst="rect">
            <a:avLst/>
          </a:prstGeom>
          <a:solidFill>
            <a:srgbClr val="2DD4BF"/>
          </a:solidFill>
          <a:ln/>
        </p:spPr>
        <p:txBody>
          <a:bodyPr/>
          <a:lstStyle/>
          <a:p>
            <a:endParaRPr lang="en-SE"/>
          </a:p>
        </p:txBody>
      </p:sp>
      <p:sp>
        <p:nvSpPr>
          <p:cNvPr id="62" name="Text 60"/>
          <p:cNvSpPr/>
          <p:nvPr/>
        </p:nvSpPr>
        <p:spPr>
          <a:xfrm>
            <a:off x="7589520" y="5359594"/>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KEY  STAKEHOLDERS</a:t>
            </a:r>
            <a:endParaRPr lang="en-US" sz="1050" dirty="0"/>
          </a:p>
        </p:txBody>
      </p:sp>
      <p:sp>
        <p:nvSpPr>
          <p:cNvPr id="63" name="Text 61"/>
          <p:cNvSpPr/>
          <p:nvPr/>
        </p:nvSpPr>
        <p:spPr>
          <a:xfrm>
            <a:off x="7571232" y="5692922"/>
            <a:ext cx="4096512" cy="713232"/>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CEO and CFO of The Absolut Group (direct sponsors)</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Executive Committee — brand, supply, sales, sustainability</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Project sponsors and 100+ project leads across functions</a:t>
            </a:r>
            <a:endParaRPr lang="en-US" sz="1000" dirty="0"/>
          </a:p>
        </p:txBody>
      </p:sp>
      <p:sp>
        <p:nvSpPr>
          <p:cNvPr id="64" name="Shape 62"/>
          <p:cNvSpPr/>
          <p:nvPr/>
        </p:nvSpPr>
        <p:spPr>
          <a:xfrm>
            <a:off x="457200" y="6547104"/>
            <a:ext cx="11274552" cy="0"/>
          </a:xfrm>
          <a:prstGeom prst="line">
            <a:avLst/>
          </a:prstGeom>
          <a:noFill/>
          <a:ln w="9525">
            <a:solidFill>
              <a:srgbClr val="E5E7EB"/>
            </a:solidFill>
            <a:prstDash val="solid"/>
          </a:ln>
        </p:spPr>
        <p:txBody>
          <a:bodyPr/>
          <a:lstStyle/>
          <a:p>
            <a:endParaRPr lang="en-SE"/>
          </a:p>
        </p:txBody>
      </p:sp>
      <p:sp>
        <p:nvSpPr>
          <p:cNvPr id="65" name="Text 63"/>
          <p:cNvSpPr/>
          <p:nvPr/>
        </p:nvSpPr>
        <p:spPr>
          <a:xfrm>
            <a:off x="457200" y="6592824"/>
            <a:ext cx="7315200" cy="201168"/>
          </a:xfrm>
          <a:prstGeom prst="rect">
            <a:avLst/>
          </a:prstGeom>
          <a:noFill/>
          <a:ln/>
        </p:spPr>
        <p:txBody>
          <a:bodyPr wrap="square" lIns="0" tIns="0" rIns="0" bIns="0" rtlCol="0" anchor="ctr"/>
          <a:lstStyle/>
          <a:p>
            <a:pPr marL="0" indent="0">
              <a:buNone/>
            </a:pPr>
            <a:r>
              <a:rPr lang="en-US" sz="850" b="1" kern="0" spc="400" dirty="0">
                <a:solidFill>
                  <a:srgbClr val="6B7280"/>
                </a:solidFill>
                <a:latin typeface="Calibri" pitchFamily="34" charset="0"/>
                <a:ea typeface="Calibri" pitchFamily="34" charset="-122"/>
                <a:cs typeface="Calibri" pitchFamily="34" charset="-120"/>
              </a:rPr>
              <a:t>GAUTHIER VAN WENT  ·  EXECUTIVE PROFILE</a:t>
            </a:r>
            <a:endParaRPr lang="en-US" sz="850" dirty="0"/>
          </a:p>
        </p:txBody>
      </p:sp>
      <p:sp>
        <p:nvSpPr>
          <p:cNvPr id="66" name="Text 64"/>
          <p:cNvSpPr/>
          <p:nvPr/>
        </p:nvSpPr>
        <p:spPr>
          <a:xfrm>
            <a:off x="8229600" y="6592824"/>
            <a:ext cx="3502152" cy="201168"/>
          </a:xfrm>
          <a:prstGeom prst="rect">
            <a:avLst/>
          </a:prstGeom>
          <a:noFill/>
          <a:ln/>
        </p:spPr>
        <p:txBody>
          <a:bodyPr wrap="square" lIns="0" tIns="0" rIns="0" bIns="0" rtlCol="0" anchor="ctr"/>
          <a:lstStyle/>
          <a:p>
            <a:pPr marL="0" indent="0" algn="r">
              <a:buNone/>
            </a:pPr>
            <a:r>
              <a:rPr lang="en-US" sz="850" b="1" kern="0" spc="400" dirty="0">
                <a:solidFill>
                  <a:srgbClr val="14B8A6"/>
                </a:solidFill>
                <a:latin typeface="Calibri" pitchFamily="34" charset="0"/>
                <a:ea typeface="Calibri" pitchFamily="34" charset="-122"/>
                <a:cs typeface="Calibri" pitchFamily="34" charset="-120"/>
              </a:rPr>
              <a:t>05  /  10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0"/>
          </a:xfrm>
          <a:prstGeom prst="rect">
            <a:avLst/>
          </a:prstGeom>
          <a:solidFill>
            <a:srgbClr val="0A1A2F"/>
          </a:solidFill>
          <a:ln/>
        </p:spPr>
        <p:txBody>
          <a:bodyPr/>
          <a:lstStyle/>
          <a:p>
            <a:endParaRPr lang="en-SE"/>
          </a:p>
        </p:txBody>
      </p:sp>
      <p:sp>
        <p:nvSpPr>
          <p:cNvPr id="3" name="Shape 1"/>
          <p:cNvSpPr/>
          <p:nvPr/>
        </p:nvSpPr>
        <p:spPr>
          <a:xfrm>
            <a:off x="0" y="1463040"/>
            <a:ext cx="12188952" cy="54864"/>
          </a:xfrm>
          <a:prstGeom prst="rect">
            <a:avLst/>
          </a:prstGeom>
          <a:solidFill>
            <a:srgbClr val="2DD4BF"/>
          </a:solidFill>
          <a:ln/>
        </p:spPr>
        <p:txBody>
          <a:bodyPr/>
          <a:lstStyle/>
          <a:p>
            <a:endParaRPr lang="en-SE"/>
          </a:p>
        </p:txBody>
      </p:sp>
      <p:sp>
        <p:nvSpPr>
          <p:cNvPr id="4" name="Shape 2"/>
          <p:cNvSpPr/>
          <p:nvPr/>
        </p:nvSpPr>
        <p:spPr>
          <a:xfrm>
            <a:off x="0" y="0"/>
            <a:ext cx="91440" cy="1463040"/>
          </a:xfrm>
          <a:prstGeom prst="rect">
            <a:avLst/>
          </a:prstGeom>
          <a:solidFill>
            <a:srgbClr val="F59E0B"/>
          </a:solidFill>
          <a:ln/>
        </p:spPr>
        <p:txBody>
          <a:bodyPr/>
          <a:lstStyle/>
          <a:p>
            <a:endParaRPr lang="en-SE"/>
          </a:p>
        </p:txBody>
      </p:sp>
      <p:sp>
        <p:nvSpPr>
          <p:cNvPr id="5" name="Shape 3"/>
          <p:cNvSpPr/>
          <p:nvPr/>
        </p:nvSpPr>
        <p:spPr>
          <a:xfrm>
            <a:off x="457200" y="365760"/>
            <a:ext cx="2011680" cy="384048"/>
          </a:xfrm>
          <a:prstGeom prst="roundRect">
            <a:avLst>
              <a:gd name="adj" fmla="val 19048"/>
            </a:avLst>
          </a:prstGeom>
          <a:solidFill>
            <a:srgbClr val="2DD4BF"/>
          </a:solidFill>
          <a:ln/>
        </p:spPr>
        <p:txBody>
          <a:bodyPr/>
          <a:lstStyle/>
          <a:p>
            <a:endParaRPr lang="en-SE"/>
          </a:p>
        </p:txBody>
      </p:sp>
      <p:sp>
        <p:nvSpPr>
          <p:cNvPr id="6" name="Text 4"/>
          <p:cNvSpPr/>
          <p:nvPr/>
        </p:nvSpPr>
        <p:spPr>
          <a:xfrm>
            <a:off x="457200" y="365760"/>
            <a:ext cx="2011680" cy="384048"/>
          </a:xfrm>
          <a:prstGeom prst="rect">
            <a:avLst/>
          </a:prstGeom>
          <a:noFill/>
          <a:ln/>
        </p:spPr>
        <p:txBody>
          <a:bodyPr wrap="square" lIns="0" tIns="0" rIns="0" bIns="0" rtlCol="0" anchor="ctr"/>
          <a:lstStyle/>
          <a:p>
            <a:pPr marL="0" indent="0" algn="ctr">
              <a:buNone/>
            </a:pPr>
            <a:r>
              <a:rPr lang="en-US" sz="1100" b="1" kern="0" spc="300" dirty="0">
                <a:solidFill>
                  <a:srgbClr val="0A1A2F"/>
                </a:solidFill>
                <a:latin typeface="Calibri" pitchFamily="34" charset="0"/>
                <a:ea typeface="Calibri" pitchFamily="34" charset="-122"/>
                <a:cs typeface="Calibri" pitchFamily="34" charset="-120"/>
              </a:rPr>
              <a:t>2020 – 2022</a:t>
            </a:r>
            <a:endParaRPr lang="en-US" sz="1100" dirty="0"/>
          </a:p>
        </p:txBody>
      </p:sp>
      <p:sp>
        <p:nvSpPr>
          <p:cNvPr id="7" name="Text 5"/>
          <p:cNvSpPr/>
          <p:nvPr/>
        </p:nvSpPr>
        <p:spPr>
          <a:xfrm>
            <a:off x="9601200" y="411480"/>
            <a:ext cx="2194560" cy="292608"/>
          </a:xfrm>
          <a:prstGeom prst="rect">
            <a:avLst/>
          </a:prstGeom>
          <a:noFill/>
          <a:ln/>
        </p:spPr>
        <p:txBody>
          <a:bodyPr wrap="square" lIns="0" tIns="0" rIns="0" bIns="0" rtlCol="0" anchor="ctr"/>
          <a:lstStyle/>
          <a:p>
            <a:pPr marL="0" indent="0" algn="r">
              <a:buNone/>
            </a:pPr>
            <a:r>
              <a:rPr lang="en-US" sz="1000" b="1" kern="0" spc="400" dirty="0">
                <a:solidFill>
                  <a:srgbClr val="F59E0B"/>
                </a:solidFill>
                <a:latin typeface="Calibri" pitchFamily="34" charset="0"/>
                <a:ea typeface="Calibri" pitchFamily="34" charset="-122"/>
                <a:cs typeface="Calibri" pitchFamily="34" charset="-120"/>
              </a:rPr>
              <a:t>ROLE 4  /  7</a:t>
            </a:r>
            <a:endParaRPr lang="en-US" sz="1000" dirty="0"/>
          </a:p>
        </p:txBody>
      </p:sp>
      <p:sp>
        <p:nvSpPr>
          <p:cNvPr id="8" name="Text 6"/>
          <p:cNvSpPr/>
          <p:nvPr/>
        </p:nvSpPr>
        <p:spPr>
          <a:xfrm>
            <a:off x="457200" y="841248"/>
            <a:ext cx="11274552"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Regional Head of Data — Brand Companies</a:t>
            </a:r>
            <a:endParaRPr lang="en-US" sz="2600" dirty="0"/>
          </a:p>
        </p:txBody>
      </p:sp>
      <p:sp>
        <p:nvSpPr>
          <p:cNvPr id="9" name="Text 7"/>
          <p:cNvSpPr/>
          <p:nvPr/>
        </p:nvSpPr>
        <p:spPr>
          <a:xfrm>
            <a:off x="457200" y="1207008"/>
            <a:ext cx="11274552" cy="274320"/>
          </a:xfrm>
          <a:prstGeom prst="rect">
            <a:avLst/>
          </a:prstGeom>
          <a:noFill/>
          <a:ln/>
        </p:spPr>
        <p:txBody>
          <a:bodyPr wrap="square" lIns="0" tIns="0" rIns="0" bIns="0" rtlCol="0" anchor="ctr"/>
          <a:lstStyle/>
          <a:p>
            <a:pPr marL="0" indent="0">
              <a:buNone/>
            </a:pPr>
            <a:r>
              <a:rPr lang="en-US" sz="1150" dirty="0">
                <a:solidFill>
                  <a:srgbClr val="B6CFE6"/>
                </a:solidFill>
                <a:latin typeface="Calibri" pitchFamily="34" charset="0"/>
                <a:ea typeface="Calibri" pitchFamily="34" charset="-122"/>
                <a:cs typeface="Calibri" pitchFamily="34" charset="-120"/>
              </a:rPr>
              <a:t>PERNOD RICARD  ·  Absolut · Chivas · Irish Distillers</a:t>
            </a:r>
            <a:endParaRPr lang="en-US" sz="1150" dirty="0"/>
          </a:p>
        </p:txBody>
      </p:sp>
      <p:sp>
        <p:nvSpPr>
          <p:cNvPr id="10" name="Text 8"/>
          <p:cNvSpPr/>
          <p:nvPr/>
        </p:nvSpPr>
        <p:spPr>
          <a:xfrm>
            <a:off x="457200" y="1691640"/>
            <a:ext cx="6766560" cy="274320"/>
          </a:xfrm>
          <a:prstGeom prst="rect">
            <a:avLst/>
          </a:prstGeom>
          <a:noFill/>
          <a:ln/>
        </p:spPr>
        <p:txBody>
          <a:bodyPr wrap="square" lIns="0" tIns="0" rIns="0" bIns="0" rtlCol="0" anchor="ctr"/>
          <a:lstStyle/>
          <a:p>
            <a:pPr marL="0" indent="0">
              <a:buNone/>
            </a:pPr>
            <a:r>
              <a:rPr lang="en-US" sz="1400" b="1" kern="0" spc="500" dirty="0">
                <a:solidFill>
                  <a:srgbClr val="14B8A6"/>
                </a:solidFill>
                <a:latin typeface="Calibri" pitchFamily="34" charset="0"/>
                <a:ea typeface="Calibri" pitchFamily="34" charset="-122"/>
                <a:cs typeface="Calibri" pitchFamily="34" charset="-120"/>
              </a:rPr>
              <a:t>ROLE  OVERVIEW</a:t>
            </a:r>
            <a:endParaRPr lang="en-US" sz="1400" dirty="0"/>
          </a:p>
        </p:txBody>
      </p:sp>
      <p:sp>
        <p:nvSpPr>
          <p:cNvPr id="11" name="Text 9"/>
          <p:cNvSpPr/>
          <p:nvPr/>
        </p:nvSpPr>
        <p:spPr>
          <a:xfrm>
            <a:off x="457200" y="1965960"/>
            <a:ext cx="6766560" cy="1371600"/>
          </a:xfrm>
          <a:prstGeom prst="rect">
            <a:avLst/>
          </a:prstGeom>
          <a:noFill/>
          <a:ln/>
        </p:spPr>
        <p:txBody>
          <a:bodyPr wrap="square" lIns="0" tIns="0" rIns="0" bIns="0" rtlCol="0" anchor="t"/>
          <a:lstStyle/>
          <a:p>
            <a:pPr marL="0" indent="0">
              <a:spcAft>
                <a:spcPts val="400"/>
              </a:spcAft>
              <a:buNone/>
            </a:pPr>
            <a:r>
              <a:rPr lang="en-US" sz="1400" dirty="0">
                <a:solidFill>
                  <a:srgbClr val="111827"/>
                </a:solidFill>
                <a:latin typeface="Calibri" pitchFamily="34" charset="0"/>
                <a:ea typeface="Calibri" pitchFamily="34" charset="-122"/>
                <a:cs typeface="Calibri" pitchFamily="34" charset="-120"/>
              </a:rPr>
              <a:t>Built the </a:t>
            </a:r>
            <a:r>
              <a:rPr lang="en-US" sz="1400" b="1" dirty="0">
                <a:solidFill>
                  <a:srgbClr val="111827"/>
                </a:solidFill>
                <a:latin typeface="Calibri" pitchFamily="34" charset="0"/>
                <a:ea typeface="Calibri" pitchFamily="34" charset="-122"/>
                <a:cs typeface="Calibri" pitchFamily="34" charset="-120"/>
              </a:rPr>
              <a:t>BI &amp; Data function </a:t>
            </a:r>
            <a:r>
              <a:rPr lang="en-US" sz="1400" dirty="0">
                <a:solidFill>
                  <a:srgbClr val="111827"/>
                </a:solidFill>
                <a:latin typeface="Calibri" pitchFamily="34" charset="0"/>
                <a:ea typeface="Calibri" pitchFamily="34" charset="-122"/>
                <a:cs typeface="Calibri" pitchFamily="34" charset="-120"/>
              </a:rPr>
              <a:t>for three flagship </a:t>
            </a:r>
            <a:r>
              <a:rPr lang="en-US" sz="1400" b="1" dirty="0">
                <a:solidFill>
                  <a:srgbClr val="111827"/>
                </a:solidFill>
                <a:latin typeface="Calibri" pitchFamily="34" charset="0"/>
                <a:ea typeface="Calibri" pitchFamily="34" charset="-122"/>
                <a:cs typeface="Calibri" pitchFamily="34" charset="-120"/>
              </a:rPr>
              <a:t>Brand Companies of Pernod Ricard </a:t>
            </a:r>
            <a:r>
              <a:rPr lang="en-US" sz="1400" dirty="0">
                <a:solidFill>
                  <a:srgbClr val="111827"/>
                </a:solidFill>
                <a:latin typeface="Calibri" pitchFamily="34" charset="0"/>
                <a:ea typeface="Calibri" pitchFamily="34" charset="-122"/>
                <a:cs typeface="Calibri" pitchFamily="34" charset="-120"/>
              </a:rPr>
              <a:t>(Absolut, Chivas, Irish Distillers) and led their migration to a modern </a:t>
            </a:r>
            <a:r>
              <a:rPr lang="en-US" sz="1400" b="1" dirty="0">
                <a:solidFill>
                  <a:srgbClr val="111827"/>
                </a:solidFill>
                <a:latin typeface="Calibri" pitchFamily="34" charset="0"/>
                <a:ea typeface="Calibri" pitchFamily="34" charset="-122"/>
                <a:cs typeface="Calibri" pitchFamily="34" charset="-120"/>
              </a:rPr>
              <a:t>Azure data platform</a:t>
            </a:r>
            <a:r>
              <a:rPr lang="en-US" sz="1400" dirty="0">
                <a:solidFill>
                  <a:srgbClr val="111827"/>
                </a:solidFill>
                <a:latin typeface="Calibri" pitchFamily="34" charset="0"/>
                <a:ea typeface="Calibri" pitchFamily="34" charset="-122"/>
                <a:cs typeface="Calibri" pitchFamily="34" charset="-120"/>
              </a:rPr>
              <a:t>. Consolidated a fragmented BI landscape into a </a:t>
            </a:r>
            <a:r>
              <a:rPr lang="en-US" sz="1400" b="1" dirty="0">
                <a:solidFill>
                  <a:srgbClr val="111827"/>
                </a:solidFill>
                <a:latin typeface="Calibri" pitchFamily="34" charset="0"/>
                <a:ea typeface="Calibri" pitchFamily="34" charset="-122"/>
                <a:cs typeface="Calibri" pitchFamily="34" charset="-120"/>
              </a:rPr>
              <a:t>uniformed platform</a:t>
            </a:r>
            <a:r>
              <a:rPr lang="en-US" sz="1400" dirty="0">
                <a:solidFill>
                  <a:srgbClr val="111827"/>
                </a:solidFill>
                <a:latin typeface="Calibri" pitchFamily="34" charset="0"/>
                <a:ea typeface="Calibri" pitchFamily="34" charset="-122"/>
                <a:cs typeface="Calibri" pitchFamily="34" charset="-120"/>
              </a:rPr>
              <a:t>, a </a:t>
            </a:r>
            <a:r>
              <a:rPr lang="en-US" sz="1400" b="1" dirty="0">
                <a:solidFill>
                  <a:srgbClr val="111827"/>
                </a:solidFill>
                <a:latin typeface="Calibri" pitchFamily="34" charset="0"/>
                <a:ea typeface="Calibri" pitchFamily="34" charset="-122"/>
                <a:cs typeface="Calibri" pitchFamily="34" charset="-120"/>
              </a:rPr>
              <a:t>single delivery model</a:t>
            </a:r>
            <a:r>
              <a:rPr lang="en-US" sz="1400" dirty="0">
                <a:solidFill>
                  <a:srgbClr val="111827"/>
                </a:solidFill>
                <a:latin typeface="Calibri" pitchFamily="34" charset="0"/>
                <a:ea typeface="Calibri" pitchFamily="34" charset="-122"/>
                <a:cs typeface="Calibri" pitchFamily="34" charset="-120"/>
              </a:rPr>
              <a:t>, with a center of excellence, DevOps pipelines, governed data and self-service consumption, setting the pattern later scaled at Group level.</a:t>
            </a:r>
            <a:endParaRPr lang="en-US" sz="1400" dirty="0"/>
          </a:p>
        </p:txBody>
      </p:sp>
      <p:sp>
        <p:nvSpPr>
          <p:cNvPr id="12" name="Shape 10"/>
          <p:cNvSpPr/>
          <p:nvPr/>
        </p:nvSpPr>
        <p:spPr>
          <a:xfrm>
            <a:off x="457200" y="3306681"/>
            <a:ext cx="146304" cy="146304"/>
          </a:xfrm>
          <a:prstGeom prst="ellipse">
            <a:avLst/>
          </a:prstGeom>
          <a:solidFill>
            <a:srgbClr val="F59E0B"/>
          </a:solidFill>
          <a:ln/>
        </p:spPr>
        <p:txBody>
          <a:bodyPr/>
          <a:lstStyle/>
          <a:p>
            <a:endParaRPr lang="en-SE"/>
          </a:p>
        </p:txBody>
      </p:sp>
      <p:sp>
        <p:nvSpPr>
          <p:cNvPr id="13" name="Text 11"/>
          <p:cNvSpPr/>
          <p:nvPr/>
        </p:nvSpPr>
        <p:spPr>
          <a:xfrm>
            <a:off x="658368" y="3242673"/>
            <a:ext cx="6565392" cy="274320"/>
          </a:xfrm>
          <a:prstGeom prst="rect">
            <a:avLst/>
          </a:prstGeom>
          <a:noFill/>
          <a:ln/>
        </p:spPr>
        <p:txBody>
          <a:bodyPr wrap="square" lIns="0" tIns="0" rIns="0" bIns="0" rtlCol="0" anchor="ctr"/>
          <a:lstStyle/>
          <a:p>
            <a:pPr marL="0" indent="0">
              <a:buNone/>
            </a:pPr>
            <a:r>
              <a:rPr lang="en-US" sz="1400" b="1" kern="0" spc="500" dirty="0">
                <a:solidFill>
                  <a:srgbClr val="D97706"/>
                </a:solidFill>
                <a:latin typeface="Calibri" pitchFamily="34" charset="0"/>
                <a:ea typeface="Calibri" pitchFamily="34" charset="-122"/>
                <a:cs typeface="Calibri" pitchFamily="34" charset="-120"/>
              </a:rPr>
              <a:t>KEY  ACCOMPLISHMENTS  ·  WITH  IMPACT</a:t>
            </a:r>
            <a:endParaRPr lang="en-US" sz="1400" dirty="0"/>
          </a:p>
        </p:txBody>
      </p:sp>
      <p:sp>
        <p:nvSpPr>
          <p:cNvPr id="14" name="Shape 12"/>
          <p:cNvSpPr/>
          <p:nvPr/>
        </p:nvSpPr>
        <p:spPr>
          <a:xfrm>
            <a:off x="457200" y="3553569"/>
            <a:ext cx="3300984" cy="914400"/>
          </a:xfrm>
          <a:prstGeom prst="rect">
            <a:avLst/>
          </a:prstGeom>
          <a:solidFill>
            <a:srgbClr val="FFFFFF"/>
          </a:solidFill>
          <a:ln w="9525">
            <a:solidFill>
              <a:srgbClr val="E5E7EB"/>
            </a:solidFill>
            <a:prstDash val="solid"/>
          </a:ln>
        </p:spPr>
        <p:txBody>
          <a:bodyPr/>
          <a:lstStyle/>
          <a:p>
            <a:endParaRPr lang="en-SE"/>
          </a:p>
        </p:txBody>
      </p:sp>
      <p:sp>
        <p:nvSpPr>
          <p:cNvPr id="15" name="Shape 13"/>
          <p:cNvSpPr/>
          <p:nvPr/>
        </p:nvSpPr>
        <p:spPr>
          <a:xfrm>
            <a:off x="457200" y="3553569"/>
            <a:ext cx="91440" cy="914400"/>
          </a:xfrm>
          <a:prstGeom prst="rect">
            <a:avLst/>
          </a:prstGeom>
          <a:solidFill>
            <a:srgbClr val="F59E0B"/>
          </a:solidFill>
          <a:ln/>
        </p:spPr>
        <p:txBody>
          <a:bodyPr/>
          <a:lstStyle/>
          <a:p>
            <a:endParaRPr lang="en-SE"/>
          </a:p>
        </p:txBody>
      </p:sp>
      <p:sp>
        <p:nvSpPr>
          <p:cNvPr id="16" name="Shape 14"/>
          <p:cNvSpPr/>
          <p:nvPr/>
        </p:nvSpPr>
        <p:spPr>
          <a:xfrm>
            <a:off x="658368" y="3718161"/>
            <a:ext cx="146304" cy="146304"/>
          </a:xfrm>
          <a:prstGeom prst="ellipse">
            <a:avLst/>
          </a:prstGeom>
          <a:solidFill>
            <a:srgbClr val="F59E0B"/>
          </a:solidFill>
          <a:ln/>
        </p:spPr>
        <p:txBody>
          <a:bodyPr/>
          <a:lstStyle/>
          <a:p>
            <a:endParaRPr lang="en-SE"/>
          </a:p>
        </p:txBody>
      </p:sp>
      <p:sp>
        <p:nvSpPr>
          <p:cNvPr id="17" name="Text 15"/>
          <p:cNvSpPr/>
          <p:nvPr/>
        </p:nvSpPr>
        <p:spPr>
          <a:xfrm>
            <a:off x="868680" y="3626721"/>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3 Brand Companies</a:t>
            </a:r>
            <a:endParaRPr lang="en-US" sz="1450" dirty="0"/>
          </a:p>
        </p:txBody>
      </p:sp>
      <p:sp>
        <p:nvSpPr>
          <p:cNvPr id="18" name="Text 16"/>
          <p:cNvSpPr/>
          <p:nvPr/>
        </p:nvSpPr>
        <p:spPr>
          <a:xfrm>
            <a:off x="658368" y="4010769"/>
            <a:ext cx="2980944" cy="411480"/>
          </a:xfrm>
          <a:prstGeom prst="rect">
            <a:avLst/>
          </a:prstGeom>
          <a:noFill/>
          <a:ln/>
        </p:spPr>
        <p:txBody>
          <a:bodyPr wrap="square" lIns="0" tIns="0" rIns="0" bIns="0" rtlCol="0" anchor="t"/>
          <a:lstStyle/>
          <a:p>
            <a:pPr marL="0" indent="0">
              <a:buNone/>
            </a:pPr>
            <a:r>
              <a:rPr lang="en-US" sz="1020" b="1" dirty="0">
                <a:solidFill>
                  <a:srgbClr val="0A1A2F"/>
                </a:solidFill>
                <a:latin typeface="Calibri" pitchFamily="34" charset="0"/>
                <a:ea typeface="Calibri" pitchFamily="34" charset="-122"/>
                <a:cs typeface="Calibri" pitchFamily="34" charset="-120"/>
              </a:rPr>
              <a:t>Absolut · Chivas · Irish Distillers</a:t>
            </a:r>
            <a:r>
              <a:rPr lang="en-US" sz="1020" dirty="0">
                <a:solidFill>
                  <a:srgbClr val="111827"/>
                </a:solidFill>
                <a:latin typeface="Calibri" pitchFamily="34" charset="0"/>
                <a:ea typeface="Calibri" pitchFamily="34" charset="-122"/>
                <a:cs typeface="Calibri" pitchFamily="34" charset="-120"/>
              </a:rPr>
              <a:t> consolidated under a single BI &amp; Data function.</a:t>
            </a:r>
            <a:endParaRPr lang="en-US" sz="1020" dirty="0"/>
          </a:p>
        </p:txBody>
      </p:sp>
      <p:sp>
        <p:nvSpPr>
          <p:cNvPr id="19" name="Shape 17"/>
          <p:cNvSpPr/>
          <p:nvPr/>
        </p:nvSpPr>
        <p:spPr>
          <a:xfrm>
            <a:off x="3922776" y="3553569"/>
            <a:ext cx="3300984" cy="914400"/>
          </a:xfrm>
          <a:prstGeom prst="rect">
            <a:avLst/>
          </a:prstGeom>
          <a:solidFill>
            <a:srgbClr val="FFFFFF"/>
          </a:solidFill>
          <a:ln w="9525">
            <a:solidFill>
              <a:srgbClr val="E5E7EB"/>
            </a:solidFill>
            <a:prstDash val="solid"/>
          </a:ln>
        </p:spPr>
        <p:txBody>
          <a:bodyPr/>
          <a:lstStyle/>
          <a:p>
            <a:endParaRPr lang="en-SE"/>
          </a:p>
        </p:txBody>
      </p:sp>
      <p:sp>
        <p:nvSpPr>
          <p:cNvPr id="20" name="Shape 18"/>
          <p:cNvSpPr/>
          <p:nvPr/>
        </p:nvSpPr>
        <p:spPr>
          <a:xfrm>
            <a:off x="3922776" y="3553569"/>
            <a:ext cx="91440" cy="914400"/>
          </a:xfrm>
          <a:prstGeom prst="rect">
            <a:avLst/>
          </a:prstGeom>
          <a:solidFill>
            <a:srgbClr val="F59E0B"/>
          </a:solidFill>
          <a:ln/>
        </p:spPr>
        <p:txBody>
          <a:bodyPr/>
          <a:lstStyle/>
          <a:p>
            <a:endParaRPr lang="en-SE"/>
          </a:p>
        </p:txBody>
      </p:sp>
      <p:sp>
        <p:nvSpPr>
          <p:cNvPr id="21" name="Shape 19"/>
          <p:cNvSpPr/>
          <p:nvPr/>
        </p:nvSpPr>
        <p:spPr>
          <a:xfrm>
            <a:off x="4123944" y="3718161"/>
            <a:ext cx="146304" cy="146304"/>
          </a:xfrm>
          <a:prstGeom prst="ellipse">
            <a:avLst/>
          </a:prstGeom>
          <a:solidFill>
            <a:srgbClr val="F59E0B"/>
          </a:solidFill>
          <a:ln/>
        </p:spPr>
        <p:txBody>
          <a:bodyPr/>
          <a:lstStyle/>
          <a:p>
            <a:endParaRPr lang="en-SE"/>
          </a:p>
        </p:txBody>
      </p:sp>
      <p:sp>
        <p:nvSpPr>
          <p:cNvPr id="22" name="Text 20"/>
          <p:cNvSpPr/>
          <p:nvPr/>
        </p:nvSpPr>
        <p:spPr>
          <a:xfrm>
            <a:off x="4334256" y="3626721"/>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Azure migration</a:t>
            </a:r>
            <a:endParaRPr lang="en-US" sz="1450" dirty="0"/>
          </a:p>
        </p:txBody>
      </p:sp>
      <p:sp>
        <p:nvSpPr>
          <p:cNvPr id="23" name="Text 21"/>
          <p:cNvSpPr/>
          <p:nvPr/>
        </p:nvSpPr>
        <p:spPr>
          <a:xfrm>
            <a:off x="4123944" y="4010769"/>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Lifted brand BI workloads from </a:t>
            </a:r>
            <a:r>
              <a:rPr lang="en-US" sz="1020" b="1" dirty="0">
                <a:solidFill>
                  <a:srgbClr val="0A1A2F"/>
                </a:solidFill>
                <a:latin typeface="Calibri" pitchFamily="34" charset="0"/>
                <a:ea typeface="Calibri" pitchFamily="34" charset="-122"/>
                <a:cs typeface="Calibri" pitchFamily="34" charset="-120"/>
              </a:rPr>
              <a:t>legacy on-prem to a modern cloud platform</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24" name="Shape 22"/>
          <p:cNvSpPr/>
          <p:nvPr/>
        </p:nvSpPr>
        <p:spPr>
          <a:xfrm>
            <a:off x="457200" y="4577697"/>
            <a:ext cx="3300984" cy="914400"/>
          </a:xfrm>
          <a:prstGeom prst="rect">
            <a:avLst/>
          </a:prstGeom>
          <a:solidFill>
            <a:srgbClr val="FFFFFF"/>
          </a:solidFill>
          <a:ln w="9525">
            <a:solidFill>
              <a:srgbClr val="E5E7EB"/>
            </a:solidFill>
            <a:prstDash val="solid"/>
          </a:ln>
        </p:spPr>
        <p:txBody>
          <a:bodyPr/>
          <a:lstStyle/>
          <a:p>
            <a:endParaRPr lang="en-SE"/>
          </a:p>
        </p:txBody>
      </p:sp>
      <p:sp>
        <p:nvSpPr>
          <p:cNvPr id="25" name="Shape 23"/>
          <p:cNvSpPr/>
          <p:nvPr/>
        </p:nvSpPr>
        <p:spPr>
          <a:xfrm>
            <a:off x="457200" y="4577697"/>
            <a:ext cx="91440" cy="914400"/>
          </a:xfrm>
          <a:prstGeom prst="rect">
            <a:avLst/>
          </a:prstGeom>
          <a:solidFill>
            <a:srgbClr val="F59E0B"/>
          </a:solidFill>
          <a:ln/>
        </p:spPr>
        <p:txBody>
          <a:bodyPr/>
          <a:lstStyle/>
          <a:p>
            <a:endParaRPr lang="en-SE"/>
          </a:p>
        </p:txBody>
      </p:sp>
      <p:sp>
        <p:nvSpPr>
          <p:cNvPr id="26" name="Shape 24"/>
          <p:cNvSpPr/>
          <p:nvPr/>
        </p:nvSpPr>
        <p:spPr>
          <a:xfrm>
            <a:off x="658368" y="4742289"/>
            <a:ext cx="146304" cy="146304"/>
          </a:xfrm>
          <a:prstGeom prst="ellipse">
            <a:avLst/>
          </a:prstGeom>
          <a:solidFill>
            <a:srgbClr val="F59E0B"/>
          </a:solidFill>
          <a:ln/>
        </p:spPr>
        <p:txBody>
          <a:bodyPr/>
          <a:lstStyle/>
          <a:p>
            <a:endParaRPr lang="en-SE"/>
          </a:p>
        </p:txBody>
      </p:sp>
      <p:sp>
        <p:nvSpPr>
          <p:cNvPr id="27" name="Text 25"/>
          <p:cNvSpPr/>
          <p:nvPr/>
        </p:nvSpPr>
        <p:spPr>
          <a:xfrm>
            <a:off x="868680" y="4650849"/>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DevOps + CI/CD</a:t>
            </a:r>
            <a:endParaRPr lang="en-US" sz="1450" dirty="0"/>
          </a:p>
        </p:txBody>
      </p:sp>
      <p:sp>
        <p:nvSpPr>
          <p:cNvPr id="28" name="Text 26"/>
          <p:cNvSpPr/>
          <p:nvPr/>
        </p:nvSpPr>
        <p:spPr>
          <a:xfrm>
            <a:off x="658368" y="5034897"/>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Introduced </a:t>
            </a:r>
            <a:r>
              <a:rPr lang="en-US" sz="1020" b="1" dirty="0">
                <a:solidFill>
                  <a:srgbClr val="0A1A2F"/>
                </a:solidFill>
                <a:latin typeface="Calibri" pitchFamily="34" charset="0"/>
                <a:ea typeface="Calibri" pitchFamily="34" charset="-122"/>
                <a:cs typeface="Calibri" pitchFamily="34" charset="-120"/>
              </a:rPr>
              <a:t>pipelines, code-driven delivery, environment management</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29" name="Shape 27"/>
          <p:cNvSpPr/>
          <p:nvPr/>
        </p:nvSpPr>
        <p:spPr>
          <a:xfrm>
            <a:off x="3922776" y="4577697"/>
            <a:ext cx="3300984" cy="914400"/>
          </a:xfrm>
          <a:prstGeom prst="rect">
            <a:avLst/>
          </a:prstGeom>
          <a:solidFill>
            <a:srgbClr val="FFFFFF"/>
          </a:solidFill>
          <a:ln w="9525">
            <a:solidFill>
              <a:srgbClr val="E5E7EB"/>
            </a:solidFill>
            <a:prstDash val="solid"/>
          </a:ln>
        </p:spPr>
        <p:txBody>
          <a:bodyPr/>
          <a:lstStyle/>
          <a:p>
            <a:endParaRPr lang="en-SE"/>
          </a:p>
        </p:txBody>
      </p:sp>
      <p:sp>
        <p:nvSpPr>
          <p:cNvPr id="30" name="Shape 28"/>
          <p:cNvSpPr/>
          <p:nvPr/>
        </p:nvSpPr>
        <p:spPr>
          <a:xfrm>
            <a:off x="3922776" y="4577697"/>
            <a:ext cx="91440" cy="914400"/>
          </a:xfrm>
          <a:prstGeom prst="rect">
            <a:avLst/>
          </a:prstGeom>
          <a:solidFill>
            <a:srgbClr val="F59E0B"/>
          </a:solidFill>
          <a:ln/>
        </p:spPr>
        <p:txBody>
          <a:bodyPr/>
          <a:lstStyle/>
          <a:p>
            <a:endParaRPr lang="en-SE"/>
          </a:p>
        </p:txBody>
      </p:sp>
      <p:sp>
        <p:nvSpPr>
          <p:cNvPr id="31" name="Shape 29"/>
          <p:cNvSpPr/>
          <p:nvPr/>
        </p:nvSpPr>
        <p:spPr>
          <a:xfrm>
            <a:off x="4123944" y="4742289"/>
            <a:ext cx="146304" cy="146304"/>
          </a:xfrm>
          <a:prstGeom prst="ellipse">
            <a:avLst/>
          </a:prstGeom>
          <a:solidFill>
            <a:srgbClr val="F59E0B"/>
          </a:solidFill>
          <a:ln/>
        </p:spPr>
        <p:txBody>
          <a:bodyPr/>
          <a:lstStyle/>
          <a:p>
            <a:endParaRPr lang="en-SE"/>
          </a:p>
        </p:txBody>
      </p:sp>
      <p:sp>
        <p:nvSpPr>
          <p:cNvPr id="32" name="Text 30"/>
          <p:cNvSpPr/>
          <p:nvPr/>
        </p:nvSpPr>
        <p:spPr>
          <a:xfrm>
            <a:off x="4334256" y="4650849"/>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Data governance</a:t>
            </a:r>
            <a:endParaRPr lang="en-US" sz="1450" dirty="0"/>
          </a:p>
        </p:txBody>
      </p:sp>
      <p:sp>
        <p:nvSpPr>
          <p:cNvPr id="33" name="Text 31"/>
          <p:cNvSpPr/>
          <p:nvPr/>
        </p:nvSpPr>
        <p:spPr>
          <a:xfrm>
            <a:off x="4123944" y="5034897"/>
            <a:ext cx="2980944" cy="411480"/>
          </a:xfrm>
          <a:prstGeom prst="rect">
            <a:avLst/>
          </a:prstGeom>
          <a:noFill/>
          <a:ln/>
        </p:spPr>
        <p:txBody>
          <a:bodyPr wrap="square" lIns="0" tIns="0" rIns="0" bIns="0" rtlCol="0" anchor="t"/>
          <a:lstStyle/>
          <a:p>
            <a:pPr marL="0" indent="0">
              <a:buNone/>
            </a:pPr>
            <a:r>
              <a:rPr lang="en-US" sz="1020" b="1" dirty="0">
                <a:solidFill>
                  <a:srgbClr val="0A1A2F"/>
                </a:solidFill>
                <a:latin typeface="Calibri" pitchFamily="34" charset="0"/>
                <a:ea typeface="Calibri" pitchFamily="34" charset="-122"/>
                <a:cs typeface="Calibri" pitchFamily="34" charset="-120"/>
              </a:rPr>
              <a:t>Stewardship model and data quality</a:t>
            </a:r>
            <a:r>
              <a:rPr lang="en-US" sz="1020" dirty="0">
                <a:solidFill>
                  <a:srgbClr val="111827"/>
                </a:solidFill>
                <a:latin typeface="Calibri" pitchFamily="34" charset="0"/>
                <a:ea typeface="Calibri" pitchFamily="34" charset="-122"/>
                <a:cs typeface="Calibri" pitchFamily="34" charset="-120"/>
              </a:rPr>
              <a:t> routines made standard.</a:t>
            </a:r>
            <a:endParaRPr lang="en-US" sz="1020" dirty="0"/>
          </a:p>
        </p:txBody>
      </p:sp>
      <p:sp>
        <p:nvSpPr>
          <p:cNvPr id="34" name="Shape 32"/>
          <p:cNvSpPr/>
          <p:nvPr/>
        </p:nvSpPr>
        <p:spPr>
          <a:xfrm>
            <a:off x="457200" y="5601825"/>
            <a:ext cx="3300984" cy="914400"/>
          </a:xfrm>
          <a:prstGeom prst="rect">
            <a:avLst/>
          </a:prstGeom>
          <a:solidFill>
            <a:srgbClr val="FFFFFF"/>
          </a:solidFill>
          <a:ln w="9525">
            <a:solidFill>
              <a:srgbClr val="E5E7EB"/>
            </a:solidFill>
            <a:prstDash val="solid"/>
          </a:ln>
        </p:spPr>
        <p:txBody>
          <a:bodyPr/>
          <a:lstStyle/>
          <a:p>
            <a:endParaRPr lang="en-SE"/>
          </a:p>
        </p:txBody>
      </p:sp>
      <p:sp>
        <p:nvSpPr>
          <p:cNvPr id="35" name="Shape 33"/>
          <p:cNvSpPr/>
          <p:nvPr/>
        </p:nvSpPr>
        <p:spPr>
          <a:xfrm>
            <a:off x="457200" y="5601825"/>
            <a:ext cx="91440" cy="914400"/>
          </a:xfrm>
          <a:prstGeom prst="rect">
            <a:avLst/>
          </a:prstGeom>
          <a:solidFill>
            <a:srgbClr val="F59E0B"/>
          </a:solidFill>
          <a:ln/>
        </p:spPr>
        <p:txBody>
          <a:bodyPr/>
          <a:lstStyle/>
          <a:p>
            <a:endParaRPr lang="en-SE"/>
          </a:p>
        </p:txBody>
      </p:sp>
      <p:sp>
        <p:nvSpPr>
          <p:cNvPr id="36" name="Shape 34"/>
          <p:cNvSpPr/>
          <p:nvPr/>
        </p:nvSpPr>
        <p:spPr>
          <a:xfrm>
            <a:off x="658368" y="5766417"/>
            <a:ext cx="146304" cy="146304"/>
          </a:xfrm>
          <a:prstGeom prst="ellipse">
            <a:avLst/>
          </a:prstGeom>
          <a:solidFill>
            <a:srgbClr val="F59E0B"/>
          </a:solidFill>
          <a:ln/>
        </p:spPr>
        <p:txBody>
          <a:bodyPr/>
          <a:lstStyle/>
          <a:p>
            <a:endParaRPr lang="en-SE"/>
          </a:p>
        </p:txBody>
      </p:sp>
      <p:sp>
        <p:nvSpPr>
          <p:cNvPr id="37" name="Text 35"/>
          <p:cNvSpPr/>
          <p:nvPr/>
        </p:nvSpPr>
        <p:spPr>
          <a:xfrm>
            <a:off x="868680" y="5674977"/>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Self-service BI</a:t>
            </a:r>
            <a:endParaRPr lang="en-US" sz="1450" dirty="0"/>
          </a:p>
        </p:txBody>
      </p:sp>
      <p:sp>
        <p:nvSpPr>
          <p:cNvPr id="38" name="Text 36"/>
          <p:cNvSpPr/>
          <p:nvPr/>
        </p:nvSpPr>
        <p:spPr>
          <a:xfrm>
            <a:off x="658368" y="6059025"/>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Shifted users from ticket-driven reporting to </a:t>
            </a:r>
            <a:r>
              <a:rPr lang="en-US" sz="1020" b="1" dirty="0">
                <a:solidFill>
                  <a:srgbClr val="0A1A2F"/>
                </a:solidFill>
                <a:latin typeface="Calibri" pitchFamily="34" charset="0"/>
                <a:ea typeface="Calibri" pitchFamily="34" charset="-122"/>
                <a:cs typeface="Calibri" pitchFamily="34" charset="-120"/>
              </a:rPr>
              <a:t>governed self-service</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39" name="Shape 37"/>
          <p:cNvSpPr/>
          <p:nvPr/>
        </p:nvSpPr>
        <p:spPr>
          <a:xfrm>
            <a:off x="3922776" y="5601825"/>
            <a:ext cx="3300984" cy="914400"/>
          </a:xfrm>
          <a:prstGeom prst="rect">
            <a:avLst/>
          </a:prstGeom>
          <a:solidFill>
            <a:srgbClr val="FFFFFF"/>
          </a:solidFill>
          <a:ln w="9525">
            <a:solidFill>
              <a:srgbClr val="E5E7EB"/>
            </a:solidFill>
            <a:prstDash val="solid"/>
          </a:ln>
        </p:spPr>
        <p:txBody>
          <a:bodyPr/>
          <a:lstStyle/>
          <a:p>
            <a:endParaRPr lang="en-SE"/>
          </a:p>
        </p:txBody>
      </p:sp>
      <p:sp>
        <p:nvSpPr>
          <p:cNvPr id="40" name="Shape 38"/>
          <p:cNvSpPr/>
          <p:nvPr/>
        </p:nvSpPr>
        <p:spPr>
          <a:xfrm>
            <a:off x="3922776" y="5601825"/>
            <a:ext cx="91440" cy="914400"/>
          </a:xfrm>
          <a:prstGeom prst="rect">
            <a:avLst/>
          </a:prstGeom>
          <a:solidFill>
            <a:srgbClr val="F59E0B"/>
          </a:solidFill>
          <a:ln/>
        </p:spPr>
        <p:txBody>
          <a:bodyPr/>
          <a:lstStyle/>
          <a:p>
            <a:endParaRPr lang="en-SE"/>
          </a:p>
        </p:txBody>
      </p:sp>
      <p:sp>
        <p:nvSpPr>
          <p:cNvPr id="41" name="Shape 39"/>
          <p:cNvSpPr/>
          <p:nvPr/>
        </p:nvSpPr>
        <p:spPr>
          <a:xfrm>
            <a:off x="4123944" y="5766417"/>
            <a:ext cx="146304" cy="146304"/>
          </a:xfrm>
          <a:prstGeom prst="ellipse">
            <a:avLst/>
          </a:prstGeom>
          <a:solidFill>
            <a:srgbClr val="F59E0B"/>
          </a:solidFill>
          <a:ln/>
        </p:spPr>
        <p:txBody>
          <a:bodyPr/>
          <a:lstStyle/>
          <a:p>
            <a:endParaRPr lang="en-SE"/>
          </a:p>
        </p:txBody>
      </p:sp>
      <p:sp>
        <p:nvSpPr>
          <p:cNvPr id="42" name="Text 40"/>
          <p:cNvSpPr/>
          <p:nvPr/>
        </p:nvSpPr>
        <p:spPr>
          <a:xfrm>
            <a:off x="4334256" y="5674977"/>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Blueprint for Group</a:t>
            </a:r>
            <a:endParaRPr lang="en-US" sz="1450" dirty="0"/>
          </a:p>
        </p:txBody>
      </p:sp>
      <p:sp>
        <p:nvSpPr>
          <p:cNvPr id="43" name="Text 41"/>
          <p:cNvSpPr/>
          <p:nvPr/>
        </p:nvSpPr>
        <p:spPr>
          <a:xfrm>
            <a:off x="4123944" y="6059025"/>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Operating model later </a:t>
            </a:r>
            <a:r>
              <a:rPr lang="en-US" sz="1020" b="1" dirty="0">
                <a:solidFill>
                  <a:srgbClr val="0A1A2F"/>
                </a:solidFill>
                <a:latin typeface="Calibri" pitchFamily="34" charset="0"/>
                <a:ea typeface="Calibri" pitchFamily="34" charset="-122"/>
                <a:cs typeface="Calibri" pitchFamily="34" charset="-120"/>
              </a:rPr>
              <a:t>reused at Group D&amp;A redesign</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44" name="Shape 42"/>
          <p:cNvSpPr/>
          <p:nvPr/>
        </p:nvSpPr>
        <p:spPr>
          <a:xfrm>
            <a:off x="7406640" y="1846910"/>
            <a:ext cx="4370832" cy="1046560"/>
          </a:xfrm>
          <a:prstGeom prst="rect">
            <a:avLst/>
          </a:prstGeom>
          <a:solidFill>
            <a:srgbClr val="FFFFFF"/>
          </a:solidFill>
          <a:ln w="9525">
            <a:solidFill>
              <a:srgbClr val="E5E7EB"/>
            </a:solidFill>
            <a:prstDash val="solid"/>
          </a:ln>
        </p:spPr>
        <p:txBody>
          <a:bodyPr/>
          <a:lstStyle/>
          <a:p>
            <a:endParaRPr lang="en-SE"/>
          </a:p>
        </p:txBody>
      </p:sp>
      <p:sp>
        <p:nvSpPr>
          <p:cNvPr id="45" name="Shape 43"/>
          <p:cNvSpPr/>
          <p:nvPr/>
        </p:nvSpPr>
        <p:spPr>
          <a:xfrm>
            <a:off x="7406640" y="1846910"/>
            <a:ext cx="4370832" cy="329184"/>
          </a:xfrm>
          <a:prstGeom prst="rect">
            <a:avLst/>
          </a:prstGeom>
          <a:solidFill>
            <a:srgbClr val="0A1A2F"/>
          </a:solidFill>
          <a:ln/>
        </p:spPr>
        <p:txBody>
          <a:bodyPr/>
          <a:lstStyle/>
          <a:p>
            <a:endParaRPr lang="en-SE"/>
          </a:p>
        </p:txBody>
      </p:sp>
      <p:sp>
        <p:nvSpPr>
          <p:cNvPr id="46" name="Shape 44"/>
          <p:cNvSpPr/>
          <p:nvPr/>
        </p:nvSpPr>
        <p:spPr>
          <a:xfrm>
            <a:off x="7406640" y="1846910"/>
            <a:ext cx="73152" cy="329184"/>
          </a:xfrm>
          <a:prstGeom prst="rect">
            <a:avLst/>
          </a:prstGeom>
          <a:solidFill>
            <a:srgbClr val="2DD4BF"/>
          </a:solidFill>
          <a:ln/>
        </p:spPr>
        <p:txBody>
          <a:bodyPr/>
          <a:lstStyle/>
          <a:p>
            <a:endParaRPr lang="en-SE"/>
          </a:p>
        </p:txBody>
      </p:sp>
      <p:sp>
        <p:nvSpPr>
          <p:cNvPr id="47" name="Text 45"/>
          <p:cNvSpPr/>
          <p:nvPr/>
        </p:nvSpPr>
        <p:spPr>
          <a:xfrm>
            <a:off x="7589520" y="1846910"/>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TECHNOLOGY</a:t>
            </a:r>
            <a:endParaRPr lang="en-US" sz="1050" dirty="0"/>
          </a:p>
        </p:txBody>
      </p:sp>
      <p:sp>
        <p:nvSpPr>
          <p:cNvPr id="48" name="Text 46"/>
          <p:cNvSpPr/>
          <p:nvPr/>
        </p:nvSpPr>
        <p:spPr>
          <a:xfrm>
            <a:off x="7571232" y="2180238"/>
            <a:ext cx="4096512" cy="713232"/>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Microsoft Azure data platform, Power BI</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DevOps / CI-CD pipelines for analytics workloads</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Data governance, stewardship and quality tooling</a:t>
            </a:r>
            <a:endParaRPr lang="en-US" sz="1000" dirty="0"/>
          </a:p>
        </p:txBody>
      </p:sp>
      <p:sp>
        <p:nvSpPr>
          <p:cNvPr id="49" name="Shape 47"/>
          <p:cNvSpPr/>
          <p:nvPr/>
        </p:nvSpPr>
        <p:spPr>
          <a:xfrm>
            <a:off x="7406640" y="3049436"/>
            <a:ext cx="4370832" cy="1033272"/>
          </a:xfrm>
          <a:prstGeom prst="rect">
            <a:avLst/>
          </a:prstGeom>
          <a:solidFill>
            <a:srgbClr val="FFFFFF"/>
          </a:solidFill>
          <a:ln w="9525">
            <a:solidFill>
              <a:srgbClr val="E5E7EB"/>
            </a:solidFill>
            <a:prstDash val="solid"/>
          </a:ln>
        </p:spPr>
        <p:txBody>
          <a:bodyPr/>
          <a:lstStyle/>
          <a:p>
            <a:endParaRPr lang="en-SE"/>
          </a:p>
        </p:txBody>
      </p:sp>
      <p:sp>
        <p:nvSpPr>
          <p:cNvPr id="50" name="Shape 48"/>
          <p:cNvSpPr/>
          <p:nvPr/>
        </p:nvSpPr>
        <p:spPr>
          <a:xfrm>
            <a:off x="7406640" y="3049436"/>
            <a:ext cx="4370832" cy="329184"/>
          </a:xfrm>
          <a:prstGeom prst="rect">
            <a:avLst/>
          </a:prstGeom>
          <a:solidFill>
            <a:srgbClr val="0A1A2F"/>
          </a:solidFill>
          <a:ln/>
        </p:spPr>
        <p:txBody>
          <a:bodyPr/>
          <a:lstStyle/>
          <a:p>
            <a:endParaRPr lang="en-SE"/>
          </a:p>
        </p:txBody>
      </p:sp>
      <p:sp>
        <p:nvSpPr>
          <p:cNvPr id="51" name="Shape 49"/>
          <p:cNvSpPr/>
          <p:nvPr/>
        </p:nvSpPr>
        <p:spPr>
          <a:xfrm>
            <a:off x="7406640" y="3049436"/>
            <a:ext cx="73152" cy="329184"/>
          </a:xfrm>
          <a:prstGeom prst="rect">
            <a:avLst/>
          </a:prstGeom>
          <a:solidFill>
            <a:srgbClr val="2DD4BF"/>
          </a:solidFill>
          <a:ln/>
        </p:spPr>
        <p:txBody>
          <a:bodyPr/>
          <a:lstStyle/>
          <a:p>
            <a:endParaRPr lang="en-SE"/>
          </a:p>
        </p:txBody>
      </p:sp>
      <p:sp>
        <p:nvSpPr>
          <p:cNvPr id="52" name="Text 50"/>
          <p:cNvSpPr/>
          <p:nvPr/>
        </p:nvSpPr>
        <p:spPr>
          <a:xfrm>
            <a:off x="7589520" y="3049436"/>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BUSINESS  SPECTRUM</a:t>
            </a:r>
            <a:endParaRPr lang="en-US" sz="1050" dirty="0"/>
          </a:p>
        </p:txBody>
      </p:sp>
      <p:sp>
        <p:nvSpPr>
          <p:cNvPr id="53" name="Text 51"/>
          <p:cNvSpPr/>
          <p:nvPr/>
        </p:nvSpPr>
        <p:spPr>
          <a:xfrm>
            <a:off x="7571232" y="3382764"/>
            <a:ext cx="4096512" cy="713232"/>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Premium spirits brand companies — commercial, marketing, supply</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Brand performance, consumer and trade analytics</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Cross-market harmonisation across regions</a:t>
            </a:r>
            <a:endParaRPr lang="en-US" sz="1000" dirty="0"/>
          </a:p>
        </p:txBody>
      </p:sp>
      <p:sp>
        <p:nvSpPr>
          <p:cNvPr id="54" name="Shape 52"/>
          <p:cNvSpPr/>
          <p:nvPr/>
        </p:nvSpPr>
        <p:spPr>
          <a:xfrm>
            <a:off x="7406640" y="4243333"/>
            <a:ext cx="4370832" cy="1046560"/>
          </a:xfrm>
          <a:prstGeom prst="rect">
            <a:avLst/>
          </a:prstGeom>
          <a:solidFill>
            <a:srgbClr val="FFFFFF"/>
          </a:solidFill>
          <a:ln w="9525">
            <a:solidFill>
              <a:srgbClr val="E5E7EB"/>
            </a:solidFill>
            <a:prstDash val="solid"/>
          </a:ln>
        </p:spPr>
        <p:txBody>
          <a:bodyPr/>
          <a:lstStyle/>
          <a:p>
            <a:endParaRPr lang="en-SE"/>
          </a:p>
        </p:txBody>
      </p:sp>
      <p:sp>
        <p:nvSpPr>
          <p:cNvPr id="55" name="Shape 53"/>
          <p:cNvSpPr/>
          <p:nvPr/>
        </p:nvSpPr>
        <p:spPr>
          <a:xfrm>
            <a:off x="7406640" y="4243333"/>
            <a:ext cx="4370832" cy="329184"/>
          </a:xfrm>
          <a:prstGeom prst="rect">
            <a:avLst/>
          </a:prstGeom>
          <a:solidFill>
            <a:srgbClr val="0A1A2F"/>
          </a:solidFill>
          <a:ln/>
        </p:spPr>
        <p:txBody>
          <a:bodyPr/>
          <a:lstStyle/>
          <a:p>
            <a:endParaRPr lang="en-SE"/>
          </a:p>
        </p:txBody>
      </p:sp>
      <p:sp>
        <p:nvSpPr>
          <p:cNvPr id="56" name="Shape 54"/>
          <p:cNvSpPr/>
          <p:nvPr/>
        </p:nvSpPr>
        <p:spPr>
          <a:xfrm>
            <a:off x="7406640" y="4243333"/>
            <a:ext cx="73152" cy="329184"/>
          </a:xfrm>
          <a:prstGeom prst="rect">
            <a:avLst/>
          </a:prstGeom>
          <a:solidFill>
            <a:srgbClr val="2DD4BF"/>
          </a:solidFill>
          <a:ln/>
        </p:spPr>
        <p:txBody>
          <a:bodyPr/>
          <a:lstStyle/>
          <a:p>
            <a:endParaRPr lang="en-SE"/>
          </a:p>
        </p:txBody>
      </p:sp>
      <p:sp>
        <p:nvSpPr>
          <p:cNvPr id="57" name="Text 55"/>
          <p:cNvSpPr/>
          <p:nvPr/>
        </p:nvSpPr>
        <p:spPr>
          <a:xfrm>
            <a:off x="7589520" y="4243333"/>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LEADERSHIP  EVOLUTION</a:t>
            </a:r>
            <a:endParaRPr lang="en-US" sz="1050" dirty="0"/>
          </a:p>
        </p:txBody>
      </p:sp>
      <p:sp>
        <p:nvSpPr>
          <p:cNvPr id="58" name="Text 56"/>
          <p:cNvSpPr/>
          <p:nvPr/>
        </p:nvSpPr>
        <p:spPr>
          <a:xfrm>
            <a:off x="7571232" y="4576661"/>
            <a:ext cx="4096512" cy="713232"/>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Built a multi-brand data function from a fragmented baseline</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Functional leader across three brand IT organisations</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Coached BI leads in each Brand Company</a:t>
            </a:r>
            <a:endParaRPr lang="en-US" sz="1000" dirty="0"/>
          </a:p>
        </p:txBody>
      </p:sp>
      <p:sp>
        <p:nvSpPr>
          <p:cNvPr id="59" name="Shape 57"/>
          <p:cNvSpPr/>
          <p:nvPr/>
        </p:nvSpPr>
        <p:spPr>
          <a:xfrm>
            <a:off x="7406640" y="5454478"/>
            <a:ext cx="4370832" cy="1046560"/>
          </a:xfrm>
          <a:prstGeom prst="rect">
            <a:avLst/>
          </a:prstGeom>
          <a:solidFill>
            <a:srgbClr val="FFFFFF"/>
          </a:solidFill>
          <a:ln w="9525">
            <a:solidFill>
              <a:srgbClr val="E5E7EB"/>
            </a:solidFill>
            <a:prstDash val="solid"/>
          </a:ln>
        </p:spPr>
        <p:txBody>
          <a:bodyPr/>
          <a:lstStyle/>
          <a:p>
            <a:endParaRPr lang="en-SE"/>
          </a:p>
        </p:txBody>
      </p:sp>
      <p:sp>
        <p:nvSpPr>
          <p:cNvPr id="60" name="Shape 58"/>
          <p:cNvSpPr/>
          <p:nvPr/>
        </p:nvSpPr>
        <p:spPr>
          <a:xfrm>
            <a:off x="7406640" y="5454478"/>
            <a:ext cx="4370832" cy="329184"/>
          </a:xfrm>
          <a:prstGeom prst="rect">
            <a:avLst/>
          </a:prstGeom>
          <a:solidFill>
            <a:srgbClr val="0A1A2F"/>
          </a:solidFill>
          <a:ln/>
        </p:spPr>
        <p:txBody>
          <a:bodyPr/>
          <a:lstStyle/>
          <a:p>
            <a:endParaRPr lang="en-SE"/>
          </a:p>
        </p:txBody>
      </p:sp>
      <p:sp>
        <p:nvSpPr>
          <p:cNvPr id="61" name="Shape 59"/>
          <p:cNvSpPr/>
          <p:nvPr/>
        </p:nvSpPr>
        <p:spPr>
          <a:xfrm>
            <a:off x="7406640" y="5454478"/>
            <a:ext cx="73152" cy="329184"/>
          </a:xfrm>
          <a:prstGeom prst="rect">
            <a:avLst/>
          </a:prstGeom>
          <a:solidFill>
            <a:srgbClr val="2DD4BF"/>
          </a:solidFill>
          <a:ln/>
        </p:spPr>
        <p:txBody>
          <a:bodyPr/>
          <a:lstStyle/>
          <a:p>
            <a:endParaRPr lang="en-SE"/>
          </a:p>
        </p:txBody>
      </p:sp>
      <p:sp>
        <p:nvSpPr>
          <p:cNvPr id="62" name="Text 60"/>
          <p:cNvSpPr/>
          <p:nvPr/>
        </p:nvSpPr>
        <p:spPr>
          <a:xfrm>
            <a:off x="7589520" y="5454478"/>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KEY  STAKEHOLDERS</a:t>
            </a:r>
            <a:endParaRPr lang="en-US" sz="1050" dirty="0"/>
          </a:p>
        </p:txBody>
      </p:sp>
      <p:sp>
        <p:nvSpPr>
          <p:cNvPr id="63" name="Text 61"/>
          <p:cNvSpPr/>
          <p:nvPr/>
        </p:nvSpPr>
        <p:spPr>
          <a:xfrm>
            <a:off x="7571232" y="5787806"/>
            <a:ext cx="4096512" cy="713232"/>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Brand Company CIOs and CFOs — Absolut, Chivas, Irish Distillers</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Brand marketing, sales and supply leadership</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Group IT architecture and data governance counterparts</a:t>
            </a:r>
            <a:endParaRPr lang="en-US" sz="1000" dirty="0"/>
          </a:p>
        </p:txBody>
      </p:sp>
      <p:sp>
        <p:nvSpPr>
          <p:cNvPr id="64" name="Shape 62"/>
          <p:cNvSpPr/>
          <p:nvPr/>
        </p:nvSpPr>
        <p:spPr>
          <a:xfrm>
            <a:off x="457200" y="6547104"/>
            <a:ext cx="11274552" cy="0"/>
          </a:xfrm>
          <a:prstGeom prst="line">
            <a:avLst/>
          </a:prstGeom>
          <a:noFill/>
          <a:ln w="9525">
            <a:solidFill>
              <a:srgbClr val="E5E7EB"/>
            </a:solidFill>
            <a:prstDash val="solid"/>
          </a:ln>
        </p:spPr>
        <p:txBody>
          <a:bodyPr/>
          <a:lstStyle/>
          <a:p>
            <a:endParaRPr lang="en-SE"/>
          </a:p>
        </p:txBody>
      </p:sp>
      <p:sp>
        <p:nvSpPr>
          <p:cNvPr id="65" name="Text 63"/>
          <p:cNvSpPr/>
          <p:nvPr/>
        </p:nvSpPr>
        <p:spPr>
          <a:xfrm>
            <a:off x="457200" y="6592824"/>
            <a:ext cx="7315200" cy="201168"/>
          </a:xfrm>
          <a:prstGeom prst="rect">
            <a:avLst/>
          </a:prstGeom>
          <a:noFill/>
          <a:ln/>
        </p:spPr>
        <p:txBody>
          <a:bodyPr wrap="square" lIns="0" tIns="0" rIns="0" bIns="0" rtlCol="0" anchor="ctr"/>
          <a:lstStyle/>
          <a:p>
            <a:pPr marL="0" indent="0">
              <a:buNone/>
            </a:pPr>
            <a:r>
              <a:rPr lang="en-US" sz="850" b="1" kern="0" spc="400" dirty="0">
                <a:solidFill>
                  <a:srgbClr val="6B7280"/>
                </a:solidFill>
                <a:latin typeface="Calibri" pitchFamily="34" charset="0"/>
                <a:ea typeface="Calibri" pitchFamily="34" charset="-122"/>
                <a:cs typeface="Calibri" pitchFamily="34" charset="-120"/>
              </a:rPr>
              <a:t>GAUTHIER VAN WENT  ·  EXECUTIVE PROFILE</a:t>
            </a:r>
            <a:endParaRPr lang="en-US" sz="850" dirty="0"/>
          </a:p>
        </p:txBody>
      </p:sp>
      <p:sp>
        <p:nvSpPr>
          <p:cNvPr id="66" name="Text 64"/>
          <p:cNvSpPr/>
          <p:nvPr/>
        </p:nvSpPr>
        <p:spPr>
          <a:xfrm>
            <a:off x="8229600" y="6592824"/>
            <a:ext cx="3502152" cy="201168"/>
          </a:xfrm>
          <a:prstGeom prst="rect">
            <a:avLst/>
          </a:prstGeom>
          <a:noFill/>
          <a:ln/>
        </p:spPr>
        <p:txBody>
          <a:bodyPr wrap="square" lIns="0" tIns="0" rIns="0" bIns="0" rtlCol="0" anchor="ctr"/>
          <a:lstStyle/>
          <a:p>
            <a:pPr marL="0" indent="0" algn="r">
              <a:buNone/>
            </a:pPr>
            <a:r>
              <a:rPr lang="en-US" sz="850" b="1" kern="0" spc="400" dirty="0">
                <a:solidFill>
                  <a:srgbClr val="14B8A6"/>
                </a:solidFill>
                <a:latin typeface="Calibri" pitchFamily="34" charset="0"/>
                <a:ea typeface="Calibri" pitchFamily="34" charset="-122"/>
                <a:cs typeface="Calibri" pitchFamily="34" charset="-120"/>
              </a:rPr>
              <a:t>06  /  10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0"/>
          </a:xfrm>
          <a:prstGeom prst="rect">
            <a:avLst/>
          </a:prstGeom>
          <a:solidFill>
            <a:srgbClr val="0A1A2F"/>
          </a:solidFill>
          <a:ln/>
        </p:spPr>
        <p:txBody>
          <a:bodyPr/>
          <a:lstStyle/>
          <a:p>
            <a:endParaRPr lang="en-SE"/>
          </a:p>
        </p:txBody>
      </p:sp>
      <p:sp>
        <p:nvSpPr>
          <p:cNvPr id="3" name="Shape 1"/>
          <p:cNvSpPr/>
          <p:nvPr/>
        </p:nvSpPr>
        <p:spPr>
          <a:xfrm>
            <a:off x="0" y="1463040"/>
            <a:ext cx="12188952" cy="54864"/>
          </a:xfrm>
          <a:prstGeom prst="rect">
            <a:avLst/>
          </a:prstGeom>
          <a:solidFill>
            <a:srgbClr val="2DD4BF"/>
          </a:solidFill>
          <a:ln/>
        </p:spPr>
        <p:txBody>
          <a:bodyPr/>
          <a:lstStyle/>
          <a:p>
            <a:endParaRPr lang="en-SE"/>
          </a:p>
        </p:txBody>
      </p:sp>
      <p:sp>
        <p:nvSpPr>
          <p:cNvPr id="4" name="Shape 2"/>
          <p:cNvSpPr/>
          <p:nvPr/>
        </p:nvSpPr>
        <p:spPr>
          <a:xfrm>
            <a:off x="0" y="0"/>
            <a:ext cx="91440" cy="1463040"/>
          </a:xfrm>
          <a:prstGeom prst="rect">
            <a:avLst/>
          </a:prstGeom>
          <a:solidFill>
            <a:srgbClr val="F59E0B"/>
          </a:solidFill>
          <a:ln/>
        </p:spPr>
        <p:txBody>
          <a:bodyPr/>
          <a:lstStyle/>
          <a:p>
            <a:endParaRPr lang="en-SE"/>
          </a:p>
        </p:txBody>
      </p:sp>
      <p:sp>
        <p:nvSpPr>
          <p:cNvPr id="5" name="Shape 3"/>
          <p:cNvSpPr/>
          <p:nvPr/>
        </p:nvSpPr>
        <p:spPr>
          <a:xfrm>
            <a:off x="457200" y="365760"/>
            <a:ext cx="2011680" cy="384048"/>
          </a:xfrm>
          <a:prstGeom prst="roundRect">
            <a:avLst>
              <a:gd name="adj" fmla="val 19048"/>
            </a:avLst>
          </a:prstGeom>
          <a:solidFill>
            <a:srgbClr val="2DD4BF"/>
          </a:solidFill>
          <a:ln/>
        </p:spPr>
        <p:txBody>
          <a:bodyPr/>
          <a:lstStyle/>
          <a:p>
            <a:endParaRPr lang="en-SE"/>
          </a:p>
        </p:txBody>
      </p:sp>
      <p:sp>
        <p:nvSpPr>
          <p:cNvPr id="6" name="Text 4"/>
          <p:cNvSpPr/>
          <p:nvPr/>
        </p:nvSpPr>
        <p:spPr>
          <a:xfrm>
            <a:off x="457200" y="365760"/>
            <a:ext cx="2011680" cy="384048"/>
          </a:xfrm>
          <a:prstGeom prst="rect">
            <a:avLst/>
          </a:prstGeom>
          <a:noFill/>
          <a:ln/>
        </p:spPr>
        <p:txBody>
          <a:bodyPr wrap="square" lIns="0" tIns="0" rIns="0" bIns="0" rtlCol="0" anchor="ctr"/>
          <a:lstStyle/>
          <a:p>
            <a:pPr marL="0" indent="0" algn="ctr">
              <a:buNone/>
            </a:pPr>
            <a:r>
              <a:rPr lang="en-US" sz="1100" b="1" kern="0" spc="300" dirty="0">
                <a:solidFill>
                  <a:srgbClr val="0A1A2F"/>
                </a:solidFill>
                <a:latin typeface="Calibri" pitchFamily="34" charset="0"/>
                <a:ea typeface="Calibri" pitchFamily="34" charset="-122"/>
                <a:cs typeface="Calibri" pitchFamily="34" charset="-120"/>
              </a:rPr>
              <a:t>2016 – 2022</a:t>
            </a:r>
            <a:endParaRPr lang="en-US" sz="1100" dirty="0"/>
          </a:p>
        </p:txBody>
      </p:sp>
      <p:sp>
        <p:nvSpPr>
          <p:cNvPr id="7" name="Text 5"/>
          <p:cNvSpPr/>
          <p:nvPr/>
        </p:nvSpPr>
        <p:spPr>
          <a:xfrm>
            <a:off x="9601200" y="411480"/>
            <a:ext cx="2194560" cy="292608"/>
          </a:xfrm>
          <a:prstGeom prst="rect">
            <a:avLst/>
          </a:prstGeom>
          <a:noFill/>
          <a:ln/>
        </p:spPr>
        <p:txBody>
          <a:bodyPr wrap="square" lIns="0" tIns="0" rIns="0" bIns="0" rtlCol="0" anchor="ctr"/>
          <a:lstStyle/>
          <a:p>
            <a:pPr marL="0" indent="0" algn="r">
              <a:buNone/>
            </a:pPr>
            <a:r>
              <a:rPr lang="en-US" sz="1000" b="1" kern="0" spc="400" dirty="0">
                <a:solidFill>
                  <a:srgbClr val="F59E0B"/>
                </a:solidFill>
                <a:latin typeface="Calibri" pitchFamily="34" charset="0"/>
                <a:ea typeface="Calibri" pitchFamily="34" charset="-122"/>
                <a:cs typeface="Calibri" pitchFamily="34" charset="-120"/>
              </a:rPr>
              <a:t>ROLE 5  /  7</a:t>
            </a:r>
            <a:endParaRPr lang="en-US" sz="1000" dirty="0"/>
          </a:p>
        </p:txBody>
      </p:sp>
      <p:sp>
        <p:nvSpPr>
          <p:cNvPr id="8" name="Text 6"/>
          <p:cNvSpPr/>
          <p:nvPr/>
        </p:nvSpPr>
        <p:spPr>
          <a:xfrm>
            <a:off x="457200" y="841248"/>
            <a:ext cx="11274552"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IT Business Relationship Manager</a:t>
            </a:r>
            <a:endParaRPr lang="en-US" sz="2600" dirty="0"/>
          </a:p>
        </p:txBody>
      </p:sp>
      <p:sp>
        <p:nvSpPr>
          <p:cNvPr id="9" name="Text 7"/>
          <p:cNvSpPr/>
          <p:nvPr/>
        </p:nvSpPr>
        <p:spPr>
          <a:xfrm>
            <a:off x="457200" y="1207008"/>
            <a:ext cx="11274552" cy="274320"/>
          </a:xfrm>
          <a:prstGeom prst="rect">
            <a:avLst/>
          </a:prstGeom>
          <a:noFill/>
          <a:ln/>
        </p:spPr>
        <p:txBody>
          <a:bodyPr wrap="square" lIns="0" tIns="0" rIns="0" bIns="0" rtlCol="0" anchor="ctr"/>
          <a:lstStyle/>
          <a:p>
            <a:pPr marL="0" indent="0">
              <a:buNone/>
            </a:pPr>
            <a:r>
              <a:rPr lang="en-US" sz="1150" dirty="0">
                <a:solidFill>
                  <a:srgbClr val="B6CFE6"/>
                </a:solidFill>
                <a:latin typeface="Calibri" pitchFamily="34" charset="0"/>
                <a:ea typeface="Calibri" pitchFamily="34" charset="-122"/>
                <a:cs typeface="Calibri" pitchFamily="34" charset="-120"/>
              </a:rPr>
              <a:t>THE ABSOLUT COMPANY / THE ABSOLUT GROUP  ·  IT  ↔  Business</a:t>
            </a:r>
            <a:endParaRPr lang="en-US" sz="1150" dirty="0"/>
          </a:p>
        </p:txBody>
      </p:sp>
      <p:sp>
        <p:nvSpPr>
          <p:cNvPr id="10" name="Text 8"/>
          <p:cNvSpPr/>
          <p:nvPr/>
        </p:nvSpPr>
        <p:spPr>
          <a:xfrm>
            <a:off x="457200" y="1691640"/>
            <a:ext cx="6766560" cy="274320"/>
          </a:xfrm>
          <a:prstGeom prst="rect">
            <a:avLst/>
          </a:prstGeom>
          <a:noFill/>
          <a:ln/>
        </p:spPr>
        <p:txBody>
          <a:bodyPr wrap="square" lIns="0" tIns="0" rIns="0" bIns="0" rtlCol="0" anchor="ctr"/>
          <a:lstStyle/>
          <a:p>
            <a:pPr marL="0" indent="0">
              <a:buNone/>
            </a:pPr>
            <a:r>
              <a:rPr lang="en-US" sz="1400" b="1" kern="0" spc="500" dirty="0">
                <a:solidFill>
                  <a:srgbClr val="14B8A6"/>
                </a:solidFill>
                <a:latin typeface="Calibri" pitchFamily="34" charset="0"/>
                <a:ea typeface="Calibri" pitchFamily="34" charset="-122"/>
                <a:cs typeface="Calibri" pitchFamily="34" charset="-120"/>
              </a:rPr>
              <a:t>ROLE  OVERVIEW</a:t>
            </a:r>
            <a:endParaRPr lang="en-US" sz="1400" dirty="0"/>
          </a:p>
        </p:txBody>
      </p:sp>
      <p:sp>
        <p:nvSpPr>
          <p:cNvPr id="11" name="Text 9"/>
          <p:cNvSpPr/>
          <p:nvPr/>
        </p:nvSpPr>
        <p:spPr>
          <a:xfrm>
            <a:off x="457200" y="1965960"/>
            <a:ext cx="6766560" cy="1371600"/>
          </a:xfrm>
          <a:prstGeom prst="rect">
            <a:avLst/>
          </a:prstGeom>
          <a:noFill/>
          <a:ln/>
        </p:spPr>
        <p:txBody>
          <a:bodyPr wrap="square" lIns="0" tIns="0" rIns="0" bIns="0" rtlCol="0" anchor="t"/>
          <a:lstStyle/>
          <a:p>
            <a:pPr marL="0" indent="0">
              <a:spcAft>
                <a:spcPts val="400"/>
              </a:spcAft>
              <a:buNone/>
            </a:pPr>
            <a:r>
              <a:rPr lang="en-US" sz="1400" dirty="0">
                <a:solidFill>
                  <a:srgbClr val="111827"/>
                </a:solidFill>
                <a:latin typeface="Calibri" pitchFamily="34" charset="0"/>
                <a:ea typeface="Calibri" pitchFamily="34" charset="-122"/>
                <a:cs typeface="Calibri" pitchFamily="34" charset="-120"/>
              </a:rPr>
              <a:t>Repositioned IT, inside The Absolut Company, from a service provider into a </a:t>
            </a:r>
            <a:r>
              <a:rPr lang="en-US" sz="1400" b="1" dirty="0">
                <a:solidFill>
                  <a:srgbClr val="111827"/>
                </a:solidFill>
                <a:latin typeface="Calibri" pitchFamily="34" charset="0"/>
                <a:ea typeface="Calibri" pitchFamily="34" charset="-122"/>
                <a:cs typeface="Calibri" pitchFamily="34" charset="-120"/>
              </a:rPr>
              <a:t>strategic partner </a:t>
            </a:r>
            <a:r>
              <a:rPr lang="en-US" sz="1400" dirty="0">
                <a:solidFill>
                  <a:srgbClr val="111827"/>
                </a:solidFill>
                <a:latin typeface="Calibri" pitchFamily="34" charset="0"/>
                <a:ea typeface="Calibri" pitchFamily="34" charset="-122"/>
                <a:cs typeface="Calibri" pitchFamily="34" charset="-120"/>
              </a:rPr>
              <a:t>of the business. Built the </a:t>
            </a:r>
            <a:r>
              <a:rPr lang="en-US" sz="1400" b="1" dirty="0">
                <a:solidFill>
                  <a:srgbClr val="111827"/>
                </a:solidFill>
                <a:latin typeface="Calibri" pitchFamily="34" charset="0"/>
                <a:ea typeface="Calibri" pitchFamily="34" charset="-122"/>
                <a:cs typeface="Calibri" pitchFamily="34" charset="-120"/>
              </a:rPr>
              <a:t>executive-level IT strategy</a:t>
            </a:r>
            <a:r>
              <a:rPr lang="en-US" sz="1400" dirty="0">
                <a:solidFill>
                  <a:srgbClr val="111827"/>
                </a:solidFill>
                <a:latin typeface="Calibri" pitchFamily="34" charset="0"/>
                <a:ea typeface="Calibri" pitchFamily="34" charset="-122"/>
                <a:cs typeface="Calibri" pitchFamily="34" charset="-120"/>
              </a:rPr>
              <a:t>, </a:t>
            </a:r>
            <a:r>
              <a:rPr lang="en-US" sz="1400" b="1" dirty="0">
                <a:solidFill>
                  <a:srgbClr val="111827"/>
                </a:solidFill>
                <a:latin typeface="Calibri" pitchFamily="34" charset="0"/>
                <a:ea typeface="Calibri" pitchFamily="34" charset="-122"/>
                <a:cs typeface="Calibri" pitchFamily="34" charset="-120"/>
              </a:rPr>
              <a:t>governance</a:t>
            </a:r>
            <a:r>
              <a:rPr lang="en-US" sz="1400" dirty="0">
                <a:solidFill>
                  <a:srgbClr val="111827"/>
                </a:solidFill>
                <a:latin typeface="Calibri" pitchFamily="34" charset="0"/>
                <a:ea typeface="Calibri" pitchFamily="34" charset="-122"/>
                <a:cs typeface="Calibri" pitchFamily="34" charset="-120"/>
              </a:rPr>
              <a:t> and </a:t>
            </a:r>
            <a:r>
              <a:rPr lang="en-US" sz="1400" b="1" dirty="0">
                <a:solidFill>
                  <a:srgbClr val="111827"/>
                </a:solidFill>
                <a:latin typeface="Calibri" pitchFamily="34" charset="0"/>
                <a:ea typeface="Calibri" pitchFamily="34" charset="-122"/>
                <a:cs typeface="Calibri" pitchFamily="34" charset="-120"/>
              </a:rPr>
              <a:t>demand management </a:t>
            </a:r>
            <a:r>
              <a:rPr lang="en-US" sz="1400" dirty="0">
                <a:solidFill>
                  <a:srgbClr val="111827"/>
                </a:solidFill>
                <a:latin typeface="Calibri" pitchFamily="34" charset="0"/>
                <a:ea typeface="Calibri" pitchFamily="34" charset="-122"/>
                <a:cs typeface="Calibri" pitchFamily="34" charset="-120"/>
              </a:rPr>
              <a:t>that would later become an inspiration for the company management system. The role where strategy, business literacy and IT execution were welded together.</a:t>
            </a:r>
            <a:endParaRPr lang="en-US" sz="1400" dirty="0"/>
          </a:p>
        </p:txBody>
      </p:sp>
      <p:sp>
        <p:nvSpPr>
          <p:cNvPr id="12" name="Shape 10"/>
          <p:cNvSpPr/>
          <p:nvPr/>
        </p:nvSpPr>
        <p:spPr>
          <a:xfrm>
            <a:off x="457200" y="3384316"/>
            <a:ext cx="146304" cy="146304"/>
          </a:xfrm>
          <a:prstGeom prst="ellipse">
            <a:avLst/>
          </a:prstGeom>
          <a:solidFill>
            <a:srgbClr val="F59E0B"/>
          </a:solidFill>
          <a:ln/>
        </p:spPr>
        <p:txBody>
          <a:bodyPr/>
          <a:lstStyle/>
          <a:p>
            <a:endParaRPr lang="en-SE"/>
          </a:p>
        </p:txBody>
      </p:sp>
      <p:sp>
        <p:nvSpPr>
          <p:cNvPr id="13" name="Text 11"/>
          <p:cNvSpPr/>
          <p:nvPr/>
        </p:nvSpPr>
        <p:spPr>
          <a:xfrm>
            <a:off x="658368" y="3320308"/>
            <a:ext cx="6565392" cy="274320"/>
          </a:xfrm>
          <a:prstGeom prst="rect">
            <a:avLst/>
          </a:prstGeom>
          <a:noFill/>
          <a:ln/>
        </p:spPr>
        <p:txBody>
          <a:bodyPr wrap="square" lIns="0" tIns="0" rIns="0" bIns="0" rtlCol="0" anchor="ctr"/>
          <a:lstStyle/>
          <a:p>
            <a:pPr marL="0" indent="0">
              <a:buNone/>
            </a:pPr>
            <a:r>
              <a:rPr lang="en-US" sz="1400" b="1" kern="0" spc="500" dirty="0">
                <a:solidFill>
                  <a:srgbClr val="D97706"/>
                </a:solidFill>
                <a:latin typeface="Calibri" pitchFamily="34" charset="0"/>
                <a:ea typeface="Calibri" pitchFamily="34" charset="-122"/>
                <a:cs typeface="Calibri" pitchFamily="34" charset="-120"/>
              </a:rPr>
              <a:t>KEY  ACCOMPLISHMENTS  ·  WITH  IMPACT</a:t>
            </a:r>
            <a:endParaRPr lang="en-US" sz="1400" dirty="0"/>
          </a:p>
        </p:txBody>
      </p:sp>
      <p:sp>
        <p:nvSpPr>
          <p:cNvPr id="14" name="Shape 12"/>
          <p:cNvSpPr/>
          <p:nvPr/>
        </p:nvSpPr>
        <p:spPr>
          <a:xfrm>
            <a:off x="457200" y="3631204"/>
            <a:ext cx="3300984" cy="914400"/>
          </a:xfrm>
          <a:prstGeom prst="rect">
            <a:avLst/>
          </a:prstGeom>
          <a:solidFill>
            <a:srgbClr val="FFFFFF"/>
          </a:solidFill>
          <a:ln w="9525">
            <a:solidFill>
              <a:srgbClr val="E5E7EB"/>
            </a:solidFill>
            <a:prstDash val="solid"/>
          </a:ln>
        </p:spPr>
        <p:txBody>
          <a:bodyPr/>
          <a:lstStyle/>
          <a:p>
            <a:endParaRPr lang="en-SE"/>
          </a:p>
        </p:txBody>
      </p:sp>
      <p:sp>
        <p:nvSpPr>
          <p:cNvPr id="15" name="Shape 13"/>
          <p:cNvSpPr/>
          <p:nvPr/>
        </p:nvSpPr>
        <p:spPr>
          <a:xfrm>
            <a:off x="457200" y="3631204"/>
            <a:ext cx="91440" cy="914400"/>
          </a:xfrm>
          <a:prstGeom prst="rect">
            <a:avLst/>
          </a:prstGeom>
          <a:solidFill>
            <a:srgbClr val="F59E0B"/>
          </a:solidFill>
          <a:ln/>
        </p:spPr>
        <p:txBody>
          <a:bodyPr/>
          <a:lstStyle/>
          <a:p>
            <a:endParaRPr lang="en-SE"/>
          </a:p>
        </p:txBody>
      </p:sp>
      <p:sp>
        <p:nvSpPr>
          <p:cNvPr id="16" name="Shape 14"/>
          <p:cNvSpPr/>
          <p:nvPr/>
        </p:nvSpPr>
        <p:spPr>
          <a:xfrm>
            <a:off x="658368" y="3795796"/>
            <a:ext cx="146304" cy="146304"/>
          </a:xfrm>
          <a:prstGeom prst="ellipse">
            <a:avLst/>
          </a:prstGeom>
          <a:solidFill>
            <a:srgbClr val="F59E0B"/>
          </a:solidFill>
          <a:ln/>
        </p:spPr>
        <p:txBody>
          <a:bodyPr/>
          <a:lstStyle/>
          <a:p>
            <a:endParaRPr lang="en-SE"/>
          </a:p>
        </p:txBody>
      </p:sp>
      <p:sp>
        <p:nvSpPr>
          <p:cNvPr id="17" name="Text 15"/>
          <p:cNvSpPr/>
          <p:nvPr/>
        </p:nvSpPr>
        <p:spPr>
          <a:xfrm>
            <a:off x="868680" y="3704356"/>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IT  →  Strategic partner</a:t>
            </a:r>
            <a:endParaRPr lang="en-US" sz="1450" dirty="0"/>
          </a:p>
        </p:txBody>
      </p:sp>
      <p:sp>
        <p:nvSpPr>
          <p:cNvPr id="18" name="Text 16"/>
          <p:cNvSpPr/>
          <p:nvPr/>
        </p:nvSpPr>
        <p:spPr>
          <a:xfrm>
            <a:off x="658368" y="4088404"/>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Shifted IT positioning from order-taker to </a:t>
            </a:r>
            <a:r>
              <a:rPr lang="en-US" sz="1020" b="1" dirty="0">
                <a:solidFill>
                  <a:srgbClr val="0A1A2F"/>
                </a:solidFill>
                <a:latin typeface="Calibri" pitchFamily="34" charset="0"/>
                <a:ea typeface="Calibri" pitchFamily="34" charset="-122"/>
                <a:cs typeface="Calibri" pitchFamily="34" charset="-120"/>
              </a:rPr>
              <a:t>business-shaping function</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19" name="Shape 17"/>
          <p:cNvSpPr/>
          <p:nvPr/>
        </p:nvSpPr>
        <p:spPr>
          <a:xfrm>
            <a:off x="3922776" y="3631204"/>
            <a:ext cx="3300984" cy="914400"/>
          </a:xfrm>
          <a:prstGeom prst="rect">
            <a:avLst/>
          </a:prstGeom>
          <a:solidFill>
            <a:srgbClr val="FFFFFF"/>
          </a:solidFill>
          <a:ln w="9525">
            <a:solidFill>
              <a:srgbClr val="E5E7EB"/>
            </a:solidFill>
            <a:prstDash val="solid"/>
          </a:ln>
        </p:spPr>
        <p:txBody>
          <a:bodyPr/>
          <a:lstStyle/>
          <a:p>
            <a:endParaRPr lang="en-SE"/>
          </a:p>
        </p:txBody>
      </p:sp>
      <p:sp>
        <p:nvSpPr>
          <p:cNvPr id="20" name="Shape 18"/>
          <p:cNvSpPr/>
          <p:nvPr/>
        </p:nvSpPr>
        <p:spPr>
          <a:xfrm>
            <a:off x="3922776" y="3631204"/>
            <a:ext cx="91440" cy="914400"/>
          </a:xfrm>
          <a:prstGeom prst="rect">
            <a:avLst/>
          </a:prstGeom>
          <a:solidFill>
            <a:srgbClr val="F59E0B"/>
          </a:solidFill>
          <a:ln/>
        </p:spPr>
        <p:txBody>
          <a:bodyPr/>
          <a:lstStyle/>
          <a:p>
            <a:endParaRPr lang="en-SE"/>
          </a:p>
        </p:txBody>
      </p:sp>
      <p:sp>
        <p:nvSpPr>
          <p:cNvPr id="21" name="Shape 19"/>
          <p:cNvSpPr/>
          <p:nvPr/>
        </p:nvSpPr>
        <p:spPr>
          <a:xfrm>
            <a:off x="4123944" y="3795796"/>
            <a:ext cx="146304" cy="146304"/>
          </a:xfrm>
          <a:prstGeom prst="ellipse">
            <a:avLst/>
          </a:prstGeom>
          <a:solidFill>
            <a:srgbClr val="F59E0B"/>
          </a:solidFill>
          <a:ln/>
        </p:spPr>
        <p:txBody>
          <a:bodyPr/>
          <a:lstStyle/>
          <a:p>
            <a:endParaRPr lang="en-SE"/>
          </a:p>
        </p:txBody>
      </p:sp>
      <p:sp>
        <p:nvSpPr>
          <p:cNvPr id="22" name="Text 20"/>
          <p:cNvSpPr/>
          <p:nvPr/>
        </p:nvSpPr>
        <p:spPr>
          <a:xfrm>
            <a:off x="4334256" y="3704356"/>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Executive IT governance</a:t>
            </a:r>
            <a:endParaRPr lang="en-US" sz="1450" dirty="0"/>
          </a:p>
        </p:txBody>
      </p:sp>
      <p:sp>
        <p:nvSpPr>
          <p:cNvPr id="23" name="Text 21"/>
          <p:cNvSpPr/>
          <p:nvPr/>
        </p:nvSpPr>
        <p:spPr>
          <a:xfrm>
            <a:off x="4123944" y="4088404"/>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Forums and cadence to </a:t>
            </a:r>
            <a:r>
              <a:rPr lang="en-US" sz="1020" b="1" dirty="0">
                <a:solidFill>
                  <a:srgbClr val="0A1A2F"/>
                </a:solidFill>
                <a:latin typeface="Calibri" pitchFamily="34" charset="0"/>
                <a:ea typeface="Calibri" pitchFamily="34" charset="-122"/>
                <a:cs typeface="Calibri" pitchFamily="34" charset="-120"/>
              </a:rPr>
              <a:t>steer IT investments at exec level</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24" name="Shape 22"/>
          <p:cNvSpPr/>
          <p:nvPr/>
        </p:nvSpPr>
        <p:spPr>
          <a:xfrm>
            <a:off x="457200" y="4655332"/>
            <a:ext cx="3300984" cy="914400"/>
          </a:xfrm>
          <a:prstGeom prst="rect">
            <a:avLst/>
          </a:prstGeom>
          <a:solidFill>
            <a:srgbClr val="FFFFFF"/>
          </a:solidFill>
          <a:ln w="9525">
            <a:solidFill>
              <a:srgbClr val="E5E7EB"/>
            </a:solidFill>
            <a:prstDash val="solid"/>
          </a:ln>
        </p:spPr>
        <p:txBody>
          <a:bodyPr/>
          <a:lstStyle/>
          <a:p>
            <a:endParaRPr lang="en-SE"/>
          </a:p>
        </p:txBody>
      </p:sp>
      <p:sp>
        <p:nvSpPr>
          <p:cNvPr id="25" name="Shape 23"/>
          <p:cNvSpPr/>
          <p:nvPr/>
        </p:nvSpPr>
        <p:spPr>
          <a:xfrm>
            <a:off x="457200" y="4655332"/>
            <a:ext cx="91440" cy="914400"/>
          </a:xfrm>
          <a:prstGeom prst="rect">
            <a:avLst/>
          </a:prstGeom>
          <a:solidFill>
            <a:srgbClr val="F59E0B"/>
          </a:solidFill>
          <a:ln/>
        </p:spPr>
        <p:txBody>
          <a:bodyPr/>
          <a:lstStyle/>
          <a:p>
            <a:endParaRPr lang="en-SE"/>
          </a:p>
        </p:txBody>
      </p:sp>
      <p:sp>
        <p:nvSpPr>
          <p:cNvPr id="26" name="Shape 24"/>
          <p:cNvSpPr/>
          <p:nvPr/>
        </p:nvSpPr>
        <p:spPr>
          <a:xfrm>
            <a:off x="658368" y="4819924"/>
            <a:ext cx="146304" cy="146304"/>
          </a:xfrm>
          <a:prstGeom prst="ellipse">
            <a:avLst/>
          </a:prstGeom>
          <a:solidFill>
            <a:srgbClr val="F59E0B"/>
          </a:solidFill>
          <a:ln/>
        </p:spPr>
        <p:txBody>
          <a:bodyPr/>
          <a:lstStyle/>
          <a:p>
            <a:endParaRPr lang="en-SE"/>
          </a:p>
        </p:txBody>
      </p:sp>
      <p:sp>
        <p:nvSpPr>
          <p:cNvPr id="27" name="Text 25"/>
          <p:cNvSpPr/>
          <p:nvPr/>
        </p:nvSpPr>
        <p:spPr>
          <a:xfrm>
            <a:off x="868680" y="4728484"/>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Demand management</a:t>
            </a:r>
            <a:endParaRPr lang="en-US" sz="1450" dirty="0"/>
          </a:p>
        </p:txBody>
      </p:sp>
      <p:sp>
        <p:nvSpPr>
          <p:cNvPr id="28" name="Text 26"/>
          <p:cNvSpPr/>
          <p:nvPr/>
        </p:nvSpPr>
        <p:spPr>
          <a:xfrm>
            <a:off x="658368" y="5112532"/>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System that </a:t>
            </a:r>
            <a:r>
              <a:rPr lang="en-US" sz="1020" b="1" dirty="0">
                <a:solidFill>
                  <a:srgbClr val="0A1A2F"/>
                </a:solidFill>
                <a:latin typeface="Calibri" pitchFamily="34" charset="0"/>
                <a:ea typeface="Calibri" pitchFamily="34" charset="-122"/>
                <a:cs typeface="Calibri" pitchFamily="34" charset="-120"/>
              </a:rPr>
              <a:t>captured, qualified and prioritised</a:t>
            </a:r>
            <a:r>
              <a:rPr lang="en-US" sz="1020" dirty="0">
                <a:solidFill>
                  <a:srgbClr val="111827"/>
                </a:solidFill>
                <a:latin typeface="Calibri" pitchFamily="34" charset="0"/>
                <a:ea typeface="Calibri" pitchFamily="34" charset="-122"/>
                <a:cs typeface="Calibri" pitchFamily="34" charset="-120"/>
              </a:rPr>
              <a:t> business demand.</a:t>
            </a:r>
            <a:endParaRPr lang="en-US" sz="1020" dirty="0"/>
          </a:p>
        </p:txBody>
      </p:sp>
      <p:sp>
        <p:nvSpPr>
          <p:cNvPr id="29" name="Shape 27"/>
          <p:cNvSpPr/>
          <p:nvPr/>
        </p:nvSpPr>
        <p:spPr>
          <a:xfrm>
            <a:off x="3922776" y="4655332"/>
            <a:ext cx="3300984" cy="914400"/>
          </a:xfrm>
          <a:prstGeom prst="rect">
            <a:avLst/>
          </a:prstGeom>
          <a:solidFill>
            <a:srgbClr val="FFFFFF"/>
          </a:solidFill>
          <a:ln w="9525">
            <a:solidFill>
              <a:srgbClr val="E5E7EB"/>
            </a:solidFill>
            <a:prstDash val="solid"/>
          </a:ln>
        </p:spPr>
        <p:txBody>
          <a:bodyPr/>
          <a:lstStyle/>
          <a:p>
            <a:endParaRPr lang="en-SE"/>
          </a:p>
        </p:txBody>
      </p:sp>
      <p:sp>
        <p:nvSpPr>
          <p:cNvPr id="30" name="Shape 28"/>
          <p:cNvSpPr/>
          <p:nvPr/>
        </p:nvSpPr>
        <p:spPr>
          <a:xfrm>
            <a:off x="3922776" y="4655332"/>
            <a:ext cx="91440" cy="914400"/>
          </a:xfrm>
          <a:prstGeom prst="rect">
            <a:avLst/>
          </a:prstGeom>
          <a:solidFill>
            <a:srgbClr val="F59E0B"/>
          </a:solidFill>
          <a:ln/>
        </p:spPr>
        <p:txBody>
          <a:bodyPr/>
          <a:lstStyle/>
          <a:p>
            <a:endParaRPr lang="en-SE"/>
          </a:p>
        </p:txBody>
      </p:sp>
      <p:sp>
        <p:nvSpPr>
          <p:cNvPr id="31" name="Shape 29"/>
          <p:cNvSpPr/>
          <p:nvPr/>
        </p:nvSpPr>
        <p:spPr>
          <a:xfrm>
            <a:off x="4123944" y="4819924"/>
            <a:ext cx="146304" cy="146304"/>
          </a:xfrm>
          <a:prstGeom prst="ellipse">
            <a:avLst/>
          </a:prstGeom>
          <a:solidFill>
            <a:srgbClr val="F59E0B"/>
          </a:solidFill>
          <a:ln/>
        </p:spPr>
        <p:txBody>
          <a:bodyPr/>
          <a:lstStyle/>
          <a:p>
            <a:endParaRPr lang="en-SE"/>
          </a:p>
        </p:txBody>
      </p:sp>
      <p:sp>
        <p:nvSpPr>
          <p:cNvPr id="32" name="Text 30"/>
          <p:cNvSpPr/>
          <p:nvPr/>
        </p:nvSpPr>
        <p:spPr>
          <a:xfrm>
            <a:off x="4334256" y="4728484"/>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Foundation for TMS</a:t>
            </a:r>
            <a:endParaRPr lang="en-US" sz="1450" dirty="0"/>
          </a:p>
        </p:txBody>
      </p:sp>
      <p:sp>
        <p:nvSpPr>
          <p:cNvPr id="33" name="Text 31"/>
          <p:cNvSpPr/>
          <p:nvPr/>
        </p:nvSpPr>
        <p:spPr>
          <a:xfrm>
            <a:off x="4123944" y="5112532"/>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Governance disciplines later </a:t>
            </a:r>
            <a:r>
              <a:rPr lang="en-US" sz="1020" b="1" dirty="0">
                <a:solidFill>
                  <a:srgbClr val="0A1A2F"/>
                </a:solidFill>
                <a:latin typeface="Calibri" pitchFamily="34" charset="0"/>
                <a:ea typeface="Calibri" pitchFamily="34" charset="-122"/>
                <a:cs typeface="Calibri" pitchFamily="34" charset="-120"/>
              </a:rPr>
              <a:t>scaled into the TMS</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34" name="Shape 32"/>
          <p:cNvSpPr/>
          <p:nvPr/>
        </p:nvSpPr>
        <p:spPr>
          <a:xfrm>
            <a:off x="457200" y="5679460"/>
            <a:ext cx="3300984" cy="914400"/>
          </a:xfrm>
          <a:prstGeom prst="rect">
            <a:avLst/>
          </a:prstGeom>
          <a:solidFill>
            <a:srgbClr val="FFFFFF"/>
          </a:solidFill>
          <a:ln w="9525">
            <a:solidFill>
              <a:srgbClr val="E5E7EB"/>
            </a:solidFill>
            <a:prstDash val="solid"/>
          </a:ln>
        </p:spPr>
        <p:txBody>
          <a:bodyPr/>
          <a:lstStyle/>
          <a:p>
            <a:endParaRPr lang="en-SE"/>
          </a:p>
        </p:txBody>
      </p:sp>
      <p:sp>
        <p:nvSpPr>
          <p:cNvPr id="35" name="Shape 33"/>
          <p:cNvSpPr/>
          <p:nvPr/>
        </p:nvSpPr>
        <p:spPr>
          <a:xfrm>
            <a:off x="457200" y="5679460"/>
            <a:ext cx="91440" cy="914400"/>
          </a:xfrm>
          <a:prstGeom prst="rect">
            <a:avLst/>
          </a:prstGeom>
          <a:solidFill>
            <a:srgbClr val="F59E0B"/>
          </a:solidFill>
          <a:ln/>
        </p:spPr>
        <p:txBody>
          <a:bodyPr/>
          <a:lstStyle/>
          <a:p>
            <a:endParaRPr lang="en-SE"/>
          </a:p>
        </p:txBody>
      </p:sp>
      <p:sp>
        <p:nvSpPr>
          <p:cNvPr id="36" name="Shape 34"/>
          <p:cNvSpPr/>
          <p:nvPr/>
        </p:nvSpPr>
        <p:spPr>
          <a:xfrm>
            <a:off x="658368" y="5844052"/>
            <a:ext cx="146304" cy="146304"/>
          </a:xfrm>
          <a:prstGeom prst="ellipse">
            <a:avLst/>
          </a:prstGeom>
          <a:solidFill>
            <a:srgbClr val="F59E0B"/>
          </a:solidFill>
          <a:ln/>
        </p:spPr>
        <p:txBody>
          <a:bodyPr/>
          <a:lstStyle/>
          <a:p>
            <a:endParaRPr lang="en-SE"/>
          </a:p>
        </p:txBody>
      </p:sp>
      <p:sp>
        <p:nvSpPr>
          <p:cNvPr id="37" name="Text 35"/>
          <p:cNvSpPr/>
          <p:nvPr/>
        </p:nvSpPr>
        <p:spPr>
          <a:xfrm>
            <a:off x="868680" y="5752612"/>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Cross-functional reach</a:t>
            </a:r>
            <a:endParaRPr lang="en-US" sz="1450" dirty="0"/>
          </a:p>
        </p:txBody>
      </p:sp>
      <p:sp>
        <p:nvSpPr>
          <p:cNvPr id="38" name="Text 36"/>
          <p:cNvSpPr/>
          <p:nvPr/>
        </p:nvSpPr>
        <p:spPr>
          <a:xfrm>
            <a:off x="658368" y="6136660"/>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Partnered with </a:t>
            </a:r>
            <a:r>
              <a:rPr lang="en-US" sz="1020" b="1" dirty="0">
                <a:solidFill>
                  <a:srgbClr val="0A1A2F"/>
                </a:solidFill>
                <a:latin typeface="Calibri" pitchFamily="34" charset="0"/>
                <a:ea typeface="Calibri" pitchFamily="34" charset="-122"/>
                <a:cs typeface="Calibri" pitchFamily="34" charset="-120"/>
              </a:rPr>
              <a:t>brand, marketing, supply, finance and HR</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39" name="Shape 37"/>
          <p:cNvSpPr/>
          <p:nvPr/>
        </p:nvSpPr>
        <p:spPr>
          <a:xfrm>
            <a:off x="3922776" y="5679460"/>
            <a:ext cx="3300984" cy="914400"/>
          </a:xfrm>
          <a:prstGeom prst="rect">
            <a:avLst/>
          </a:prstGeom>
          <a:solidFill>
            <a:srgbClr val="FFFFFF"/>
          </a:solidFill>
          <a:ln w="9525">
            <a:solidFill>
              <a:srgbClr val="E5E7EB"/>
            </a:solidFill>
            <a:prstDash val="solid"/>
          </a:ln>
        </p:spPr>
        <p:txBody>
          <a:bodyPr/>
          <a:lstStyle/>
          <a:p>
            <a:endParaRPr lang="en-SE"/>
          </a:p>
        </p:txBody>
      </p:sp>
      <p:sp>
        <p:nvSpPr>
          <p:cNvPr id="40" name="Shape 38"/>
          <p:cNvSpPr/>
          <p:nvPr/>
        </p:nvSpPr>
        <p:spPr>
          <a:xfrm>
            <a:off x="3922776" y="5679460"/>
            <a:ext cx="91440" cy="914400"/>
          </a:xfrm>
          <a:prstGeom prst="rect">
            <a:avLst/>
          </a:prstGeom>
          <a:solidFill>
            <a:srgbClr val="F59E0B"/>
          </a:solidFill>
          <a:ln/>
        </p:spPr>
        <p:txBody>
          <a:bodyPr/>
          <a:lstStyle/>
          <a:p>
            <a:endParaRPr lang="en-SE"/>
          </a:p>
        </p:txBody>
      </p:sp>
      <p:sp>
        <p:nvSpPr>
          <p:cNvPr id="41" name="Shape 39"/>
          <p:cNvSpPr/>
          <p:nvPr/>
        </p:nvSpPr>
        <p:spPr>
          <a:xfrm>
            <a:off x="4123944" y="5844052"/>
            <a:ext cx="146304" cy="146304"/>
          </a:xfrm>
          <a:prstGeom prst="ellipse">
            <a:avLst/>
          </a:prstGeom>
          <a:solidFill>
            <a:srgbClr val="F59E0B"/>
          </a:solidFill>
          <a:ln/>
        </p:spPr>
        <p:txBody>
          <a:bodyPr/>
          <a:lstStyle/>
          <a:p>
            <a:endParaRPr lang="en-SE"/>
          </a:p>
        </p:txBody>
      </p:sp>
      <p:sp>
        <p:nvSpPr>
          <p:cNvPr id="42" name="Text 40"/>
          <p:cNvSpPr/>
          <p:nvPr/>
        </p:nvSpPr>
        <p:spPr>
          <a:xfrm>
            <a:off x="4334256" y="5752612"/>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6-year tenure</a:t>
            </a:r>
            <a:endParaRPr lang="en-US" sz="1450" dirty="0"/>
          </a:p>
        </p:txBody>
      </p:sp>
      <p:sp>
        <p:nvSpPr>
          <p:cNvPr id="43" name="Text 41"/>
          <p:cNvSpPr/>
          <p:nvPr/>
        </p:nvSpPr>
        <p:spPr>
          <a:xfrm>
            <a:off x="4123944" y="6136660"/>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Built </a:t>
            </a:r>
            <a:r>
              <a:rPr lang="en-US" sz="1020" b="1" dirty="0">
                <a:solidFill>
                  <a:srgbClr val="0A1A2F"/>
                </a:solidFill>
                <a:latin typeface="Calibri" pitchFamily="34" charset="0"/>
                <a:ea typeface="Calibri" pitchFamily="34" charset="-122"/>
                <a:cs typeface="Calibri" pitchFamily="34" charset="-120"/>
              </a:rPr>
              <a:t>durable trust</a:t>
            </a:r>
            <a:r>
              <a:rPr lang="en-US" sz="1020" dirty="0">
                <a:solidFill>
                  <a:srgbClr val="111827"/>
                </a:solidFill>
                <a:latin typeface="Calibri" pitchFamily="34" charset="0"/>
                <a:ea typeface="Calibri" pitchFamily="34" charset="-122"/>
                <a:cs typeface="Calibri" pitchFamily="34" charset="-120"/>
              </a:rPr>
              <a:t> with successive business leaders.</a:t>
            </a:r>
            <a:endParaRPr lang="en-US" sz="1020" dirty="0"/>
          </a:p>
        </p:txBody>
      </p:sp>
      <p:sp>
        <p:nvSpPr>
          <p:cNvPr id="44" name="Shape 42"/>
          <p:cNvSpPr/>
          <p:nvPr/>
        </p:nvSpPr>
        <p:spPr>
          <a:xfrm>
            <a:off x="7406640" y="1691640"/>
            <a:ext cx="4370832" cy="1046560"/>
          </a:xfrm>
          <a:prstGeom prst="rect">
            <a:avLst/>
          </a:prstGeom>
          <a:solidFill>
            <a:srgbClr val="FFFFFF"/>
          </a:solidFill>
          <a:ln w="9525">
            <a:solidFill>
              <a:srgbClr val="E5E7EB"/>
            </a:solidFill>
            <a:prstDash val="solid"/>
          </a:ln>
        </p:spPr>
        <p:txBody>
          <a:bodyPr/>
          <a:lstStyle/>
          <a:p>
            <a:endParaRPr lang="en-SE"/>
          </a:p>
        </p:txBody>
      </p:sp>
      <p:sp>
        <p:nvSpPr>
          <p:cNvPr id="45" name="Shape 43"/>
          <p:cNvSpPr/>
          <p:nvPr/>
        </p:nvSpPr>
        <p:spPr>
          <a:xfrm>
            <a:off x="7406640" y="1691640"/>
            <a:ext cx="4370832" cy="329184"/>
          </a:xfrm>
          <a:prstGeom prst="rect">
            <a:avLst/>
          </a:prstGeom>
          <a:solidFill>
            <a:srgbClr val="0A1A2F"/>
          </a:solidFill>
          <a:ln/>
        </p:spPr>
        <p:txBody>
          <a:bodyPr/>
          <a:lstStyle/>
          <a:p>
            <a:endParaRPr lang="en-SE"/>
          </a:p>
        </p:txBody>
      </p:sp>
      <p:sp>
        <p:nvSpPr>
          <p:cNvPr id="46" name="Shape 44"/>
          <p:cNvSpPr/>
          <p:nvPr/>
        </p:nvSpPr>
        <p:spPr>
          <a:xfrm>
            <a:off x="7406640" y="1691640"/>
            <a:ext cx="73152" cy="329184"/>
          </a:xfrm>
          <a:prstGeom prst="rect">
            <a:avLst/>
          </a:prstGeom>
          <a:solidFill>
            <a:srgbClr val="2DD4BF"/>
          </a:solidFill>
          <a:ln/>
        </p:spPr>
        <p:txBody>
          <a:bodyPr/>
          <a:lstStyle/>
          <a:p>
            <a:endParaRPr lang="en-SE"/>
          </a:p>
        </p:txBody>
      </p:sp>
      <p:sp>
        <p:nvSpPr>
          <p:cNvPr id="47" name="Text 45"/>
          <p:cNvSpPr/>
          <p:nvPr/>
        </p:nvSpPr>
        <p:spPr>
          <a:xfrm>
            <a:off x="7589520" y="1691640"/>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TECHNOLOGY</a:t>
            </a:r>
            <a:endParaRPr lang="en-US" sz="1050" dirty="0"/>
          </a:p>
        </p:txBody>
      </p:sp>
      <p:sp>
        <p:nvSpPr>
          <p:cNvPr id="48" name="Text 46"/>
          <p:cNvSpPr/>
          <p:nvPr/>
        </p:nvSpPr>
        <p:spPr>
          <a:xfrm>
            <a:off x="7571232" y="2024968"/>
            <a:ext cx="4096512" cy="713232"/>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IT portfolio and demand management tooling</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Business architecture and capability mapping</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Reporting and steering dashboards for the IT exec</a:t>
            </a:r>
            <a:endParaRPr lang="en-US" sz="1000" dirty="0"/>
          </a:p>
        </p:txBody>
      </p:sp>
      <p:sp>
        <p:nvSpPr>
          <p:cNvPr id="49" name="Shape 47"/>
          <p:cNvSpPr/>
          <p:nvPr/>
        </p:nvSpPr>
        <p:spPr>
          <a:xfrm>
            <a:off x="7406640" y="2894166"/>
            <a:ext cx="4370832" cy="1170432"/>
          </a:xfrm>
          <a:prstGeom prst="rect">
            <a:avLst/>
          </a:prstGeom>
          <a:solidFill>
            <a:srgbClr val="FFFFFF"/>
          </a:solidFill>
          <a:ln w="9525">
            <a:solidFill>
              <a:srgbClr val="E5E7EB"/>
            </a:solidFill>
            <a:prstDash val="solid"/>
          </a:ln>
        </p:spPr>
        <p:txBody>
          <a:bodyPr/>
          <a:lstStyle/>
          <a:p>
            <a:endParaRPr lang="en-SE"/>
          </a:p>
        </p:txBody>
      </p:sp>
      <p:sp>
        <p:nvSpPr>
          <p:cNvPr id="50" name="Shape 48"/>
          <p:cNvSpPr/>
          <p:nvPr/>
        </p:nvSpPr>
        <p:spPr>
          <a:xfrm>
            <a:off x="7406640" y="2894166"/>
            <a:ext cx="4370832" cy="329184"/>
          </a:xfrm>
          <a:prstGeom prst="rect">
            <a:avLst/>
          </a:prstGeom>
          <a:solidFill>
            <a:srgbClr val="0A1A2F"/>
          </a:solidFill>
          <a:ln/>
        </p:spPr>
        <p:txBody>
          <a:bodyPr/>
          <a:lstStyle/>
          <a:p>
            <a:endParaRPr lang="en-SE"/>
          </a:p>
        </p:txBody>
      </p:sp>
      <p:sp>
        <p:nvSpPr>
          <p:cNvPr id="51" name="Shape 49"/>
          <p:cNvSpPr/>
          <p:nvPr/>
        </p:nvSpPr>
        <p:spPr>
          <a:xfrm>
            <a:off x="7406640" y="2894166"/>
            <a:ext cx="73152" cy="329184"/>
          </a:xfrm>
          <a:prstGeom prst="rect">
            <a:avLst/>
          </a:prstGeom>
          <a:solidFill>
            <a:srgbClr val="2DD4BF"/>
          </a:solidFill>
          <a:ln/>
        </p:spPr>
        <p:txBody>
          <a:bodyPr/>
          <a:lstStyle/>
          <a:p>
            <a:endParaRPr lang="en-SE"/>
          </a:p>
        </p:txBody>
      </p:sp>
      <p:sp>
        <p:nvSpPr>
          <p:cNvPr id="52" name="Text 50"/>
          <p:cNvSpPr/>
          <p:nvPr/>
        </p:nvSpPr>
        <p:spPr>
          <a:xfrm>
            <a:off x="7589520" y="2894166"/>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BUSINESS  SPECTRUM</a:t>
            </a:r>
            <a:endParaRPr lang="en-US" sz="1050" dirty="0"/>
          </a:p>
        </p:txBody>
      </p:sp>
      <p:sp>
        <p:nvSpPr>
          <p:cNvPr id="53" name="Text 51"/>
          <p:cNvSpPr/>
          <p:nvPr/>
        </p:nvSpPr>
        <p:spPr>
          <a:xfrm>
            <a:off x="7571232" y="3227494"/>
            <a:ext cx="4096512" cy="713232"/>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End-to-end Absolut business — brand, supply, commercial, finance, HR</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Investment cases, value framing and prioritisation</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Bridge between business strategy and IT roadmap</a:t>
            </a:r>
            <a:endParaRPr lang="en-US" sz="1000" dirty="0"/>
          </a:p>
        </p:txBody>
      </p:sp>
      <p:sp>
        <p:nvSpPr>
          <p:cNvPr id="54" name="Shape 52"/>
          <p:cNvSpPr/>
          <p:nvPr/>
        </p:nvSpPr>
        <p:spPr>
          <a:xfrm>
            <a:off x="7406640" y="4208830"/>
            <a:ext cx="4370832" cy="1046560"/>
          </a:xfrm>
          <a:prstGeom prst="rect">
            <a:avLst/>
          </a:prstGeom>
          <a:solidFill>
            <a:srgbClr val="FFFFFF"/>
          </a:solidFill>
          <a:ln w="9525">
            <a:solidFill>
              <a:srgbClr val="E5E7EB"/>
            </a:solidFill>
            <a:prstDash val="solid"/>
          </a:ln>
        </p:spPr>
        <p:txBody>
          <a:bodyPr/>
          <a:lstStyle/>
          <a:p>
            <a:endParaRPr lang="en-SE"/>
          </a:p>
        </p:txBody>
      </p:sp>
      <p:sp>
        <p:nvSpPr>
          <p:cNvPr id="55" name="Shape 53"/>
          <p:cNvSpPr/>
          <p:nvPr/>
        </p:nvSpPr>
        <p:spPr>
          <a:xfrm>
            <a:off x="7406640" y="4208830"/>
            <a:ext cx="4370832" cy="329184"/>
          </a:xfrm>
          <a:prstGeom prst="rect">
            <a:avLst/>
          </a:prstGeom>
          <a:solidFill>
            <a:srgbClr val="0A1A2F"/>
          </a:solidFill>
          <a:ln/>
        </p:spPr>
        <p:txBody>
          <a:bodyPr/>
          <a:lstStyle/>
          <a:p>
            <a:endParaRPr lang="en-SE"/>
          </a:p>
        </p:txBody>
      </p:sp>
      <p:sp>
        <p:nvSpPr>
          <p:cNvPr id="56" name="Shape 54"/>
          <p:cNvSpPr/>
          <p:nvPr/>
        </p:nvSpPr>
        <p:spPr>
          <a:xfrm>
            <a:off x="7406640" y="4208830"/>
            <a:ext cx="73152" cy="329184"/>
          </a:xfrm>
          <a:prstGeom prst="rect">
            <a:avLst/>
          </a:prstGeom>
          <a:solidFill>
            <a:srgbClr val="2DD4BF"/>
          </a:solidFill>
          <a:ln/>
        </p:spPr>
        <p:txBody>
          <a:bodyPr/>
          <a:lstStyle/>
          <a:p>
            <a:endParaRPr lang="en-SE"/>
          </a:p>
        </p:txBody>
      </p:sp>
      <p:sp>
        <p:nvSpPr>
          <p:cNvPr id="57" name="Text 55"/>
          <p:cNvSpPr/>
          <p:nvPr/>
        </p:nvSpPr>
        <p:spPr>
          <a:xfrm>
            <a:off x="7589520" y="4208830"/>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LEADERSHIP  EVOLUTION</a:t>
            </a:r>
            <a:endParaRPr lang="en-US" sz="1050" dirty="0"/>
          </a:p>
        </p:txBody>
      </p:sp>
      <p:sp>
        <p:nvSpPr>
          <p:cNvPr id="58" name="Text 56"/>
          <p:cNvSpPr/>
          <p:nvPr/>
        </p:nvSpPr>
        <p:spPr>
          <a:xfrm>
            <a:off x="7571232" y="4542158"/>
            <a:ext cx="4096512" cy="713232"/>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Influence-led leadership — no formal hierarchy over business</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Trusted advisor to business leaders and IT leadership</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Sharpened the executive presence used in later transformation roles</a:t>
            </a:r>
            <a:endParaRPr lang="en-US" sz="1000" dirty="0"/>
          </a:p>
        </p:txBody>
      </p:sp>
      <p:sp>
        <p:nvSpPr>
          <p:cNvPr id="59" name="Shape 57"/>
          <p:cNvSpPr/>
          <p:nvPr/>
        </p:nvSpPr>
        <p:spPr>
          <a:xfrm>
            <a:off x="7406640" y="5428608"/>
            <a:ext cx="4370832" cy="1170432"/>
          </a:xfrm>
          <a:prstGeom prst="rect">
            <a:avLst/>
          </a:prstGeom>
          <a:solidFill>
            <a:srgbClr val="FFFFFF"/>
          </a:solidFill>
          <a:ln w="9525">
            <a:solidFill>
              <a:srgbClr val="E5E7EB"/>
            </a:solidFill>
            <a:prstDash val="solid"/>
          </a:ln>
        </p:spPr>
        <p:txBody>
          <a:bodyPr/>
          <a:lstStyle/>
          <a:p>
            <a:endParaRPr lang="en-SE"/>
          </a:p>
        </p:txBody>
      </p:sp>
      <p:sp>
        <p:nvSpPr>
          <p:cNvPr id="60" name="Shape 58"/>
          <p:cNvSpPr/>
          <p:nvPr/>
        </p:nvSpPr>
        <p:spPr>
          <a:xfrm>
            <a:off x="7406640" y="5428608"/>
            <a:ext cx="4370832" cy="329184"/>
          </a:xfrm>
          <a:prstGeom prst="rect">
            <a:avLst/>
          </a:prstGeom>
          <a:solidFill>
            <a:srgbClr val="0A1A2F"/>
          </a:solidFill>
          <a:ln/>
        </p:spPr>
        <p:txBody>
          <a:bodyPr/>
          <a:lstStyle/>
          <a:p>
            <a:endParaRPr lang="en-SE"/>
          </a:p>
        </p:txBody>
      </p:sp>
      <p:sp>
        <p:nvSpPr>
          <p:cNvPr id="61" name="Shape 59"/>
          <p:cNvSpPr/>
          <p:nvPr/>
        </p:nvSpPr>
        <p:spPr>
          <a:xfrm>
            <a:off x="7406640" y="5428608"/>
            <a:ext cx="73152" cy="329184"/>
          </a:xfrm>
          <a:prstGeom prst="rect">
            <a:avLst/>
          </a:prstGeom>
          <a:solidFill>
            <a:srgbClr val="2DD4BF"/>
          </a:solidFill>
          <a:ln/>
        </p:spPr>
        <p:txBody>
          <a:bodyPr/>
          <a:lstStyle/>
          <a:p>
            <a:endParaRPr lang="en-SE"/>
          </a:p>
        </p:txBody>
      </p:sp>
      <p:sp>
        <p:nvSpPr>
          <p:cNvPr id="62" name="Text 60"/>
          <p:cNvSpPr/>
          <p:nvPr/>
        </p:nvSpPr>
        <p:spPr>
          <a:xfrm>
            <a:off x="7589520" y="5428608"/>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KEY  STAKEHOLDERS</a:t>
            </a:r>
            <a:endParaRPr lang="en-US" sz="1050" dirty="0"/>
          </a:p>
        </p:txBody>
      </p:sp>
      <p:sp>
        <p:nvSpPr>
          <p:cNvPr id="63" name="Text 61"/>
          <p:cNvSpPr/>
          <p:nvPr/>
        </p:nvSpPr>
        <p:spPr>
          <a:xfrm>
            <a:off x="7571232" y="5761936"/>
            <a:ext cx="4096512" cy="713232"/>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Absolut Executive Committee members</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IT leadership and the IT exec team</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Business sponsors of the major change initiatives</a:t>
            </a:r>
            <a:endParaRPr lang="en-US" sz="1000" dirty="0"/>
          </a:p>
        </p:txBody>
      </p:sp>
      <p:sp>
        <p:nvSpPr>
          <p:cNvPr id="64" name="Shape 62"/>
          <p:cNvSpPr/>
          <p:nvPr/>
        </p:nvSpPr>
        <p:spPr>
          <a:xfrm>
            <a:off x="457200" y="6547104"/>
            <a:ext cx="11274552" cy="0"/>
          </a:xfrm>
          <a:prstGeom prst="line">
            <a:avLst/>
          </a:prstGeom>
          <a:noFill/>
          <a:ln w="9525">
            <a:solidFill>
              <a:srgbClr val="E5E7EB"/>
            </a:solidFill>
            <a:prstDash val="solid"/>
          </a:ln>
        </p:spPr>
        <p:txBody>
          <a:bodyPr/>
          <a:lstStyle/>
          <a:p>
            <a:endParaRPr lang="en-SE"/>
          </a:p>
        </p:txBody>
      </p:sp>
      <p:sp>
        <p:nvSpPr>
          <p:cNvPr id="65" name="Text 63"/>
          <p:cNvSpPr/>
          <p:nvPr/>
        </p:nvSpPr>
        <p:spPr>
          <a:xfrm>
            <a:off x="457200" y="6592824"/>
            <a:ext cx="7315200" cy="201168"/>
          </a:xfrm>
          <a:prstGeom prst="rect">
            <a:avLst/>
          </a:prstGeom>
          <a:noFill/>
          <a:ln/>
        </p:spPr>
        <p:txBody>
          <a:bodyPr wrap="square" lIns="0" tIns="0" rIns="0" bIns="0" rtlCol="0" anchor="ctr"/>
          <a:lstStyle/>
          <a:p>
            <a:pPr marL="0" indent="0">
              <a:buNone/>
            </a:pPr>
            <a:r>
              <a:rPr lang="en-US" sz="850" b="1" kern="0" spc="400" dirty="0">
                <a:solidFill>
                  <a:srgbClr val="6B7280"/>
                </a:solidFill>
                <a:latin typeface="Calibri" pitchFamily="34" charset="0"/>
                <a:ea typeface="Calibri" pitchFamily="34" charset="-122"/>
                <a:cs typeface="Calibri" pitchFamily="34" charset="-120"/>
              </a:rPr>
              <a:t>GAUTHIER VAN WENT  ·  EXECUTIVE PROFILE</a:t>
            </a:r>
            <a:endParaRPr lang="en-US" sz="850" dirty="0"/>
          </a:p>
        </p:txBody>
      </p:sp>
      <p:sp>
        <p:nvSpPr>
          <p:cNvPr id="66" name="Text 64"/>
          <p:cNvSpPr/>
          <p:nvPr/>
        </p:nvSpPr>
        <p:spPr>
          <a:xfrm>
            <a:off x="8229600" y="6592824"/>
            <a:ext cx="3502152" cy="201168"/>
          </a:xfrm>
          <a:prstGeom prst="rect">
            <a:avLst/>
          </a:prstGeom>
          <a:noFill/>
          <a:ln/>
        </p:spPr>
        <p:txBody>
          <a:bodyPr wrap="square" lIns="0" tIns="0" rIns="0" bIns="0" rtlCol="0" anchor="ctr"/>
          <a:lstStyle/>
          <a:p>
            <a:pPr marL="0" indent="0" algn="r">
              <a:buNone/>
            </a:pPr>
            <a:r>
              <a:rPr lang="en-US" sz="850" b="1" kern="0" spc="400" dirty="0">
                <a:solidFill>
                  <a:srgbClr val="14B8A6"/>
                </a:solidFill>
                <a:latin typeface="Calibri" pitchFamily="34" charset="0"/>
                <a:ea typeface="Calibri" pitchFamily="34" charset="-122"/>
                <a:cs typeface="Calibri" pitchFamily="34" charset="-120"/>
              </a:rPr>
              <a:t>07  /  10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0"/>
          </a:xfrm>
          <a:prstGeom prst="rect">
            <a:avLst/>
          </a:prstGeom>
          <a:solidFill>
            <a:srgbClr val="0A1A2F"/>
          </a:solidFill>
          <a:ln/>
        </p:spPr>
        <p:txBody>
          <a:bodyPr/>
          <a:lstStyle/>
          <a:p>
            <a:endParaRPr lang="en-SE"/>
          </a:p>
        </p:txBody>
      </p:sp>
      <p:sp>
        <p:nvSpPr>
          <p:cNvPr id="3" name="Shape 1"/>
          <p:cNvSpPr/>
          <p:nvPr/>
        </p:nvSpPr>
        <p:spPr>
          <a:xfrm>
            <a:off x="0" y="1463040"/>
            <a:ext cx="12188952" cy="54864"/>
          </a:xfrm>
          <a:prstGeom prst="rect">
            <a:avLst/>
          </a:prstGeom>
          <a:solidFill>
            <a:srgbClr val="2DD4BF"/>
          </a:solidFill>
          <a:ln/>
        </p:spPr>
        <p:txBody>
          <a:bodyPr/>
          <a:lstStyle/>
          <a:p>
            <a:endParaRPr lang="en-SE"/>
          </a:p>
        </p:txBody>
      </p:sp>
      <p:sp>
        <p:nvSpPr>
          <p:cNvPr id="4" name="Shape 2"/>
          <p:cNvSpPr/>
          <p:nvPr/>
        </p:nvSpPr>
        <p:spPr>
          <a:xfrm>
            <a:off x="0" y="0"/>
            <a:ext cx="91440" cy="1463040"/>
          </a:xfrm>
          <a:prstGeom prst="rect">
            <a:avLst/>
          </a:prstGeom>
          <a:solidFill>
            <a:srgbClr val="F59E0B"/>
          </a:solidFill>
          <a:ln/>
        </p:spPr>
        <p:txBody>
          <a:bodyPr/>
          <a:lstStyle/>
          <a:p>
            <a:endParaRPr lang="en-SE"/>
          </a:p>
        </p:txBody>
      </p:sp>
      <p:sp>
        <p:nvSpPr>
          <p:cNvPr id="5" name="Shape 3"/>
          <p:cNvSpPr/>
          <p:nvPr/>
        </p:nvSpPr>
        <p:spPr>
          <a:xfrm>
            <a:off x="457200" y="365760"/>
            <a:ext cx="2011680" cy="384048"/>
          </a:xfrm>
          <a:prstGeom prst="roundRect">
            <a:avLst>
              <a:gd name="adj" fmla="val 19048"/>
            </a:avLst>
          </a:prstGeom>
          <a:solidFill>
            <a:srgbClr val="2DD4BF"/>
          </a:solidFill>
          <a:ln/>
        </p:spPr>
        <p:txBody>
          <a:bodyPr/>
          <a:lstStyle/>
          <a:p>
            <a:endParaRPr lang="en-SE"/>
          </a:p>
        </p:txBody>
      </p:sp>
      <p:sp>
        <p:nvSpPr>
          <p:cNvPr id="6" name="Text 4"/>
          <p:cNvSpPr/>
          <p:nvPr/>
        </p:nvSpPr>
        <p:spPr>
          <a:xfrm>
            <a:off x="457200" y="365760"/>
            <a:ext cx="2011680" cy="384048"/>
          </a:xfrm>
          <a:prstGeom prst="rect">
            <a:avLst/>
          </a:prstGeom>
          <a:noFill/>
          <a:ln/>
        </p:spPr>
        <p:txBody>
          <a:bodyPr wrap="square" lIns="0" tIns="0" rIns="0" bIns="0" rtlCol="0" anchor="ctr"/>
          <a:lstStyle/>
          <a:p>
            <a:pPr marL="0" indent="0" algn="ctr">
              <a:buNone/>
            </a:pPr>
            <a:r>
              <a:rPr lang="en-US" sz="1100" b="1" kern="0" spc="300" dirty="0">
                <a:solidFill>
                  <a:srgbClr val="0A1A2F"/>
                </a:solidFill>
                <a:latin typeface="Calibri" pitchFamily="34" charset="0"/>
                <a:ea typeface="Calibri" pitchFamily="34" charset="-122"/>
                <a:cs typeface="Calibri" pitchFamily="34" charset="-120"/>
              </a:rPr>
              <a:t>2011 – 2016</a:t>
            </a:r>
            <a:endParaRPr lang="en-US" sz="1100" dirty="0"/>
          </a:p>
        </p:txBody>
      </p:sp>
      <p:sp>
        <p:nvSpPr>
          <p:cNvPr id="7" name="Text 5"/>
          <p:cNvSpPr/>
          <p:nvPr/>
        </p:nvSpPr>
        <p:spPr>
          <a:xfrm>
            <a:off x="9601200" y="411480"/>
            <a:ext cx="2194560" cy="292608"/>
          </a:xfrm>
          <a:prstGeom prst="rect">
            <a:avLst/>
          </a:prstGeom>
          <a:noFill/>
          <a:ln/>
        </p:spPr>
        <p:txBody>
          <a:bodyPr wrap="square" lIns="0" tIns="0" rIns="0" bIns="0" rtlCol="0" anchor="ctr"/>
          <a:lstStyle/>
          <a:p>
            <a:pPr marL="0" indent="0" algn="r">
              <a:buNone/>
            </a:pPr>
            <a:r>
              <a:rPr lang="en-US" sz="1000" b="1" kern="0" spc="400" dirty="0">
                <a:solidFill>
                  <a:srgbClr val="F59E0B"/>
                </a:solidFill>
                <a:latin typeface="Calibri" pitchFamily="34" charset="0"/>
                <a:ea typeface="Calibri" pitchFamily="34" charset="-122"/>
                <a:cs typeface="Calibri" pitchFamily="34" charset="-120"/>
              </a:rPr>
              <a:t>ROLE 6  /  7</a:t>
            </a:r>
            <a:endParaRPr lang="en-US" sz="1000" dirty="0"/>
          </a:p>
        </p:txBody>
      </p:sp>
      <p:sp>
        <p:nvSpPr>
          <p:cNvPr id="8" name="Text 6"/>
          <p:cNvSpPr/>
          <p:nvPr/>
        </p:nvSpPr>
        <p:spPr>
          <a:xfrm>
            <a:off x="457200" y="841248"/>
            <a:ext cx="11274552"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BI Project Manager</a:t>
            </a:r>
            <a:endParaRPr lang="en-US" sz="2600" dirty="0"/>
          </a:p>
        </p:txBody>
      </p:sp>
      <p:sp>
        <p:nvSpPr>
          <p:cNvPr id="9" name="Text 7"/>
          <p:cNvSpPr/>
          <p:nvPr/>
        </p:nvSpPr>
        <p:spPr>
          <a:xfrm>
            <a:off x="457200" y="1207008"/>
            <a:ext cx="11274552" cy="274320"/>
          </a:xfrm>
          <a:prstGeom prst="rect">
            <a:avLst/>
          </a:prstGeom>
          <a:noFill/>
          <a:ln/>
        </p:spPr>
        <p:txBody>
          <a:bodyPr wrap="square" lIns="0" tIns="0" rIns="0" bIns="0" rtlCol="0" anchor="ctr"/>
          <a:lstStyle/>
          <a:p>
            <a:pPr marL="0" indent="0">
              <a:buNone/>
            </a:pPr>
            <a:r>
              <a:rPr lang="en-US" sz="1150" dirty="0">
                <a:solidFill>
                  <a:srgbClr val="B6CFE6"/>
                </a:solidFill>
                <a:latin typeface="Calibri" pitchFamily="34" charset="0"/>
                <a:ea typeface="Calibri" pitchFamily="34" charset="-122"/>
                <a:cs typeface="Calibri" pitchFamily="34" charset="-120"/>
              </a:rPr>
              <a:t>PERNOD RICARD  ·  Brand IT  ↔  Business Intelligence</a:t>
            </a:r>
            <a:endParaRPr lang="en-US" sz="1150" dirty="0"/>
          </a:p>
        </p:txBody>
      </p:sp>
      <p:sp>
        <p:nvSpPr>
          <p:cNvPr id="10" name="Text 8"/>
          <p:cNvSpPr/>
          <p:nvPr/>
        </p:nvSpPr>
        <p:spPr>
          <a:xfrm>
            <a:off x="457200" y="1691640"/>
            <a:ext cx="6766560" cy="274320"/>
          </a:xfrm>
          <a:prstGeom prst="rect">
            <a:avLst/>
          </a:prstGeom>
          <a:noFill/>
          <a:ln/>
        </p:spPr>
        <p:txBody>
          <a:bodyPr wrap="square" lIns="0" tIns="0" rIns="0" bIns="0" rtlCol="0" anchor="ctr"/>
          <a:lstStyle/>
          <a:p>
            <a:pPr marL="0" indent="0">
              <a:buNone/>
            </a:pPr>
            <a:r>
              <a:rPr lang="en-US" sz="1050" b="1" kern="0" spc="500" dirty="0">
                <a:solidFill>
                  <a:srgbClr val="14B8A6"/>
                </a:solidFill>
                <a:latin typeface="Calibri" pitchFamily="34" charset="0"/>
                <a:ea typeface="Calibri" pitchFamily="34" charset="-122"/>
                <a:cs typeface="Calibri" pitchFamily="34" charset="-120"/>
              </a:rPr>
              <a:t>ROLE  OVERVIEW</a:t>
            </a:r>
            <a:endParaRPr lang="en-US" sz="1050" dirty="0"/>
          </a:p>
        </p:txBody>
      </p:sp>
      <p:sp>
        <p:nvSpPr>
          <p:cNvPr id="11" name="Text 9"/>
          <p:cNvSpPr/>
          <p:nvPr/>
        </p:nvSpPr>
        <p:spPr>
          <a:xfrm>
            <a:off x="457200" y="1965960"/>
            <a:ext cx="6766560" cy="1371600"/>
          </a:xfrm>
          <a:prstGeom prst="rect">
            <a:avLst/>
          </a:prstGeom>
          <a:noFill/>
          <a:ln/>
        </p:spPr>
        <p:txBody>
          <a:bodyPr wrap="square" lIns="0" tIns="0" rIns="0" bIns="0" rtlCol="0" anchor="t"/>
          <a:lstStyle/>
          <a:p>
            <a:pPr marL="0" indent="0">
              <a:spcAft>
                <a:spcPts val="400"/>
              </a:spcAft>
              <a:buNone/>
            </a:pPr>
            <a:r>
              <a:rPr lang="en-US" sz="1150" dirty="0">
                <a:solidFill>
                  <a:srgbClr val="111827"/>
                </a:solidFill>
                <a:latin typeface="Calibri" pitchFamily="34" charset="0"/>
                <a:ea typeface="Calibri" pitchFamily="34" charset="-122"/>
                <a:cs typeface="Calibri" pitchFamily="34" charset="-120"/>
              </a:rPr>
              <a:t>Internal move from consultancy into Pernod Ricard, leading BI projects across brand and group functions. Managed the full delivery cycle — scoping, design, build, deployment and adoption — and developed the project-leadership and stakeholder skills that scaled into transformation roles later in career.</a:t>
            </a:r>
            <a:endParaRPr lang="en-US" sz="1150" dirty="0"/>
          </a:p>
        </p:txBody>
      </p:sp>
      <p:sp>
        <p:nvSpPr>
          <p:cNvPr id="12" name="Shape 10"/>
          <p:cNvSpPr/>
          <p:nvPr/>
        </p:nvSpPr>
        <p:spPr>
          <a:xfrm>
            <a:off x="457200" y="3401568"/>
            <a:ext cx="146304" cy="146304"/>
          </a:xfrm>
          <a:prstGeom prst="ellipse">
            <a:avLst/>
          </a:prstGeom>
          <a:solidFill>
            <a:srgbClr val="F59E0B"/>
          </a:solidFill>
          <a:ln/>
        </p:spPr>
        <p:txBody>
          <a:bodyPr/>
          <a:lstStyle/>
          <a:p>
            <a:endParaRPr lang="en-SE"/>
          </a:p>
        </p:txBody>
      </p:sp>
      <p:sp>
        <p:nvSpPr>
          <p:cNvPr id="13" name="Text 11"/>
          <p:cNvSpPr/>
          <p:nvPr/>
        </p:nvSpPr>
        <p:spPr>
          <a:xfrm>
            <a:off x="658368" y="3337560"/>
            <a:ext cx="6565392" cy="274320"/>
          </a:xfrm>
          <a:prstGeom prst="rect">
            <a:avLst/>
          </a:prstGeom>
          <a:noFill/>
          <a:ln/>
        </p:spPr>
        <p:txBody>
          <a:bodyPr wrap="square" lIns="0" tIns="0" rIns="0" bIns="0" rtlCol="0" anchor="ctr"/>
          <a:lstStyle/>
          <a:p>
            <a:pPr marL="0" indent="0">
              <a:buNone/>
            </a:pPr>
            <a:r>
              <a:rPr lang="en-US" sz="1050" b="1" kern="0" spc="500" dirty="0">
                <a:solidFill>
                  <a:srgbClr val="D97706"/>
                </a:solidFill>
                <a:latin typeface="Calibri" pitchFamily="34" charset="0"/>
                <a:ea typeface="Calibri" pitchFamily="34" charset="-122"/>
                <a:cs typeface="Calibri" pitchFamily="34" charset="-120"/>
              </a:rPr>
              <a:t>KEY  ACCOMPLISHMENTS  ·  WITH  IMPACT</a:t>
            </a:r>
            <a:endParaRPr lang="en-US" sz="1050" dirty="0"/>
          </a:p>
        </p:txBody>
      </p:sp>
      <p:sp>
        <p:nvSpPr>
          <p:cNvPr id="14" name="Shape 12"/>
          <p:cNvSpPr/>
          <p:nvPr/>
        </p:nvSpPr>
        <p:spPr>
          <a:xfrm>
            <a:off x="457200" y="3648456"/>
            <a:ext cx="3300984" cy="914400"/>
          </a:xfrm>
          <a:prstGeom prst="rect">
            <a:avLst/>
          </a:prstGeom>
          <a:solidFill>
            <a:srgbClr val="FFFFFF"/>
          </a:solidFill>
          <a:ln w="9525">
            <a:solidFill>
              <a:srgbClr val="E5E7EB"/>
            </a:solidFill>
            <a:prstDash val="solid"/>
          </a:ln>
        </p:spPr>
        <p:txBody>
          <a:bodyPr/>
          <a:lstStyle/>
          <a:p>
            <a:endParaRPr lang="en-SE"/>
          </a:p>
        </p:txBody>
      </p:sp>
      <p:sp>
        <p:nvSpPr>
          <p:cNvPr id="15" name="Shape 13"/>
          <p:cNvSpPr/>
          <p:nvPr/>
        </p:nvSpPr>
        <p:spPr>
          <a:xfrm>
            <a:off x="457200" y="3648456"/>
            <a:ext cx="91440" cy="914400"/>
          </a:xfrm>
          <a:prstGeom prst="rect">
            <a:avLst/>
          </a:prstGeom>
          <a:solidFill>
            <a:srgbClr val="F59E0B"/>
          </a:solidFill>
          <a:ln/>
        </p:spPr>
        <p:txBody>
          <a:bodyPr/>
          <a:lstStyle/>
          <a:p>
            <a:endParaRPr lang="en-SE"/>
          </a:p>
        </p:txBody>
      </p:sp>
      <p:sp>
        <p:nvSpPr>
          <p:cNvPr id="16" name="Shape 14"/>
          <p:cNvSpPr/>
          <p:nvPr/>
        </p:nvSpPr>
        <p:spPr>
          <a:xfrm>
            <a:off x="658368" y="3813048"/>
            <a:ext cx="146304" cy="146304"/>
          </a:xfrm>
          <a:prstGeom prst="ellipse">
            <a:avLst/>
          </a:prstGeom>
          <a:solidFill>
            <a:srgbClr val="F59E0B"/>
          </a:solidFill>
          <a:ln/>
        </p:spPr>
        <p:txBody>
          <a:bodyPr/>
          <a:lstStyle/>
          <a:p>
            <a:endParaRPr lang="en-SE"/>
          </a:p>
        </p:txBody>
      </p:sp>
      <p:sp>
        <p:nvSpPr>
          <p:cNvPr id="17" name="Text 15"/>
          <p:cNvSpPr/>
          <p:nvPr/>
        </p:nvSpPr>
        <p:spPr>
          <a:xfrm>
            <a:off x="868680" y="3721608"/>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Multi-year BI portfolio</a:t>
            </a:r>
            <a:endParaRPr lang="en-US" sz="1450" dirty="0"/>
          </a:p>
        </p:txBody>
      </p:sp>
      <p:sp>
        <p:nvSpPr>
          <p:cNvPr id="18" name="Text 16"/>
          <p:cNvSpPr/>
          <p:nvPr/>
        </p:nvSpPr>
        <p:spPr>
          <a:xfrm>
            <a:off x="658368" y="4105656"/>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Successive waves of </a:t>
            </a:r>
            <a:r>
              <a:rPr lang="en-US" sz="1020" b="1" dirty="0">
                <a:solidFill>
                  <a:srgbClr val="0A1A2F"/>
                </a:solidFill>
                <a:latin typeface="Calibri" pitchFamily="34" charset="0"/>
                <a:ea typeface="Calibri" pitchFamily="34" charset="-122"/>
                <a:cs typeface="Calibri" pitchFamily="34" charset="-120"/>
              </a:rPr>
              <a:t>BI projects</a:t>
            </a:r>
            <a:r>
              <a:rPr lang="en-US" sz="1020" dirty="0">
                <a:solidFill>
                  <a:srgbClr val="111827"/>
                </a:solidFill>
                <a:latin typeface="Calibri" pitchFamily="34" charset="0"/>
                <a:ea typeface="Calibri" pitchFamily="34" charset="-122"/>
                <a:cs typeface="Calibri" pitchFamily="34" charset="-120"/>
              </a:rPr>
              <a:t> for brand and group analytics.</a:t>
            </a:r>
            <a:endParaRPr lang="en-US" sz="1020" dirty="0"/>
          </a:p>
        </p:txBody>
      </p:sp>
      <p:sp>
        <p:nvSpPr>
          <p:cNvPr id="19" name="Shape 17"/>
          <p:cNvSpPr/>
          <p:nvPr/>
        </p:nvSpPr>
        <p:spPr>
          <a:xfrm>
            <a:off x="3922776" y="3648456"/>
            <a:ext cx="3300984" cy="914400"/>
          </a:xfrm>
          <a:prstGeom prst="rect">
            <a:avLst/>
          </a:prstGeom>
          <a:solidFill>
            <a:srgbClr val="FFFFFF"/>
          </a:solidFill>
          <a:ln w="9525">
            <a:solidFill>
              <a:srgbClr val="E5E7EB"/>
            </a:solidFill>
            <a:prstDash val="solid"/>
          </a:ln>
        </p:spPr>
        <p:txBody>
          <a:bodyPr/>
          <a:lstStyle/>
          <a:p>
            <a:endParaRPr lang="en-SE"/>
          </a:p>
        </p:txBody>
      </p:sp>
      <p:sp>
        <p:nvSpPr>
          <p:cNvPr id="20" name="Shape 18"/>
          <p:cNvSpPr/>
          <p:nvPr/>
        </p:nvSpPr>
        <p:spPr>
          <a:xfrm>
            <a:off x="3922776" y="3648456"/>
            <a:ext cx="91440" cy="914400"/>
          </a:xfrm>
          <a:prstGeom prst="rect">
            <a:avLst/>
          </a:prstGeom>
          <a:solidFill>
            <a:srgbClr val="F59E0B"/>
          </a:solidFill>
          <a:ln/>
        </p:spPr>
        <p:txBody>
          <a:bodyPr/>
          <a:lstStyle/>
          <a:p>
            <a:endParaRPr lang="en-SE"/>
          </a:p>
        </p:txBody>
      </p:sp>
      <p:sp>
        <p:nvSpPr>
          <p:cNvPr id="21" name="Shape 19"/>
          <p:cNvSpPr/>
          <p:nvPr/>
        </p:nvSpPr>
        <p:spPr>
          <a:xfrm>
            <a:off x="4123944" y="3813048"/>
            <a:ext cx="146304" cy="146304"/>
          </a:xfrm>
          <a:prstGeom prst="ellipse">
            <a:avLst/>
          </a:prstGeom>
          <a:solidFill>
            <a:srgbClr val="F59E0B"/>
          </a:solidFill>
          <a:ln/>
        </p:spPr>
        <p:txBody>
          <a:bodyPr/>
          <a:lstStyle/>
          <a:p>
            <a:endParaRPr lang="en-SE"/>
          </a:p>
        </p:txBody>
      </p:sp>
      <p:sp>
        <p:nvSpPr>
          <p:cNvPr id="22" name="Text 20"/>
          <p:cNvSpPr/>
          <p:nvPr/>
        </p:nvSpPr>
        <p:spPr>
          <a:xfrm>
            <a:off x="4334256" y="3721608"/>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End-to-end delivery</a:t>
            </a:r>
            <a:endParaRPr lang="en-US" sz="1450" dirty="0"/>
          </a:p>
        </p:txBody>
      </p:sp>
      <p:sp>
        <p:nvSpPr>
          <p:cNvPr id="23" name="Text 21"/>
          <p:cNvSpPr/>
          <p:nvPr/>
        </p:nvSpPr>
        <p:spPr>
          <a:xfrm>
            <a:off x="4123944" y="4105656"/>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Owned </a:t>
            </a:r>
            <a:r>
              <a:rPr lang="en-US" sz="1020" b="1" dirty="0">
                <a:solidFill>
                  <a:srgbClr val="0A1A2F"/>
                </a:solidFill>
                <a:latin typeface="Calibri" pitchFamily="34" charset="0"/>
                <a:ea typeface="Calibri" pitchFamily="34" charset="-122"/>
                <a:cs typeface="Calibri" pitchFamily="34" charset="-120"/>
              </a:rPr>
              <a:t>scope, plan, vendors, build and adoption</a:t>
            </a:r>
            <a:r>
              <a:rPr lang="en-US" sz="1020" dirty="0">
                <a:solidFill>
                  <a:srgbClr val="111827"/>
                </a:solidFill>
                <a:latin typeface="Calibri" pitchFamily="34" charset="0"/>
                <a:ea typeface="Calibri" pitchFamily="34" charset="-122"/>
                <a:cs typeface="Calibri" pitchFamily="34" charset="-120"/>
              </a:rPr>
              <a:t> — not a hand-off model.</a:t>
            </a:r>
            <a:endParaRPr lang="en-US" sz="1020" dirty="0"/>
          </a:p>
        </p:txBody>
      </p:sp>
      <p:sp>
        <p:nvSpPr>
          <p:cNvPr id="24" name="Shape 22"/>
          <p:cNvSpPr/>
          <p:nvPr/>
        </p:nvSpPr>
        <p:spPr>
          <a:xfrm>
            <a:off x="457200" y="4672584"/>
            <a:ext cx="3300984" cy="914400"/>
          </a:xfrm>
          <a:prstGeom prst="rect">
            <a:avLst/>
          </a:prstGeom>
          <a:solidFill>
            <a:srgbClr val="FFFFFF"/>
          </a:solidFill>
          <a:ln w="9525">
            <a:solidFill>
              <a:srgbClr val="E5E7EB"/>
            </a:solidFill>
            <a:prstDash val="solid"/>
          </a:ln>
        </p:spPr>
        <p:txBody>
          <a:bodyPr/>
          <a:lstStyle/>
          <a:p>
            <a:endParaRPr lang="en-SE"/>
          </a:p>
        </p:txBody>
      </p:sp>
      <p:sp>
        <p:nvSpPr>
          <p:cNvPr id="25" name="Shape 23"/>
          <p:cNvSpPr/>
          <p:nvPr/>
        </p:nvSpPr>
        <p:spPr>
          <a:xfrm>
            <a:off x="457200" y="4672584"/>
            <a:ext cx="91440" cy="914400"/>
          </a:xfrm>
          <a:prstGeom prst="rect">
            <a:avLst/>
          </a:prstGeom>
          <a:solidFill>
            <a:srgbClr val="F59E0B"/>
          </a:solidFill>
          <a:ln/>
        </p:spPr>
        <p:txBody>
          <a:bodyPr/>
          <a:lstStyle/>
          <a:p>
            <a:endParaRPr lang="en-SE"/>
          </a:p>
        </p:txBody>
      </p:sp>
      <p:sp>
        <p:nvSpPr>
          <p:cNvPr id="26" name="Shape 24"/>
          <p:cNvSpPr/>
          <p:nvPr/>
        </p:nvSpPr>
        <p:spPr>
          <a:xfrm>
            <a:off x="658368" y="4837176"/>
            <a:ext cx="146304" cy="146304"/>
          </a:xfrm>
          <a:prstGeom prst="ellipse">
            <a:avLst/>
          </a:prstGeom>
          <a:solidFill>
            <a:srgbClr val="F59E0B"/>
          </a:solidFill>
          <a:ln/>
        </p:spPr>
        <p:txBody>
          <a:bodyPr/>
          <a:lstStyle/>
          <a:p>
            <a:endParaRPr lang="en-SE"/>
          </a:p>
        </p:txBody>
      </p:sp>
      <p:sp>
        <p:nvSpPr>
          <p:cNvPr id="27" name="Text 25"/>
          <p:cNvSpPr/>
          <p:nvPr/>
        </p:nvSpPr>
        <p:spPr>
          <a:xfrm>
            <a:off x="868680" y="4745736"/>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Stakeholder leadership</a:t>
            </a:r>
            <a:endParaRPr lang="en-US" sz="1450" dirty="0"/>
          </a:p>
        </p:txBody>
      </p:sp>
      <p:sp>
        <p:nvSpPr>
          <p:cNvPr id="28" name="Text 26"/>
          <p:cNvSpPr/>
          <p:nvPr/>
        </p:nvSpPr>
        <p:spPr>
          <a:xfrm>
            <a:off x="658368" y="5129784"/>
            <a:ext cx="2980944" cy="411480"/>
          </a:xfrm>
          <a:prstGeom prst="rect">
            <a:avLst/>
          </a:prstGeom>
          <a:noFill/>
          <a:ln/>
        </p:spPr>
        <p:txBody>
          <a:bodyPr wrap="square" lIns="0" tIns="0" rIns="0" bIns="0" rtlCol="0" anchor="t"/>
          <a:lstStyle/>
          <a:p>
            <a:pPr marL="0" indent="0">
              <a:buNone/>
            </a:pPr>
            <a:r>
              <a:rPr lang="en-US" sz="1020" b="1" dirty="0">
                <a:solidFill>
                  <a:srgbClr val="0A1A2F"/>
                </a:solidFill>
                <a:latin typeface="Calibri" pitchFamily="34" charset="0"/>
                <a:ea typeface="Calibri" pitchFamily="34" charset="-122"/>
                <a:cs typeface="Calibri" pitchFamily="34" charset="-120"/>
              </a:rPr>
              <a:t>Sole point of accountability</a:t>
            </a:r>
            <a:r>
              <a:rPr lang="en-US" sz="1020" dirty="0">
                <a:solidFill>
                  <a:srgbClr val="111827"/>
                </a:solidFill>
                <a:latin typeface="Calibri" pitchFamily="34" charset="0"/>
                <a:ea typeface="Calibri" pitchFamily="34" charset="-122"/>
                <a:cs typeface="Calibri" pitchFamily="34" charset="-120"/>
              </a:rPr>
              <a:t> for business sponsors across the lifecycle.</a:t>
            </a:r>
            <a:endParaRPr lang="en-US" sz="1020" dirty="0"/>
          </a:p>
        </p:txBody>
      </p:sp>
      <p:sp>
        <p:nvSpPr>
          <p:cNvPr id="29" name="Shape 27"/>
          <p:cNvSpPr/>
          <p:nvPr/>
        </p:nvSpPr>
        <p:spPr>
          <a:xfrm>
            <a:off x="3922776" y="4672584"/>
            <a:ext cx="3300984" cy="914400"/>
          </a:xfrm>
          <a:prstGeom prst="rect">
            <a:avLst/>
          </a:prstGeom>
          <a:solidFill>
            <a:srgbClr val="FFFFFF"/>
          </a:solidFill>
          <a:ln w="9525">
            <a:solidFill>
              <a:srgbClr val="E5E7EB"/>
            </a:solidFill>
            <a:prstDash val="solid"/>
          </a:ln>
        </p:spPr>
        <p:txBody>
          <a:bodyPr/>
          <a:lstStyle/>
          <a:p>
            <a:endParaRPr lang="en-SE"/>
          </a:p>
        </p:txBody>
      </p:sp>
      <p:sp>
        <p:nvSpPr>
          <p:cNvPr id="30" name="Shape 28"/>
          <p:cNvSpPr/>
          <p:nvPr/>
        </p:nvSpPr>
        <p:spPr>
          <a:xfrm>
            <a:off x="3922776" y="4672584"/>
            <a:ext cx="91440" cy="914400"/>
          </a:xfrm>
          <a:prstGeom prst="rect">
            <a:avLst/>
          </a:prstGeom>
          <a:solidFill>
            <a:srgbClr val="F59E0B"/>
          </a:solidFill>
          <a:ln/>
        </p:spPr>
        <p:txBody>
          <a:bodyPr/>
          <a:lstStyle/>
          <a:p>
            <a:endParaRPr lang="en-SE"/>
          </a:p>
        </p:txBody>
      </p:sp>
      <p:sp>
        <p:nvSpPr>
          <p:cNvPr id="31" name="Shape 29"/>
          <p:cNvSpPr/>
          <p:nvPr/>
        </p:nvSpPr>
        <p:spPr>
          <a:xfrm>
            <a:off x="4123944" y="4837176"/>
            <a:ext cx="146304" cy="146304"/>
          </a:xfrm>
          <a:prstGeom prst="ellipse">
            <a:avLst/>
          </a:prstGeom>
          <a:solidFill>
            <a:srgbClr val="F59E0B"/>
          </a:solidFill>
          <a:ln/>
        </p:spPr>
        <p:txBody>
          <a:bodyPr/>
          <a:lstStyle/>
          <a:p>
            <a:endParaRPr lang="en-SE"/>
          </a:p>
        </p:txBody>
      </p:sp>
      <p:sp>
        <p:nvSpPr>
          <p:cNvPr id="32" name="Text 30"/>
          <p:cNvSpPr/>
          <p:nvPr/>
        </p:nvSpPr>
        <p:spPr>
          <a:xfrm>
            <a:off x="4334256" y="4745736"/>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Vendor &amp; cost control</a:t>
            </a:r>
            <a:endParaRPr lang="en-US" sz="1450" dirty="0"/>
          </a:p>
        </p:txBody>
      </p:sp>
      <p:sp>
        <p:nvSpPr>
          <p:cNvPr id="33" name="Text 31"/>
          <p:cNvSpPr/>
          <p:nvPr/>
        </p:nvSpPr>
        <p:spPr>
          <a:xfrm>
            <a:off x="4123944" y="5129784"/>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Managed external delivery partners against </a:t>
            </a:r>
            <a:r>
              <a:rPr lang="en-US" sz="1020" b="1" dirty="0">
                <a:solidFill>
                  <a:srgbClr val="0A1A2F"/>
                </a:solidFill>
                <a:latin typeface="Calibri" pitchFamily="34" charset="0"/>
                <a:ea typeface="Calibri" pitchFamily="34" charset="-122"/>
                <a:cs typeface="Calibri" pitchFamily="34" charset="-120"/>
              </a:rPr>
              <a:t>budget and milestones</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34" name="Shape 32"/>
          <p:cNvSpPr/>
          <p:nvPr/>
        </p:nvSpPr>
        <p:spPr>
          <a:xfrm>
            <a:off x="457200" y="5696712"/>
            <a:ext cx="3300984" cy="914400"/>
          </a:xfrm>
          <a:prstGeom prst="rect">
            <a:avLst/>
          </a:prstGeom>
          <a:solidFill>
            <a:srgbClr val="FFFFFF"/>
          </a:solidFill>
          <a:ln w="9525">
            <a:solidFill>
              <a:srgbClr val="E5E7EB"/>
            </a:solidFill>
            <a:prstDash val="solid"/>
          </a:ln>
        </p:spPr>
        <p:txBody>
          <a:bodyPr/>
          <a:lstStyle/>
          <a:p>
            <a:endParaRPr lang="en-SE"/>
          </a:p>
        </p:txBody>
      </p:sp>
      <p:sp>
        <p:nvSpPr>
          <p:cNvPr id="35" name="Shape 33"/>
          <p:cNvSpPr/>
          <p:nvPr/>
        </p:nvSpPr>
        <p:spPr>
          <a:xfrm>
            <a:off x="457200" y="5696712"/>
            <a:ext cx="91440" cy="914400"/>
          </a:xfrm>
          <a:prstGeom prst="rect">
            <a:avLst/>
          </a:prstGeom>
          <a:solidFill>
            <a:srgbClr val="F59E0B"/>
          </a:solidFill>
          <a:ln/>
        </p:spPr>
        <p:txBody>
          <a:bodyPr/>
          <a:lstStyle/>
          <a:p>
            <a:endParaRPr lang="en-SE"/>
          </a:p>
        </p:txBody>
      </p:sp>
      <p:sp>
        <p:nvSpPr>
          <p:cNvPr id="36" name="Shape 34"/>
          <p:cNvSpPr/>
          <p:nvPr/>
        </p:nvSpPr>
        <p:spPr>
          <a:xfrm>
            <a:off x="658368" y="5861304"/>
            <a:ext cx="146304" cy="146304"/>
          </a:xfrm>
          <a:prstGeom prst="ellipse">
            <a:avLst/>
          </a:prstGeom>
          <a:solidFill>
            <a:srgbClr val="F59E0B"/>
          </a:solidFill>
          <a:ln/>
        </p:spPr>
        <p:txBody>
          <a:bodyPr/>
          <a:lstStyle/>
          <a:p>
            <a:endParaRPr lang="en-SE"/>
          </a:p>
        </p:txBody>
      </p:sp>
      <p:sp>
        <p:nvSpPr>
          <p:cNvPr id="37" name="Text 35"/>
          <p:cNvSpPr/>
          <p:nvPr/>
        </p:nvSpPr>
        <p:spPr>
          <a:xfrm>
            <a:off x="868680" y="5769864"/>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First leadership rep</a:t>
            </a:r>
            <a:endParaRPr lang="en-US" sz="1450" dirty="0"/>
          </a:p>
        </p:txBody>
      </p:sp>
      <p:sp>
        <p:nvSpPr>
          <p:cNvPr id="38" name="Text 36"/>
          <p:cNvSpPr/>
          <p:nvPr/>
        </p:nvSpPr>
        <p:spPr>
          <a:xfrm>
            <a:off x="658368" y="6153912"/>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First role with </a:t>
            </a:r>
            <a:r>
              <a:rPr lang="en-US" sz="1020" b="1" dirty="0">
                <a:solidFill>
                  <a:srgbClr val="0A1A2F"/>
                </a:solidFill>
                <a:latin typeface="Calibri" pitchFamily="34" charset="0"/>
                <a:ea typeface="Calibri" pitchFamily="34" charset="-122"/>
                <a:cs typeface="Calibri" pitchFamily="34" charset="-120"/>
              </a:rPr>
              <a:t>hard accountability</a:t>
            </a:r>
            <a:r>
              <a:rPr lang="en-US" sz="1020" dirty="0">
                <a:solidFill>
                  <a:srgbClr val="111827"/>
                </a:solidFill>
                <a:latin typeface="Calibri" pitchFamily="34" charset="0"/>
                <a:ea typeface="Calibri" pitchFamily="34" charset="-122"/>
                <a:cs typeface="Calibri" pitchFamily="34" charset="-120"/>
              </a:rPr>
              <a:t> for delivery and team coordination.</a:t>
            </a:r>
            <a:endParaRPr lang="en-US" sz="1020" dirty="0"/>
          </a:p>
        </p:txBody>
      </p:sp>
      <p:sp>
        <p:nvSpPr>
          <p:cNvPr id="39" name="Shape 37"/>
          <p:cNvSpPr/>
          <p:nvPr/>
        </p:nvSpPr>
        <p:spPr>
          <a:xfrm>
            <a:off x="3922776" y="5696712"/>
            <a:ext cx="3300984" cy="914400"/>
          </a:xfrm>
          <a:prstGeom prst="rect">
            <a:avLst/>
          </a:prstGeom>
          <a:solidFill>
            <a:srgbClr val="FFFFFF"/>
          </a:solidFill>
          <a:ln w="9525">
            <a:solidFill>
              <a:srgbClr val="E5E7EB"/>
            </a:solidFill>
            <a:prstDash val="solid"/>
          </a:ln>
        </p:spPr>
        <p:txBody>
          <a:bodyPr/>
          <a:lstStyle/>
          <a:p>
            <a:endParaRPr lang="en-SE"/>
          </a:p>
        </p:txBody>
      </p:sp>
      <p:sp>
        <p:nvSpPr>
          <p:cNvPr id="40" name="Shape 38"/>
          <p:cNvSpPr/>
          <p:nvPr/>
        </p:nvSpPr>
        <p:spPr>
          <a:xfrm>
            <a:off x="3922776" y="5696712"/>
            <a:ext cx="91440" cy="914400"/>
          </a:xfrm>
          <a:prstGeom prst="rect">
            <a:avLst/>
          </a:prstGeom>
          <a:solidFill>
            <a:srgbClr val="F59E0B"/>
          </a:solidFill>
          <a:ln/>
        </p:spPr>
        <p:txBody>
          <a:bodyPr/>
          <a:lstStyle/>
          <a:p>
            <a:endParaRPr lang="en-SE"/>
          </a:p>
        </p:txBody>
      </p:sp>
      <p:sp>
        <p:nvSpPr>
          <p:cNvPr id="41" name="Shape 39"/>
          <p:cNvSpPr/>
          <p:nvPr/>
        </p:nvSpPr>
        <p:spPr>
          <a:xfrm>
            <a:off x="4123944" y="5861304"/>
            <a:ext cx="146304" cy="146304"/>
          </a:xfrm>
          <a:prstGeom prst="ellipse">
            <a:avLst/>
          </a:prstGeom>
          <a:solidFill>
            <a:srgbClr val="F59E0B"/>
          </a:solidFill>
          <a:ln/>
        </p:spPr>
        <p:txBody>
          <a:bodyPr/>
          <a:lstStyle/>
          <a:p>
            <a:endParaRPr lang="en-SE"/>
          </a:p>
        </p:txBody>
      </p:sp>
      <p:sp>
        <p:nvSpPr>
          <p:cNvPr id="42" name="Text 40"/>
          <p:cNvSpPr/>
          <p:nvPr/>
        </p:nvSpPr>
        <p:spPr>
          <a:xfrm>
            <a:off x="4334256" y="5769864"/>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Springboard to BRM</a:t>
            </a:r>
            <a:endParaRPr lang="en-US" sz="1450" dirty="0"/>
          </a:p>
        </p:txBody>
      </p:sp>
      <p:sp>
        <p:nvSpPr>
          <p:cNvPr id="43" name="Text 41"/>
          <p:cNvSpPr/>
          <p:nvPr/>
        </p:nvSpPr>
        <p:spPr>
          <a:xfrm>
            <a:off x="4123944" y="6153912"/>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Track record opened the move to </a:t>
            </a:r>
            <a:r>
              <a:rPr lang="en-US" sz="1020" b="1" dirty="0">
                <a:solidFill>
                  <a:srgbClr val="0A1A2F"/>
                </a:solidFill>
                <a:latin typeface="Calibri" pitchFamily="34" charset="0"/>
                <a:ea typeface="Calibri" pitchFamily="34" charset="-122"/>
                <a:cs typeface="Calibri" pitchFamily="34" charset="-120"/>
              </a:rPr>
              <a:t>Business Relationship Manager</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44" name="Shape 42"/>
          <p:cNvSpPr/>
          <p:nvPr/>
        </p:nvSpPr>
        <p:spPr>
          <a:xfrm>
            <a:off x="7406640" y="1691640"/>
            <a:ext cx="4370832" cy="1170432"/>
          </a:xfrm>
          <a:prstGeom prst="rect">
            <a:avLst/>
          </a:prstGeom>
          <a:solidFill>
            <a:srgbClr val="FFFFFF"/>
          </a:solidFill>
          <a:ln w="9525">
            <a:solidFill>
              <a:srgbClr val="E5E7EB"/>
            </a:solidFill>
            <a:prstDash val="solid"/>
          </a:ln>
        </p:spPr>
        <p:txBody>
          <a:bodyPr/>
          <a:lstStyle/>
          <a:p>
            <a:endParaRPr lang="en-SE"/>
          </a:p>
        </p:txBody>
      </p:sp>
      <p:sp>
        <p:nvSpPr>
          <p:cNvPr id="45" name="Shape 43"/>
          <p:cNvSpPr/>
          <p:nvPr/>
        </p:nvSpPr>
        <p:spPr>
          <a:xfrm>
            <a:off x="7406640" y="1691640"/>
            <a:ext cx="4370832" cy="329184"/>
          </a:xfrm>
          <a:prstGeom prst="rect">
            <a:avLst/>
          </a:prstGeom>
          <a:solidFill>
            <a:srgbClr val="0A1A2F"/>
          </a:solidFill>
          <a:ln/>
        </p:spPr>
        <p:txBody>
          <a:bodyPr/>
          <a:lstStyle/>
          <a:p>
            <a:endParaRPr lang="en-SE"/>
          </a:p>
        </p:txBody>
      </p:sp>
      <p:sp>
        <p:nvSpPr>
          <p:cNvPr id="46" name="Shape 44"/>
          <p:cNvSpPr/>
          <p:nvPr/>
        </p:nvSpPr>
        <p:spPr>
          <a:xfrm>
            <a:off x="7406640" y="1691640"/>
            <a:ext cx="73152" cy="329184"/>
          </a:xfrm>
          <a:prstGeom prst="rect">
            <a:avLst/>
          </a:prstGeom>
          <a:solidFill>
            <a:srgbClr val="2DD4BF"/>
          </a:solidFill>
          <a:ln/>
        </p:spPr>
        <p:txBody>
          <a:bodyPr/>
          <a:lstStyle/>
          <a:p>
            <a:endParaRPr lang="en-SE"/>
          </a:p>
        </p:txBody>
      </p:sp>
      <p:sp>
        <p:nvSpPr>
          <p:cNvPr id="47" name="Text 45"/>
          <p:cNvSpPr/>
          <p:nvPr/>
        </p:nvSpPr>
        <p:spPr>
          <a:xfrm>
            <a:off x="7589520" y="1691640"/>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TECHNOLOGY</a:t>
            </a:r>
            <a:endParaRPr lang="en-US" sz="1050" dirty="0"/>
          </a:p>
        </p:txBody>
      </p:sp>
      <p:sp>
        <p:nvSpPr>
          <p:cNvPr id="48" name="Text 46"/>
          <p:cNvSpPr/>
          <p:nvPr/>
        </p:nvSpPr>
        <p:spPr>
          <a:xfrm>
            <a:off x="7571232" y="2093976"/>
            <a:ext cx="4096512" cy="713232"/>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Enterprise BI suites and SQL/data-warehouse stacks</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Project management methods — plan, scope, RAID, change</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Reporting and analytics across brand and group domains</a:t>
            </a:r>
            <a:endParaRPr lang="en-US" sz="1000" dirty="0"/>
          </a:p>
        </p:txBody>
      </p:sp>
      <p:sp>
        <p:nvSpPr>
          <p:cNvPr id="49" name="Shape 47"/>
          <p:cNvSpPr/>
          <p:nvPr/>
        </p:nvSpPr>
        <p:spPr>
          <a:xfrm>
            <a:off x="7406640" y="2971800"/>
            <a:ext cx="4370832" cy="1170432"/>
          </a:xfrm>
          <a:prstGeom prst="rect">
            <a:avLst/>
          </a:prstGeom>
          <a:solidFill>
            <a:srgbClr val="FFFFFF"/>
          </a:solidFill>
          <a:ln w="9525">
            <a:solidFill>
              <a:srgbClr val="E5E7EB"/>
            </a:solidFill>
            <a:prstDash val="solid"/>
          </a:ln>
        </p:spPr>
        <p:txBody>
          <a:bodyPr/>
          <a:lstStyle/>
          <a:p>
            <a:endParaRPr lang="en-SE"/>
          </a:p>
        </p:txBody>
      </p:sp>
      <p:sp>
        <p:nvSpPr>
          <p:cNvPr id="50" name="Shape 48"/>
          <p:cNvSpPr/>
          <p:nvPr/>
        </p:nvSpPr>
        <p:spPr>
          <a:xfrm>
            <a:off x="7406640" y="2971800"/>
            <a:ext cx="4370832" cy="329184"/>
          </a:xfrm>
          <a:prstGeom prst="rect">
            <a:avLst/>
          </a:prstGeom>
          <a:solidFill>
            <a:srgbClr val="0A1A2F"/>
          </a:solidFill>
          <a:ln/>
        </p:spPr>
        <p:txBody>
          <a:bodyPr/>
          <a:lstStyle/>
          <a:p>
            <a:endParaRPr lang="en-SE"/>
          </a:p>
        </p:txBody>
      </p:sp>
      <p:sp>
        <p:nvSpPr>
          <p:cNvPr id="51" name="Shape 49"/>
          <p:cNvSpPr/>
          <p:nvPr/>
        </p:nvSpPr>
        <p:spPr>
          <a:xfrm>
            <a:off x="7406640" y="2971800"/>
            <a:ext cx="73152" cy="329184"/>
          </a:xfrm>
          <a:prstGeom prst="rect">
            <a:avLst/>
          </a:prstGeom>
          <a:solidFill>
            <a:srgbClr val="2DD4BF"/>
          </a:solidFill>
          <a:ln/>
        </p:spPr>
        <p:txBody>
          <a:bodyPr/>
          <a:lstStyle/>
          <a:p>
            <a:endParaRPr lang="en-SE"/>
          </a:p>
        </p:txBody>
      </p:sp>
      <p:sp>
        <p:nvSpPr>
          <p:cNvPr id="52" name="Text 50"/>
          <p:cNvSpPr/>
          <p:nvPr/>
        </p:nvSpPr>
        <p:spPr>
          <a:xfrm>
            <a:off x="7589520" y="2971800"/>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BUSINESS  SPECTRUM</a:t>
            </a:r>
            <a:endParaRPr lang="en-US" sz="1050" dirty="0"/>
          </a:p>
        </p:txBody>
      </p:sp>
      <p:sp>
        <p:nvSpPr>
          <p:cNvPr id="53" name="Text 51"/>
          <p:cNvSpPr/>
          <p:nvPr/>
        </p:nvSpPr>
        <p:spPr>
          <a:xfrm>
            <a:off x="7571232" y="3374136"/>
            <a:ext cx="4096512" cy="713232"/>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Brand and group functions — finance, sales, marketing reporting</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BI consumed by managers up to function leadership</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Multi-region delivery within the Pernod Ricard ecosystem</a:t>
            </a:r>
            <a:endParaRPr lang="en-US" sz="1000" dirty="0"/>
          </a:p>
        </p:txBody>
      </p:sp>
      <p:sp>
        <p:nvSpPr>
          <p:cNvPr id="54" name="Shape 52"/>
          <p:cNvSpPr/>
          <p:nvPr/>
        </p:nvSpPr>
        <p:spPr>
          <a:xfrm>
            <a:off x="7406640" y="4251960"/>
            <a:ext cx="4370832" cy="1170432"/>
          </a:xfrm>
          <a:prstGeom prst="rect">
            <a:avLst/>
          </a:prstGeom>
          <a:solidFill>
            <a:srgbClr val="FFFFFF"/>
          </a:solidFill>
          <a:ln w="9525">
            <a:solidFill>
              <a:srgbClr val="E5E7EB"/>
            </a:solidFill>
            <a:prstDash val="solid"/>
          </a:ln>
        </p:spPr>
        <p:txBody>
          <a:bodyPr/>
          <a:lstStyle/>
          <a:p>
            <a:endParaRPr lang="en-SE"/>
          </a:p>
        </p:txBody>
      </p:sp>
      <p:sp>
        <p:nvSpPr>
          <p:cNvPr id="55" name="Shape 53"/>
          <p:cNvSpPr/>
          <p:nvPr/>
        </p:nvSpPr>
        <p:spPr>
          <a:xfrm>
            <a:off x="7406640" y="4251960"/>
            <a:ext cx="4370832" cy="329184"/>
          </a:xfrm>
          <a:prstGeom prst="rect">
            <a:avLst/>
          </a:prstGeom>
          <a:solidFill>
            <a:srgbClr val="0A1A2F"/>
          </a:solidFill>
          <a:ln/>
        </p:spPr>
        <p:txBody>
          <a:bodyPr/>
          <a:lstStyle/>
          <a:p>
            <a:endParaRPr lang="en-SE"/>
          </a:p>
        </p:txBody>
      </p:sp>
      <p:sp>
        <p:nvSpPr>
          <p:cNvPr id="56" name="Shape 54"/>
          <p:cNvSpPr/>
          <p:nvPr/>
        </p:nvSpPr>
        <p:spPr>
          <a:xfrm>
            <a:off x="7406640" y="4251960"/>
            <a:ext cx="73152" cy="329184"/>
          </a:xfrm>
          <a:prstGeom prst="rect">
            <a:avLst/>
          </a:prstGeom>
          <a:solidFill>
            <a:srgbClr val="2DD4BF"/>
          </a:solidFill>
          <a:ln/>
        </p:spPr>
        <p:txBody>
          <a:bodyPr/>
          <a:lstStyle/>
          <a:p>
            <a:endParaRPr lang="en-SE"/>
          </a:p>
        </p:txBody>
      </p:sp>
      <p:sp>
        <p:nvSpPr>
          <p:cNvPr id="57" name="Text 55"/>
          <p:cNvSpPr/>
          <p:nvPr/>
        </p:nvSpPr>
        <p:spPr>
          <a:xfrm>
            <a:off x="7589520" y="4251960"/>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LEADERSHIP  EVOLUTION</a:t>
            </a:r>
            <a:endParaRPr lang="en-US" sz="1050" dirty="0"/>
          </a:p>
        </p:txBody>
      </p:sp>
      <p:sp>
        <p:nvSpPr>
          <p:cNvPr id="58" name="Text 56"/>
          <p:cNvSpPr/>
          <p:nvPr/>
        </p:nvSpPr>
        <p:spPr>
          <a:xfrm>
            <a:off x="7571232" y="4654296"/>
            <a:ext cx="4096512" cy="713232"/>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First-line delivery leadership — owned outcomes</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Mixed internal + external delivery teams</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Built credibility that unlocked the BRM appointment</a:t>
            </a:r>
            <a:endParaRPr lang="en-US" sz="1000" dirty="0"/>
          </a:p>
        </p:txBody>
      </p:sp>
      <p:sp>
        <p:nvSpPr>
          <p:cNvPr id="59" name="Shape 57"/>
          <p:cNvSpPr/>
          <p:nvPr/>
        </p:nvSpPr>
        <p:spPr>
          <a:xfrm>
            <a:off x="7406640" y="5532120"/>
            <a:ext cx="4370832" cy="1170432"/>
          </a:xfrm>
          <a:prstGeom prst="rect">
            <a:avLst/>
          </a:prstGeom>
          <a:solidFill>
            <a:srgbClr val="FFFFFF"/>
          </a:solidFill>
          <a:ln w="9525">
            <a:solidFill>
              <a:srgbClr val="E5E7EB"/>
            </a:solidFill>
            <a:prstDash val="solid"/>
          </a:ln>
        </p:spPr>
        <p:txBody>
          <a:bodyPr/>
          <a:lstStyle/>
          <a:p>
            <a:endParaRPr lang="en-SE"/>
          </a:p>
        </p:txBody>
      </p:sp>
      <p:sp>
        <p:nvSpPr>
          <p:cNvPr id="60" name="Shape 58"/>
          <p:cNvSpPr/>
          <p:nvPr/>
        </p:nvSpPr>
        <p:spPr>
          <a:xfrm>
            <a:off x="7406640" y="5532120"/>
            <a:ext cx="4370832" cy="329184"/>
          </a:xfrm>
          <a:prstGeom prst="rect">
            <a:avLst/>
          </a:prstGeom>
          <a:solidFill>
            <a:srgbClr val="0A1A2F"/>
          </a:solidFill>
          <a:ln/>
        </p:spPr>
        <p:txBody>
          <a:bodyPr/>
          <a:lstStyle/>
          <a:p>
            <a:endParaRPr lang="en-SE"/>
          </a:p>
        </p:txBody>
      </p:sp>
      <p:sp>
        <p:nvSpPr>
          <p:cNvPr id="61" name="Shape 59"/>
          <p:cNvSpPr/>
          <p:nvPr/>
        </p:nvSpPr>
        <p:spPr>
          <a:xfrm>
            <a:off x="7406640" y="5532120"/>
            <a:ext cx="73152" cy="329184"/>
          </a:xfrm>
          <a:prstGeom prst="rect">
            <a:avLst/>
          </a:prstGeom>
          <a:solidFill>
            <a:srgbClr val="2DD4BF"/>
          </a:solidFill>
          <a:ln/>
        </p:spPr>
        <p:txBody>
          <a:bodyPr/>
          <a:lstStyle/>
          <a:p>
            <a:endParaRPr lang="en-SE"/>
          </a:p>
        </p:txBody>
      </p:sp>
      <p:sp>
        <p:nvSpPr>
          <p:cNvPr id="62" name="Text 60"/>
          <p:cNvSpPr/>
          <p:nvPr/>
        </p:nvSpPr>
        <p:spPr>
          <a:xfrm>
            <a:off x="7589520" y="5532120"/>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KEY  STAKEHOLDERS</a:t>
            </a:r>
            <a:endParaRPr lang="en-US" sz="1050" dirty="0"/>
          </a:p>
        </p:txBody>
      </p:sp>
      <p:sp>
        <p:nvSpPr>
          <p:cNvPr id="63" name="Text 61"/>
          <p:cNvSpPr/>
          <p:nvPr/>
        </p:nvSpPr>
        <p:spPr>
          <a:xfrm>
            <a:off x="7571232" y="5934456"/>
            <a:ext cx="4096512" cy="713232"/>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Brand and group business sponsors</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Internal BI / IT teams and external delivery partners</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Functional users of the delivered BI capabilities</a:t>
            </a:r>
            <a:endParaRPr lang="en-US" sz="1000" dirty="0"/>
          </a:p>
        </p:txBody>
      </p:sp>
      <p:sp>
        <p:nvSpPr>
          <p:cNvPr id="64" name="Shape 62"/>
          <p:cNvSpPr/>
          <p:nvPr/>
        </p:nvSpPr>
        <p:spPr>
          <a:xfrm>
            <a:off x="457200" y="6547104"/>
            <a:ext cx="11274552" cy="0"/>
          </a:xfrm>
          <a:prstGeom prst="line">
            <a:avLst/>
          </a:prstGeom>
          <a:noFill/>
          <a:ln w="9525">
            <a:solidFill>
              <a:srgbClr val="E5E7EB"/>
            </a:solidFill>
            <a:prstDash val="solid"/>
          </a:ln>
        </p:spPr>
        <p:txBody>
          <a:bodyPr/>
          <a:lstStyle/>
          <a:p>
            <a:endParaRPr lang="en-SE"/>
          </a:p>
        </p:txBody>
      </p:sp>
      <p:sp>
        <p:nvSpPr>
          <p:cNvPr id="65" name="Text 63"/>
          <p:cNvSpPr/>
          <p:nvPr/>
        </p:nvSpPr>
        <p:spPr>
          <a:xfrm>
            <a:off x="457200" y="6592824"/>
            <a:ext cx="7315200" cy="201168"/>
          </a:xfrm>
          <a:prstGeom prst="rect">
            <a:avLst/>
          </a:prstGeom>
          <a:noFill/>
          <a:ln/>
        </p:spPr>
        <p:txBody>
          <a:bodyPr wrap="square" lIns="0" tIns="0" rIns="0" bIns="0" rtlCol="0" anchor="ctr"/>
          <a:lstStyle/>
          <a:p>
            <a:pPr marL="0" indent="0">
              <a:buNone/>
            </a:pPr>
            <a:r>
              <a:rPr lang="en-US" sz="850" b="1" kern="0" spc="400" dirty="0">
                <a:solidFill>
                  <a:srgbClr val="6B7280"/>
                </a:solidFill>
                <a:latin typeface="Calibri" pitchFamily="34" charset="0"/>
                <a:ea typeface="Calibri" pitchFamily="34" charset="-122"/>
                <a:cs typeface="Calibri" pitchFamily="34" charset="-120"/>
              </a:rPr>
              <a:t>GAUTHIER VAN WENT  ·  EXECUTIVE PROFILE</a:t>
            </a:r>
            <a:endParaRPr lang="en-US" sz="850" dirty="0"/>
          </a:p>
        </p:txBody>
      </p:sp>
      <p:sp>
        <p:nvSpPr>
          <p:cNvPr id="66" name="Text 64"/>
          <p:cNvSpPr/>
          <p:nvPr/>
        </p:nvSpPr>
        <p:spPr>
          <a:xfrm>
            <a:off x="8229600" y="6592824"/>
            <a:ext cx="3502152" cy="201168"/>
          </a:xfrm>
          <a:prstGeom prst="rect">
            <a:avLst/>
          </a:prstGeom>
          <a:noFill/>
          <a:ln/>
        </p:spPr>
        <p:txBody>
          <a:bodyPr wrap="square" lIns="0" tIns="0" rIns="0" bIns="0" rtlCol="0" anchor="ctr"/>
          <a:lstStyle/>
          <a:p>
            <a:pPr marL="0" indent="0" algn="r">
              <a:buNone/>
            </a:pPr>
            <a:r>
              <a:rPr lang="en-US" sz="850" b="1" kern="0" spc="400" dirty="0">
                <a:solidFill>
                  <a:srgbClr val="14B8A6"/>
                </a:solidFill>
                <a:latin typeface="Calibri" pitchFamily="34" charset="0"/>
                <a:ea typeface="Calibri" pitchFamily="34" charset="-122"/>
                <a:cs typeface="Calibri" pitchFamily="34" charset="-120"/>
              </a:rPr>
              <a:t>08  /  10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0"/>
          </a:xfrm>
          <a:prstGeom prst="rect">
            <a:avLst/>
          </a:prstGeom>
          <a:solidFill>
            <a:srgbClr val="0A1A2F"/>
          </a:solidFill>
          <a:ln/>
        </p:spPr>
        <p:txBody>
          <a:bodyPr/>
          <a:lstStyle/>
          <a:p>
            <a:endParaRPr lang="en-SE"/>
          </a:p>
        </p:txBody>
      </p:sp>
      <p:sp>
        <p:nvSpPr>
          <p:cNvPr id="3" name="Shape 1"/>
          <p:cNvSpPr/>
          <p:nvPr/>
        </p:nvSpPr>
        <p:spPr>
          <a:xfrm>
            <a:off x="0" y="1463040"/>
            <a:ext cx="12188952" cy="54864"/>
          </a:xfrm>
          <a:prstGeom prst="rect">
            <a:avLst/>
          </a:prstGeom>
          <a:solidFill>
            <a:srgbClr val="2DD4BF"/>
          </a:solidFill>
          <a:ln/>
        </p:spPr>
        <p:txBody>
          <a:bodyPr/>
          <a:lstStyle/>
          <a:p>
            <a:endParaRPr lang="en-SE"/>
          </a:p>
        </p:txBody>
      </p:sp>
      <p:sp>
        <p:nvSpPr>
          <p:cNvPr id="4" name="Shape 2"/>
          <p:cNvSpPr/>
          <p:nvPr/>
        </p:nvSpPr>
        <p:spPr>
          <a:xfrm>
            <a:off x="0" y="0"/>
            <a:ext cx="91440" cy="1463040"/>
          </a:xfrm>
          <a:prstGeom prst="rect">
            <a:avLst/>
          </a:prstGeom>
          <a:solidFill>
            <a:srgbClr val="F59E0B"/>
          </a:solidFill>
          <a:ln/>
        </p:spPr>
        <p:txBody>
          <a:bodyPr/>
          <a:lstStyle/>
          <a:p>
            <a:endParaRPr lang="en-SE"/>
          </a:p>
        </p:txBody>
      </p:sp>
      <p:sp>
        <p:nvSpPr>
          <p:cNvPr id="5" name="Shape 3"/>
          <p:cNvSpPr/>
          <p:nvPr/>
        </p:nvSpPr>
        <p:spPr>
          <a:xfrm>
            <a:off x="457200" y="365760"/>
            <a:ext cx="2011680" cy="384048"/>
          </a:xfrm>
          <a:prstGeom prst="roundRect">
            <a:avLst>
              <a:gd name="adj" fmla="val 19048"/>
            </a:avLst>
          </a:prstGeom>
          <a:solidFill>
            <a:srgbClr val="2DD4BF"/>
          </a:solidFill>
          <a:ln/>
        </p:spPr>
        <p:txBody>
          <a:bodyPr/>
          <a:lstStyle/>
          <a:p>
            <a:endParaRPr lang="en-SE"/>
          </a:p>
        </p:txBody>
      </p:sp>
      <p:sp>
        <p:nvSpPr>
          <p:cNvPr id="6" name="Text 4"/>
          <p:cNvSpPr/>
          <p:nvPr/>
        </p:nvSpPr>
        <p:spPr>
          <a:xfrm>
            <a:off x="457200" y="365760"/>
            <a:ext cx="2011680" cy="384048"/>
          </a:xfrm>
          <a:prstGeom prst="rect">
            <a:avLst/>
          </a:prstGeom>
          <a:noFill/>
          <a:ln/>
        </p:spPr>
        <p:txBody>
          <a:bodyPr wrap="square" lIns="0" tIns="0" rIns="0" bIns="0" rtlCol="0" anchor="ctr"/>
          <a:lstStyle/>
          <a:p>
            <a:pPr marL="0" indent="0" algn="ctr">
              <a:buNone/>
            </a:pPr>
            <a:r>
              <a:rPr lang="en-US" sz="1100" b="1" kern="0" spc="300" dirty="0">
                <a:solidFill>
                  <a:srgbClr val="0A1A2F"/>
                </a:solidFill>
                <a:latin typeface="Calibri" pitchFamily="34" charset="0"/>
                <a:ea typeface="Calibri" pitchFamily="34" charset="-122"/>
                <a:cs typeface="Calibri" pitchFamily="34" charset="-120"/>
              </a:rPr>
              <a:t>2005 – 2011</a:t>
            </a:r>
            <a:endParaRPr lang="en-US" sz="1100" dirty="0"/>
          </a:p>
        </p:txBody>
      </p:sp>
      <p:sp>
        <p:nvSpPr>
          <p:cNvPr id="7" name="Text 5"/>
          <p:cNvSpPr/>
          <p:nvPr/>
        </p:nvSpPr>
        <p:spPr>
          <a:xfrm>
            <a:off x="9601200" y="411480"/>
            <a:ext cx="2194560" cy="292608"/>
          </a:xfrm>
          <a:prstGeom prst="rect">
            <a:avLst/>
          </a:prstGeom>
          <a:noFill/>
          <a:ln/>
        </p:spPr>
        <p:txBody>
          <a:bodyPr wrap="square" lIns="0" tIns="0" rIns="0" bIns="0" rtlCol="0" anchor="ctr"/>
          <a:lstStyle/>
          <a:p>
            <a:pPr marL="0" indent="0" algn="r">
              <a:buNone/>
            </a:pPr>
            <a:r>
              <a:rPr lang="en-US" sz="1000" b="1" kern="0" spc="400" dirty="0">
                <a:solidFill>
                  <a:srgbClr val="F59E0B"/>
                </a:solidFill>
                <a:latin typeface="Calibri" pitchFamily="34" charset="0"/>
                <a:ea typeface="Calibri" pitchFamily="34" charset="-122"/>
                <a:cs typeface="Calibri" pitchFamily="34" charset="-120"/>
              </a:rPr>
              <a:t>ROLE 7  /  7</a:t>
            </a:r>
            <a:endParaRPr lang="en-US" sz="1000" dirty="0"/>
          </a:p>
        </p:txBody>
      </p:sp>
      <p:sp>
        <p:nvSpPr>
          <p:cNvPr id="8" name="Text 6"/>
          <p:cNvSpPr/>
          <p:nvPr/>
        </p:nvSpPr>
        <p:spPr>
          <a:xfrm>
            <a:off x="457200" y="841248"/>
            <a:ext cx="11274552"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BI Consultant</a:t>
            </a:r>
            <a:endParaRPr lang="en-US" sz="2600" dirty="0"/>
          </a:p>
        </p:txBody>
      </p:sp>
      <p:sp>
        <p:nvSpPr>
          <p:cNvPr id="9" name="Text 7"/>
          <p:cNvSpPr/>
          <p:nvPr/>
        </p:nvSpPr>
        <p:spPr>
          <a:xfrm>
            <a:off x="457200" y="1207008"/>
            <a:ext cx="11274552" cy="274320"/>
          </a:xfrm>
          <a:prstGeom prst="rect">
            <a:avLst/>
          </a:prstGeom>
          <a:noFill/>
          <a:ln/>
        </p:spPr>
        <p:txBody>
          <a:bodyPr wrap="square" lIns="0" tIns="0" rIns="0" bIns="0" rtlCol="0" anchor="ctr"/>
          <a:lstStyle/>
          <a:p>
            <a:pPr marL="0" indent="0">
              <a:buNone/>
            </a:pPr>
            <a:r>
              <a:rPr lang="en-US" sz="1150" dirty="0">
                <a:solidFill>
                  <a:srgbClr val="B6CFE6"/>
                </a:solidFill>
                <a:latin typeface="Calibri" pitchFamily="34" charset="0"/>
                <a:ea typeface="Calibri" pitchFamily="34" charset="-122"/>
                <a:cs typeface="Calibri" pitchFamily="34" charset="-120"/>
              </a:rPr>
              <a:t>CGI / LOGICA  ·  Consultancy across multiple clients</a:t>
            </a:r>
            <a:endParaRPr lang="en-US" sz="1150" dirty="0"/>
          </a:p>
        </p:txBody>
      </p:sp>
      <p:sp>
        <p:nvSpPr>
          <p:cNvPr id="10" name="Text 8"/>
          <p:cNvSpPr/>
          <p:nvPr/>
        </p:nvSpPr>
        <p:spPr>
          <a:xfrm>
            <a:off x="457200" y="1691640"/>
            <a:ext cx="6766560" cy="274320"/>
          </a:xfrm>
          <a:prstGeom prst="rect">
            <a:avLst/>
          </a:prstGeom>
          <a:noFill/>
          <a:ln/>
        </p:spPr>
        <p:txBody>
          <a:bodyPr wrap="square" lIns="0" tIns="0" rIns="0" bIns="0" rtlCol="0" anchor="ctr"/>
          <a:lstStyle/>
          <a:p>
            <a:pPr marL="0" indent="0">
              <a:buNone/>
            </a:pPr>
            <a:r>
              <a:rPr lang="en-US" sz="1050" b="1" kern="0" spc="500" dirty="0">
                <a:solidFill>
                  <a:srgbClr val="14B8A6"/>
                </a:solidFill>
                <a:latin typeface="Calibri" pitchFamily="34" charset="0"/>
                <a:ea typeface="Calibri" pitchFamily="34" charset="-122"/>
                <a:cs typeface="Calibri" pitchFamily="34" charset="-120"/>
              </a:rPr>
              <a:t>ROLE  OVERVIEW</a:t>
            </a:r>
            <a:endParaRPr lang="en-US" sz="1050" dirty="0"/>
          </a:p>
        </p:txBody>
      </p:sp>
      <p:sp>
        <p:nvSpPr>
          <p:cNvPr id="11" name="Text 9"/>
          <p:cNvSpPr/>
          <p:nvPr/>
        </p:nvSpPr>
        <p:spPr>
          <a:xfrm>
            <a:off x="457200" y="1965960"/>
            <a:ext cx="6766560" cy="1371600"/>
          </a:xfrm>
          <a:prstGeom prst="rect">
            <a:avLst/>
          </a:prstGeom>
          <a:noFill/>
          <a:ln/>
        </p:spPr>
        <p:txBody>
          <a:bodyPr wrap="square" lIns="0" tIns="0" rIns="0" bIns="0" rtlCol="0" anchor="t"/>
          <a:lstStyle/>
          <a:p>
            <a:pPr marL="0" indent="0">
              <a:spcAft>
                <a:spcPts val="400"/>
              </a:spcAft>
              <a:buNone/>
            </a:pPr>
            <a:r>
              <a:rPr lang="en-US" sz="1150" dirty="0">
                <a:solidFill>
                  <a:srgbClr val="111827"/>
                </a:solidFill>
                <a:latin typeface="Calibri" pitchFamily="34" charset="0"/>
                <a:ea typeface="Calibri" pitchFamily="34" charset="-122"/>
                <a:cs typeface="Calibri" pitchFamily="34" charset="-120"/>
              </a:rPr>
              <a:t>Launched career in consultancy, designing and delivering Business Intelligence solutions for enterprise clients. The grounding in data, BI tooling and structured delivery that later powered the move into Pernod Ricard and the trajectory into transformation leadership. Six years across multiple clients, geographies and stacks.</a:t>
            </a:r>
            <a:endParaRPr lang="en-US" sz="1150" dirty="0"/>
          </a:p>
        </p:txBody>
      </p:sp>
      <p:sp>
        <p:nvSpPr>
          <p:cNvPr id="12" name="Shape 10"/>
          <p:cNvSpPr/>
          <p:nvPr/>
        </p:nvSpPr>
        <p:spPr>
          <a:xfrm>
            <a:off x="457200" y="3401568"/>
            <a:ext cx="146304" cy="146304"/>
          </a:xfrm>
          <a:prstGeom prst="ellipse">
            <a:avLst/>
          </a:prstGeom>
          <a:solidFill>
            <a:srgbClr val="F59E0B"/>
          </a:solidFill>
          <a:ln/>
        </p:spPr>
        <p:txBody>
          <a:bodyPr/>
          <a:lstStyle/>
          <a:p>
            <a:endParaRPr lang="en-SE"/>
          </a:p>
        </p:txBody>
      </p:sp>
      <p:sp>
        <p:nvSpPr>
          <p:cNvPr id="13" name="Text 11"/>
          <p:cNvSpPr/>
          <p:nvPr/>
        </p:nvSpPr>
        <p:spPr>
          <a:xfrm>
            <a:off x="658368" y="3337560"/>
            <a:ext cx="6565392" cy="274320"/>
          </a:xfrm>
          <a:prstGeom prst="rect">
            <a:avLst/>
          </a:prstGeom>
          <a:noFill/>
          <a:ln/>
        </p:spPr>
        <p:txBody>
          <a:bodyPr wrap="square" lIns="0" tIns="0" rIns="0" bIns="0" rtlCol="0" anchor="ctr"/>
          <a:lstStyle/>
          <a:p>
            <a:pPr marL="0" indent="0">
              <a:buNone/>
            </a:pPr>
            <a:r>
              <a:rPr lang="en-US" sz="1050" b="1" kern="0" spc="500" dirty="0">
                <a:solidFill>
                  <a:srgbClr val="D97706"/>
                </a:solidFill>
                <a:latin typeface="Calibri" pitchFamily="34" charset="0"/>
                <a:ea typeface="Calibri" pitchFamily="34" charset="-122"/>
                <a:cs typeface="Calibri" pitchFamily="34" charset="-120"/>
              </a:rPr>
              <a:t>KEY  ACCOMPLISHMENTS  ·  WITH  IMPACT</a:t>
            </a:r>
            <a:endParaRPr lang="en-US" sz="1050" dirty="0"/>
          </a:p>
        </p:txBody>
      </p:sp>
      <p:sp>
        <p:nvSpPr>
          <p:cNvPr id="14" name="Shape 12"/>
          <p:cNvSpPr/>
          <p:nvPr/>
        </p:nvSpPr>
        <p:spPr>
          <a:xfrm>
            <a:off x="457200" y="3648456"/>
            <a:ext cx="3300984" cy="914400"/>
          </a:xfrm>
          <a:prstGeom prst="rect">
            <a:avLst/>
          </a:prstGeom>
          <a:solidFill>
            <a:srgbClr val="FFFFFF"/>
          </a:solidFill>
          <a:ln w="9525">
            <a:solidFill>
              <a:srgbClr val="E5E7EB"/>
            </a:solidFill>
            <a:prstDash val="solid"/>
          </a:ln>
        </p:spPr>
        <p:txBody>
          <a:bodyPr/>
          <a:lstStyle/>
          <a:p>
            <a:endParaRPr lang="en-SE"/>
          </a:p>
        </p:txBody>
      </p:sp>
      <p:sp>
        <p:nvSpPr>
          <p:cNvPr id="15" name="Shape 13"/>
          <p:cNvSpPr/>
          <p:nvPr/>
        </p:nvSpPr>
        <p:spPr>
          <a:xfrm>
            <a:off x="457200" y="3648456"/>
            <a:ext cx="91440" cy="914400"/>
          </a:xfrm>
          <a:prstGeom prst="rect">
            <a:avLst/>
          </a:prstGeom>
          <a:solidFill>
            <a:srgbClr val="F59E0B"/>
          </a:solidFill>
          <a:ln/>
        </p:spPr>
        <p:txBody>
          <a:bodyPr/>
          <a:lstStyle/>
          <a:p>
            <a:endParaRPr lang="en-SE"/>
          </a:p>
        </p:txBody>
      </p:sp>
      <p:sp>
        <p:nvSpPr>
          <p:cNvPr id="16" name="Shape 14"/>
          <p:cNvSpPr/>
          <p:nvPr/>
        </p:nvSpPr>
        <p:spPr>
          <a:xfrm>
            <a:off x="658368" y="3813048"/>
            <a:ext cx="146304" cy="146304"/>
          </a:xfrm>
          <a:prstGeom prst="ellipse">
            <a:avLst/>
          </a:prstGeom>
          <a:solidFill>
            <a:srgbClr val="F59E0B"/>
          </a:solidFill>
          <a:ln/>
        </p:spPr>
        <p:txBody>
          <a:bodyPr/>
          <a:lstStyle/>
          <a:p>
            <a:endParaRPr lang="en-SE"/>
          </a:p>
        </p:txBody>
      </p:sp>
      <p:sp>
        <p:nvSpPr>
          <p:cNvPr id="17" name="Text 15"/>
          <p:cNvSpPr/>
          <p:nvPr/>
        </p:nvSpPr>
        <p:spPr>
          <a:xfrm>
            <a:off x="868680" y="3721608"/>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6 years · multiple clients</a:t>
            </a:r>
            <a:endParaRPr lang="en-US" sz="1450" dirty="0"/>
          </a:p>
        </p:txBody>
      </p:sp>
      <p:sp>
        <p:nvSpPr>
          <p:cNvPr id="18" name="Text 16"/>
          <p:cNvSpPr/>
          <p:nvPr/>
        </p:nvSpPr>
        <p:spPr>
          <a:xfrm>
            <a:off x="658368" y="4105656"/>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Consulting practice spanning </a:t>
            </a:r>
            <a:r>
              <a:rPr lang="en-US" sz="1020" b="1" dirty="0">
                <a:solidFill>
                  <a:srgbClr val="0A1A2F"/>
                </a:solidFill>
                <a:latin typeface="Calibri" pitchFamily="34" charset="0"/>
                <a:ea typeface="Calibri" pitchFamily="34" charset="-122"/>
                <a:cs typeface="Calibri" pitchFamily="34" charset="-120"/>
              </a:rPr>
              <a:t>industries and BI technology stacks</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19" name="Shape 17"/>
          <p:cNvSpPr/>
          <p:nvPr/>
        </p:nvSpPr>
        <p:spPr>
          <a:xfrm>
            <a:off x="3922776" y="3648456"/>
            <a:ext cx="3300984" cy="914400"/>
          </a:xfrm>
          <a:prstGeom prst="rect">
            <a:avLst/>
          </a:prstGeom>
          <a:solidFill>
            <a:srgbClr val="FFFFFF"/>
          </a:solidFill>
          <a:ln w="9525">
            <a:solidFill>
              <a:srgbClr val="E5E7EB"/>
            </a:solidFill>
            <a:prstDash val="solid"/>
          </a:ln>
        </p:spPr>
        <p:txBody>
          <a:bodyPr/>
          <a:lstStyle/>
          <a:p>
            <a:endParaRPr lang="en-SE"/>
          </a:p>
        </p:txBody>
      </p:sp>
      <p:sp>
        <p:nvSpPr>
          <p:cNvPr id="20" name="Shape 18"/>
          <p:cNvSpPr/>
          <p:nvPr/>
        </p:nvSpPr>
        <p:spPr>
          <a:xfrm>
            <a:off x="3922776" y="3648456"/>
            <a:ext cx="91440" cy="914400"/>
          </a:xfrm>
          <a:prstGeom prst="rect">
            <a:avLst/>
          </a:prstGeom>
          <a:solidFill>
            <a:srgbClr val="F59E0B"/>
          </a:solidFill>
          <a:ln/>
        </p:spPr>
        <p:txBody>
          <a:bodyPr/>
          <a:lstStyle/>
          <a:p>
            <a:endParaRPr lang="en-SE"/>
          </a:p>
        </p:txBody>
      </p:sp>
      <p:sp>
        <p:nvSpPr>
          <p:cNvPr id="21" name="Shape 19"/>
          <p:cNvSpPr/>
          <p:nvPr/>
        </p:nvSpPr>
        <p:spPr>
          <a:xfrm>
            <a:off x="4123944" y="3813048"/>
            <a:ext cx="146304" cy="146304"/>
          </a:xfrm>
          <a:prstGeom prst="ellipse">
            <a:avLst/>
          </a:prstGeom>
          <a:solidFill>
            <a:srgbClr val="F59E0B"/>
          </a:solidFill>
          <a:ln/>
        </p:spPr>
        <p:txBody>
          <a:bodyPr/>
          <a:lstStyle/>
          <a:p>
            <a:endParaRPr lang="en-SE"/>
          </a:p>
        </p:txBody>
      </p:sp>
      <p:sp>
        <p:nvSpPr>
          <p:cNvPr id="22" name="Text 20"/>
          <p:cNvSpPr/>
          <p:nvPr/>
        </p:nvSpPr>
        <p:spPr>
          <a:xfrm>
            <a:off x="4334256" y="3721608"/>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Foundational BI mastery</a:t>
            </a:r>
            <a:endParaRPr lang="en-US" sz="1450" dirty="0"/>
          </a:p>
        </p:txBody>
      </p:sp>
      <p:sp>
        <p:nvSpPr>
          <p:cNvPr id="23" name="Text 21"/>
          <p:cNvSpPr/>
          <p:nvPr/>
        </p:nvSpPr>
        <p:spPr>
          <a:xfrm>
            <a:off x="4123944" y="4105656"/>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Hands-on across </a:t>
            </a:r>
            <a:r>
              <a:rPr lang="en-US" sz="1020" b="1" dirty="0">
                <a:solidFill>
                  <a:srgbClr val="0A1A2F"/>
                </a:solidFill>
                <a:latin typeface="Calibri" pitchFamily="34" charset="0"/>
                <a:ea typeface="Calibri" pitchFamily="34" charset="-122"/>
                <a:cs typeface="Calibri" pitchFamily="34" charset="-120"/>
              </a:rPr>
              <a:t>data modelling, ETL, reporting, analytics</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24" name="Shape 22"/>
          <p:cNvSpPr/>
          <p:nvPr/>
        </p:nvSpPr>
        <p:spPr>
          <a:xfrm>
            <a:off x="457200" y="4672584"/>
            <a:ext cx="3300984" cy="914400"/>
          </a:xfrm>
          <a:prstGeom prst="rect">
            <a:avLst/>
          </a:prstGeom>
          <a:solidFill>
            <a:srgbClr val="FFFFFF"/>
          </a:solidFill>
          <a:ln w="9525">
            <a:solidFill>
              <a:srgbClr val="E5E7EB"/>
            </a:solidFill>
            <a:prstDash val="solid"/>
          </a:ln>
        </p:spPr>
        <p:txBody>
          <a:bodyPr/>
          <a:lstStyle/>
          <a:p>
            <a:endParaRPr lang="en-SE"/>
          </a:p>
        </p:txBody>
      </p:sp>
      <p:sp>
        <p:nvSpPr>
          <p:cNvPr id="25" name="Shape 23"/>
          <p:cNvSpPr/>
          <p:nvPr/>
        </p:nvSpPr>
        <p:spPr>
          <a:xfrm>
            <a:off x="457200" y="4672584"/>
            <a:ext cx="91440" cy="914400"/>
          </a:xfrm>
          <a:prstGeom prst="rect">
            <a:avLst/>
          </a:prstGeom>
          <a:solidFill>
            <a:srgbClr val="F59E0B"/>
          </a:solidFill>
          <a:ln/>
        </p:spPr>
        <p:txBody>
          <a:bodyPr/>
          <a:lstStyle/>
          <a:p>
            <a:endParaRPr lang="en-SE"/>
          </a:p>
        </p:txBody>
      </p:sp>
      <p:sp>
        <p:nvSpPr>
          <p:cNvPr id="26" name="Shape 24"/>
          <p:cNvSpPr/>
          <p:nvPr/>
        </p:nvSpPr>
        <p:spPr>
          <a:xfrm>
            <a:off x="658368" y="4837176"/>
            <a:ext cx="146304" cy="146304"/>
          </a:xfrm>
          <a:prstGeom prst="ellipse">
            <a:avLst/>
          </a:prstGeom>
          <a:solidFill>
            <a:srgbClr val="F59E0B"/>
          </a:solidFill>
          <a:ln/>
        </p:spPr>
        <p:txBody>
          <a:bodyPr/>
          <a:lstStyle/>
          <a:p>
            <a:endParaRPr lang="en-SE"/>
          </a:p>
        </p:txBody>
      </p:sp>
      <p:sp>
        <p:nvSpPr>
          <p:cNvPr id="27" name="Text 25"/>
          <p:cNvSpPr/>
          <p:nvPr/>
        </p:nvSpPr>
        <p:spPr>
          <a:xfrm>
            <a:off x="868680" y="4745736"/>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Structured delivery</a:t>
            </a:r>
            <a:endParaRPr lang="en-US" sz="1450" dirty="0"/>
          </a:p>
        </p:txBody>
      </p:sp>
      <p:sp>
        <p:nvSpPr>
          <p:cNvPr id="28" name="Text 26"/>
          <p:cNvSpPr/>
          <p:nvPr/>
        </p:nvSpPr>
        <p:spPr>
          <a:xfrm>
            <a:off x="658368" y="5129784"/>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Trained in consultancy method — </a:t>
            </a:r>
            <a:r>
              <a:rPr lang="en-US" sz="1020" b="1" dirty="0">
                <a:solidFill>
                  <a:srgbClr val="0A1A2F"/>
                </a:solidFill>
                <a:latin typeface="Calibri" pitchFamily="34" charset="0"/>
                <a:ea typeface="Calibri" pitchFamily="34" charset="-122"/>
                <a:cs typeface="Calibri" pitchFamily="34" charset="-120"/>
              </a:rPr>
              <a:t>discovery, design, build, handover</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29" name="Shape 27"/>
          <p:cNvSpPr/>
          <p:nvPr/>
        </p:nvSpPr>
        <p:spPr>
          <a:xfrm>
            <a:off x="3922776" y="4672584"/>
            <a:ext cx="3300984" cy="914400"/>
          </a:xfrm>
          <a:prstGeom prst="rect">
            <a:avLst/>
          </a:prstGeom>
          <a:solidFill>
            <a:srgbClr val="FFFFFF"/>
          </a:solidFill>
          <a:ln w="9525">
            <a:solidFill>
              <a:srgbClr val="E5E7EB"/>
            </a:solidFill>
            <a:prstDash val="solid"/>
          </a:ln>
        </p:spPr>
        <p:txBody>
          <a:bodyPr/>
          <a:lstStyle/>
          <a:p>
            <a:endParaRPr lang="en-SE"/>
          </a:p>
        </p:txBody>
      </p:sp>
      <p:sp>
        <p:nvSpPr>
          <p:cNvPr id="30" name="Shape 28"/>
          <p:cNvSpPr/>
          <p:nvPr/>
        </p:nvSpPr>
        <p:spPr>
          <a:xfrm>
            <a:off x="3922776" y="4672584"/>
            <a:ext cx="91440" cy="914400"/>
          </a:xfrm>
          <a:prstGeom prst="rect">
            <a:avLst/>
          </a:prstGeom>
          <a:solidFill>
            <a:srgbClr val="F59E0B"/>
          </a:solidFill>
          <a:ln/>
        </p:spPr>
        <p:txBody>
          <a:bodyPr/>
          <a:lstStyle/>
          <a:p>
            <a:endParaRPr lang="en-SE"/>
          </a:p>
        </p:txBody>
      </p:sp>
      <p:sp>
        <p:nvSpPr>
          <p:cNvPr id="31" name="Shape 29"/>
          <p:cNvSpPr/>
          <p:nvPr/>
        </p:nvSpPr>
        <p:spPr>
          <a:xfrm>
            <a:off x="4123944" y="4837176"/>
            <a:ext cx="146304" cy="146304"/>
          </a:xfrm>
          <a:prstGeom prst="ellipse">
            <a:avLst/>
          </a:prstGeom>
          <a:solidFill>
            <a:srgbClr val="F59E0B"/>
          </a:solidFill>
          <a:ln/>
        </p:spPr>
        <p:txBody>
          <a:bodyPr/>
          <a:lstStyle/>
          <a:p>
            <a:endParaRPr lang="en-SE"/>
          </a:p>
        </p:txBody>
      </p:sp>
      <p:sp>
        <p:nvSpPr>
          <p:cNvPr id="32" name="Text 30"/>
          <p:cNvSpPr/>
          <p:nvPr/>
        </p:nvSpPr>
        <p:spPr>
          <a:xfrm>
            <a:off x="4334256" y="4745736"/>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Pernod Ricard exposure</a:t>
            </a:r>
            <a:endParaRPr lang="en-US" sz="1450" dirty="0"/>
          </a:p>
        </p:txBody>
      </p:sp>
      <p:sp>
        <p:nvSpPr>
          <p:cNvPr id="33" name="Text 31"/>
          <p:cNvSpPr/>
          <p:nvPr/>
        </p:nvSpPr>
        <p:spPr>
          <a:xfrm>
            <a:off x="4123944" y="5129784"/>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Engagement with Pernod Ricard which led to </a:t>
            </a:r>
            <a:r>
              <a:rPr lang="en-US" sz="1020" b="1" dirty="0">
                <a:solidFill>
                  <a:srgbClr val="0A1A2F"/>
                </a:solidFill>
                <a:latin typeface="Calibri" pitchFamily="34" charset="0"/>
                <a:ea typeface="Calibri" pitchFamily="34" charset="-122"/>
                <a:cs typeface="Calibri" pitchFamily="34" charset="-120"/>
              </a:rPr>
              <a:t>internal hire in 2011</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34" name="Shape 32"/>
          <p:cNvSpPr/>
          <p:nvPr/>
        </p:nvSpPr>
        <p:spPr>
          <a:xfrm>
            <a:off x="457200" y="5696712"/>
            <a:ext cx="3300984" cy="914400"/>
          </a:xfrm>
          <a:prstGeom prst="rect">
            <a:avLst/>
          </a:prstGeom>
          <a:solidFill>
            <a:srgbClr val="FFFFFF"/>
          </a:solidFill>
          <a:ln w="9525">
            <a:solidFill>
              <a:srgbClr val="E5E7EB"/>
            </a:solidFill>
            <a:prstDash val="solid"/>
          </a:ln>
        </p:spPr>
        <p:txBody>
          <a:bodyPr/>
          <a:lstStyle/>
          <a:p>
            <a:endParaRPr lang="en-SE"/>
          </a:p>
        </p:txBody>
      </p:sp>
      <p:sp>
        <p:nvSpPr>
          <p:cNvPr id="35" name="Shape 33"/>
          <p:cNvSpPr/>
          <p:nvPr/>
        </p:nvSpPr>
        <p:spPr>
          <a:xfrm>
            <a:off x="457200" y="5696712"/>
            <a:ext cx="91440" cy="914400"/>
          </a:xfrm>
          <a:prstGeom prst="rect">
            <a:avLst/>
          </a:prstGeom>
          <a:solidFill>
            <a:srgbClr val="F59E0B"/>
          </a:solidFill>
          <a:ln/>
        </p:spPr>
        <p:txBody>
          <a:bodyPr/>
          <a:lstStyle/>
          <a:p>
            <a:endParaRPr lang="en-SE"/>
          </a:p>
        </p:txBody>
      </p:sp>
      <p:sp>
        <p:nvSpPr>
          <p:cNvPr id="36" name="Shape 34"/>
          <p:cNvSpPr/>
          <p:nvPr/>
        </p:nvSpPr>
        <p:spPr>
          <a:xfrm>
            <a:off x="658368" y="5861304"/>
            <a:ext cx="146304" cy="146304"/>
          </a:xfrm>
          <a:prstGeom prst="ellipse">
            <a:avLst/>
          </a:prstGeom>
          <a:solidFill>
            <a:srgbClr val="F59E0B"/>
          </a:solidFill>
          <a:ln/>
        </p:spPr>
        <p:txBody>
          <a:bodyPr/>
          <a:lstStyle/>
          <a:p>
            <a:endParaRPr lang="en-SE"/>
          </a:p>
        </p:txBody>
      </p:sp>
      <p:sp>
        <p:nvSpPr>
          <p:cNvPr id="37" name="Text 35"/>
          <p:cNvSpPr/>
          <p:nvPr/>
        </p:nvSpPr>
        <p:spPr>
          <a:xfrm>
            <a:off x="868680" y="5769864"/>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Cross-cultural early</a:t>
            </a:r>
            <a:endParaRPr lang="en-US" sz="1450" dirty="0"/>
          </a:p>
        </p:txBody>
      </p:sp>
      <p:sp>
        <p:nvSpPr>
          <p:cNvPr id="38" name="Text 36"/>
          <p:cNvSpPr/>
          <p:nvPr/>
        </p:nvSpPr>
        <p:spPr>
          <a:xfrm>
            <a:off x="658368" y="6153912"/>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Started developing the </a:t>
            </a:r>
            <a:r>
              <a:rPr lang="en-US" sz="1020" b="1" dirty="0">
                <a:solidFill>
                  <a:srgbClr val="0A1A2F"/>
                </a:solidFill>
                <a:latin typeface="Calibri" pitchFamily="34" charset="0"/>
                <a:ea typeface="Calibri" pitchFamily="34" charset="-122"/>
                <a:cs typeface="Calibri" pitchFamily="34" charset="-120"/>
              </a:rPr>
              <a:t>Sweden-based, Europe-wide</a:t>
            </a:r>
            <a:r>
              <a:rPr lang="en-US" sz="1020" dirty="0">
                <a:solidFill>
                  <a:srgbClr val="111827"/>
                </a:solidFill>
                <a:latin typeface="Calibri" pitchFamily="34" charset="0"/>
                <a:ea typeface="Calibri" pitchFamily="34" charset="-122"/>
                <a:cs typeface="Calibri" pitchFamily="34" charset="-120"/>
              </a:rPr>
              <a:t> working style.</a:t>
            </a:r>
            <a:endParaRPr lang="en-US" sz="1020" dirty="0"/>
          </a:p>
        </p:txBody>
      </p:sp>
      <p:sp>
        <p:nvSpPr>
          <p:cNvPr id="39" name="Shape 37"/>
          <p:cNvSpPr/>
          <p:nvPr/>
        </p:nvSpPr>
        <p:spPr>
          <a:xfrm>
            <a:off x="3922776" y="5696712"/>
            <a:ext cx="3300984" cy="914400"/>
          </a:xfrm>
          <a:prstGeom prst="rect">
            <a:avLst/>
          </a:prstGeom>
          <a:solidFill>
            <a:srgbClr val="FFFFFF"/>
          </a:solidFill>
          <a:ln w="9525">
            <a:solidFill>
              <a:srgbClr val="E5E7EB"/>
            </a:solidFill>
            <a:prstDash val="solid"/>
          </a:ln>
        </p:spPr>
        <p:txBody>
          <a:bodyPr/>
          <a:lstStyle/>
          <a:p>
            <a:endParaRPr lang="en-SE"/>
          </a:p>
        </p:txBody>
      </p:sp>
      <p:sp>
        <p:nvSpPr>
          <p:cNvPr id="40" name="Shape 38"/>
          <p:cNvSpPr/>
          <p:nvPr/>
        </p:nvSpPr>
        <p:spPr>
          <a:xfrm>
            <a:off x="3922776" y="5696712"/>
            <a:ext cx="91440" cy="914400"/>
          </a:xfrm>
          <a:prstGeom prst="rect">
            <a:avLst/>
          </a:prstGeom>
          <a:solidFill>
            <a:srgbClr val="F59E0B"/>
          </a:solidFill>
          <a:ln/>
        </p:spPr>
        <p:txBody>
          <a:bodyPr/>
          <a:lstStyle/>
          <a:p>
            <a:endParaRPr lang="en-SE"/>
          </a:p>
        </p:txBody>
      </p:sp>
      <p:sp>
        <p:nvSpPr>
          <p:cNvPr id="41" name="Shape 39"/>
          <p:cNvSpPr/>
          <p:nvPr/>
        </p:nvSpPr>
        <p:spPr>
          <a:xfrm>
            <a:off x="4123944" y="5861304"/>
            <a:ext cx="146304" cy="146304"/>
          </a:xfrm>
          <a:prstGeom prst="ellipse">
            <a:avLst/>
          </a:prstGeom>
          <a:solidFill>
            <a:srgbClr val="F59E0B"/>
          </a:solidFill>
          <a:ln/>
        </p:spPr>
        <p:txBody>
          <a:bodyPr/>
          <a:lstStyle/>
          <a:p>
            <a:endParaRPr lang="en-SE"/>
          </a:p>
        </p:txBody>
      </p:sp>
      <p:sp>
        <p:nvSpPr>
          <p:cNvPr id="42" name="Text 40"/>
          <p:cNvSpPr/>
          <p:nvPr/>
        </p:nvSpPr>
        <p:spPr>
          <a:xfrm>
            <a:off x="4334256" y="5769864"/>
            <a:ext cx="2798064" cy="329184"/>
          </a:xfrm>
          <a:prstGeom prst="rect">
            <a:avLst/>
          </a:prstGeom>
          <a:noFill/>
          <a:ln/>
        </p:spPr>
        <p:txBody>
          <a:bodyPr wrap="square" lIns="0" tIns="0" rIns="0" bIns="0" rtlCol="0" anchor="ctr"/>
          <a:lstStyle/>
          <a:p>
            <a:pPr marL="0" indent="0">
              <a:buNone/>
            </a:pPr>
            <a:r>
              <a:rPr lang="en-US" sz="1450" b="1" dirty="0">
                <a:solidFill>
                  <a:srgbClr val="D97706"/>
                </a:solidFill>
                <a:latin typeface="Calibri" pitchFamily="34" charset="0"/>
                <a:ea typeface="Calibri" pitchFamily="34" charset="-122"/>
                <a:cs typeface="Calibri" pitchFamily="34" charset="-120"/>
              </a:rPr>
              <a:t>Career platform</a:t>
            </a:r>
            <a:endParaRPr lang="en-US" sz="1450" dirty="0"/>
          </a:p>
        </p:txBody>
      </p:sp>
      <p:sp>
        <p:nvSpPr>
          <p:cNvPr id="43" name="Text 41"/>
          <p:cNvSpPr/>
          <p:nvPr/>
        </p:nvSpPr>
        <p:spPr>
          <a:xfrm>
            <a:off x="4123944" y="6153912"/>
            <a:ext cx="2980944" cy="411480"/>
          </a:xfrm>
          <a:prstGeom prst="rect">
            <a:avLst/>
          </a:prstGeom>
          <a:noFill/>
          <a:ln/>
        </p:spPr>
        <p:txBody>
          <a:bodyPr wrap="square" lIns="0" tIns="0" rIns="0" bIns="0" rtlCol="0" anchor="t"/>
          <a:lstStyle/>
          <a:p>
            <a:pPr marL="0" indent="0">
              <a:buNone/>
            </a:pPr>
            <a:r>
              <a:rPr lang="en-US" sz="1020" dirty="0">
                <a:solidFill>
                  <a:srgbClr val="111827"/>
                </a:solidFill>
                <a:latin typeface="Calibri" pitchFamily="34" charset="0"/>
                <a:ea typeface="Calibri" pitchFamily="34" charset="-122"/>
                <a:cs typeface="Calibri" pitchFamily="34" charset="-120"/>
              </a:rPr>
              <a:t>Solid technical and delivery roots </a:t>
            </a:r>
            <a:r>
              <a:rPr lang="en-US" sz="1020" b="1" dirty="0">
                <a:solidFill>
                  <a:srgbClr val="0A1A2F"/>
                </a:solidFill>
                <a:latin typeface="Calibri" pitchFamily="34" charset="0"/>
                <a:ea typeface="Calibri" pitchFamily="34" charset="-122"/>
                <a:cs typeface="Calibri" pitchFamily="34" charset="-120"/>
              </a:rPr>
              <a:t>underpinning later business leadership</a:t>
            </a:r>
            <a:r>
              <a:rPr lang="en-US" sz="1020" dirty="0">
                <a:solidFill>
                  <a:srgbClr val="111827"/>
                </a:solidFill>
                <a:latin typeface="Calibri" pitchFamily="34" charset="0"/>
                <a:ea typeface="Calibri" pitchFamily="34" charset="-122"/>
                <a:cs typeface="Calibri" pitchFamily="34" charset="-120"/>
              </a:rPr>
              <a:t>.</a:t>
            </a:r>
            <a:endParaRPr lang="en-US" sz="1020" dirty="0"/>
          </a:p>
        </p:txBody>
      </p:sp>
      <p:sp>
        <p:nvSpPr>
          <p:cNvPr id="44" name="Shape 42"/>
          <p:cNvSpPr/>
          <p:nvPr/>
        </p:nvSpPr>
        <p:spPr>
          <a:xfrm>
            <a:off x="7406640" y="1691640"/>
            <a:ext cx="4370832" cy="1170432"/>
          </a:xfrm>
          <a:prstGeom prst="rect">
            <a:avLst/>
          </a:prstGeom>
          <a:solidFill>
            <a:srgbClr val="FFFFFF"/>
          </a:solidFill>
          <a:ln w="9525">
            <a:solidFill>
              <a:srgbClr val="E5E7EB"/>
            </a:solidFill>
            <a:prstDash val="solid"/>
          </a:ln>
        </p:spPr>
        <p:txBody>
          <a:bodyPr/>
          <a:lstStyle/>
          <a:p>
            <a:endParaRPr lang="en-SE"/>
          </a:p>
        </p:txBody>
      </p:sp>
      <p:sp>
        <p:nvSpPr>
          <p:cNvPr id="45" name="Shape 43"/>
          <p:cNvSpPr/>
          <p:nvPr/>
        </p:nvSpPr>
        <p:spPr>
          <a:xfrm>
            <a:off x="7406640" y="1691640"/>
            <a:ext cx="4370832" cy="329184"/>
          </a:xfrm>
          <a:prstGeom prst="rect">
            <a:avLst/>
          </a:prstGeom>
          <a:solidFill>
            <a:srgbClr val="0A1A2F"/>
          </a:solidFill>
          <a:ln/>
        </p:spPr>
        <p:txBody>
          <a:bodyPr/>
          <a:lstStyle/>
          <a:p>
            <a:endParaRPr lang="en-SE"/>
          </a:p>
        </p:txBody>
      </p:sp>
      <p:sp>
        <p:nvSpPr>
          <p:cNvPr id="46" name="Shape 44"/>
          <p:cNvSpPr/>
          <p:nvPr/>
        </p:nvSpPr>
        <p:spPr>
          <a:xfrm>
            <a:off x="7406640" y="1691640"/>
            <a:ext cx="73152" cy="329184"/>
          </a:xfrm>
          <a:prstGeom prst="rect">
            <a:avLst/>
          </a:prstGeom>
          <a:solidFill>
            <a:srgbClr val="2DD4BF"/>
          </a:solidFill>
          <a:ln/>
        </p:spPr>
        <p:txBody>
          <a:bodyPr/>
          <a:lstStyle/>
          <a:p>
            <a:endParaRPr lang="en-SE"/>
          </a:p>
        </p:txBody>
      </p:sp>
      <p:sp>
        <p:nvSpPr>
          <p:cNvPr id="47" name="Text 45"/>
          <p:cNvSpPr/>
          <p:nvPr/>
        </p:nvSpPr>
        <p:spPr>
          <a:xfrm>
            <a:off x="7589520" y="1691640"/>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TECHNOLOGY</a:t>
            </a:r>
            <a:endParaRPr lang="en-US" sz="1050" dirty="0"/>
          </a:p>
        </p:txBody>
      </p:sp>
      <p:sp>
        <p:nvSpPr>
          <p:cNvPr id="48" name="Text 46"/>
          <p:cNvSpPr/>
          <p:nvPr/>
        </p:nvSpPr>
        <p:spPr>
          <a:xfrm>
            <a:off x="7571232" y="2093976"/>
            <a:ext cx="4096512" cy="713232"/>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Core BI suites — reporting, dashboards, OLAP</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SQL, data modelling, ETL, data warehouse build</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Consulting delivery methodology and governance</a:t>
            </a:r>
            <a:endParaRPr lang="en-US" sz="1000" dirty="0"/>
          </a:p>
        </p:txBody>
      </p:sp>
      <p:sp>
        <p:nvSpPr>
          <p:cNvPr id="49" name="Shape 47"/>
          <p:cNvSpPr/>
          <p:nvPr/>
        </p:nvSpPr>
        <p:spPr>
          <a:xfrm>
            <a:off x="7406640" y="2971800"/>
            <a:ext cx="4370832" cy="1170432"/>
          </a:xfrm>
          <a:prstGeom prst="rect">
            <a:avLst/>
          </a:prstGeom>
          <a:solidFill>
            <a:srgbClr val="FFFFFF"/>
          </a:solidFill>
          <a:ln w="9525">
            <a:solidFill>
              <a:srgbClr val="E5E7EB"/>
            </a:solidFill>
            <a:prstDash val="solid"/>
          </a:ln>
        </p:spPr>
        <p:txBody>
          <a:bodyPr/>
          <a:lstStyle/>
          <a:p>
            <a:endParaRPr lang="en-SE"/>
          </a:p>
        </p:txBody>
      </p:sp>
      <p:sp>
        <p:nvSpPr>
          <p:cNvPr id="50" name="Shape 48"/>
          <p:cNvSpPr/>
          <p:nvPr/>
        </p:nvSpPr>
        <p:spPr>
          <a:xfrm>
            <a:off x="7406640" y="2971800"/>
            <a:ext cx="4370832" cy="329184"/>
          </a:xfrm>
          <a:prstGeom prst="rect">
            <a:avLst/>
          </a:prstGeom>
          <a:solidFill>
            <a:srgbClr val="0A1A2F"/>
          </a:solidFill>
          <a:ln/>
        </p:spPr>
        <p:txBody>
          <a:bodyPr/>
          <a:lstStyle/>
          <a:p>
            <a:endParaRPr lang="en-SE"/>
          </a:p>
        </p:txBody>
      </p:sp>
      <p:sp>
        <p:nvSpPr>
          <p:cNvPr id="51" name="Shape 49"/>
          <p:cNvSpPr/>
          <p:nvPr/>
        </p:nvSpPr>
        <p:spPr>
          <a:xfrm>
            <a:off x="7406640" y="2971800"/>
            <a:ext cx="73152" cy="329184"/>
          </a:xfrm>
          <a:prstGeom prst="rect">
            <a:avLst/>
          </a:prstGeom>
          <a:solidFill>
            <a:srgbClr val="2DD4BF"/>
          </a:solidFill>
          <a:ln/>
        </p:spPr>
        <p:txBody>
          <a:bodyPr/>
          <a:lstStyle/>
          <a:p>
            <a:endParaRPr lang="en-SE"/>
          </a:p>
        </p:txBody>
      </p:sp>
      <p:sp>
        <p:nvSpPr>
          <p:cNvPr id="52" name="Text 50"/>
          <p:cNvSpPr/>
          <p:nvPr/>
        </p:nvSpPr>
        <p:spPr>
          <a:xfrm>
            <a:off x="7589520" y="2971800"/>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BUSINESS  SPECTRUM</a:t>
            </a:r>
            <a:endParaRPr lang="en-US" sz="1050" dirty="0"/>
          </a:p>
        </p:txBody>
      </p:sp>
      <p:sp>
        <p:nvSpPr>
          <p:cNvPr id="53" name="Text 51"/>
          <p:cNvSpPr/>
          <p:nvPr/>
        </p:nvSpPr>
        <p:spPr>
          <a:xfrm>
            <a:off x="7571232" y="3374136"/>
            <a:ext cx="4096512" cy="713232"/>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Multiple industries through consulting engagements</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Finance, sales, operations reporting use cases</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Client-side business stakeholders end-to-end</a:t>
            </a:r>
            <a:endParaRPr lang="en-US" sz="1000" dirty="0"/>
          </a:p>
        </p:txBody>
      </p:sp>
      <p:sp>
        <p:nvSpPr>
          <p:cNvPr id="54" name="Shape 52"/>
          <p:cNvSpPr/>
          <p:nvPr/>
        </p:nvSpPr>
        <p:spPr>
          <a:xfrm>
            <a:off x="7406640" y="4251960"/>
            <a:ext cx="4370832" cy="1170432"/>
          </a:xfrm>
          <a:prstGeom prst="rect">
            <a:avLst/>
          </a:prstGeom>
          <a:solidFill>
            <a:srgbClr val="FFFFFF"/>
          </a:solidFill>
          <a:ln w="9525">
            <a:solidFill>
              <a:srgbClr val="E5E7EB"/>
            </a:solidFill>
            <a:prstDash val="solid"/>
          </a:ln>
        </p:spPr>
        <p:txBody>
          <a:bodyPr/>
          <a:lstStyle/>
          <a:p>
            <a:endParaRPr lang="en-SE"/>
          </a:p>
        </p:txBody>
      </p:sp>
      <p:sp>
        <p:nvSpPr>
          <p:cNvPr id="55" name="Shape 53"/>
          <p:cNvSpPr/>
          <p:nvPr/>
        </p:nvSpPr>
        <p:spPr>
          <a:xfrm>
            <a:off x="7406640" y="4251960"/>
            <a:ext cx="4370832" cy="329184"/>
          </a:xfrm>
          <a:prstGeom prst="rect">
            <a:avLst/>
          </a:prstGeom>
          <a:solidFill>
            <a:srgbClr val="0A1A2F"/>
          </a:solidFill>
          <a:ln/>
        </p:spPr>
        <p:txBody>
          <a:bodyPr/>
          <a:lstStyle/>
          <a:p>
            <a:endParaRPr lang="en-SE"/>
          </a:p>
        </p:txBody>
      </p:sp>
      <p:sp>
        <p:nvSpPr>
          <p:cNvPr id="56" name="Shape 54"/>
          <p:cNvSpPr/>
          <p:nvPr/>
        </p:nvSpPr>
        <p:spPr>
          <a:xfrm>
            <a:off x="7406640" y="4251960"/>
            <a:ext cx="73152" cy="329184"/>
          </a:xfrm>
          <a:prstGeom prst="rect">
            <a:avLst/>
          </a:prstGeom>
          <a:solidFill>
            <a:srgbClr val="2DD4BF"/>
          </a:solidFill>
          <a:ln/>
        </p:spPr>
        <p:txBody>
          <a:bodyPr/>
          <a:lstStyle/>
          <a:p>
            <a:endParaRPr lang="en-SE"/>
          </a:p>
        </p:txBody>
      </p:sp>
      <p:sp>
        <p:nvSpPr>
          <p:cNvPr id="57" name="Text 55"/>
          <p:cNvSpPr/>
          <p:nvPr/>
        </p:nvSpPr>
        <p:spPr>
          <a:xfrm>
            <a:off x="7589520" y="4251960"/>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LEADERSHIP  EVOLUTION</a:t>
            </a:r>
            <a:endParaRPr lang="en-US" sz="1050" dirty="0"/>
          </a:p>
        </p:txBody>
      </p:sp>
      <p:sp>
        <p:nvSpPr>
          <p:cNvPr id="58" name="Text 56"/>
          <p:cNvSpPr/>
          <p:nvPr/>
        </p:nvSpPr>
        <p:spPr>
          <a:xfrm>
            <a:off x="7571232" y="4654296"/>
            <a:ext cx="4096512" cy="713232"/>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Individual contributor evolving to senior consultant</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Workstream lead on larger engagements</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Foundation of client-facing executive presence</a:t>
            </a:r>
            <a:endParaRPr lang="en-US" sz="1000" dirty="0"/>
          </a:p>
        </p:txBody>
      </p:sp>
      <p:sp>
        <p:nvSpPr>
          <p:cNvPr id="59" name="Shape 57"/>
          <p:cNvSpPr/>
          <p:nvPr/>
        </p:nvSpPr>
        <p:spPr>
          <a:xfrm>
            <a:off x="7406640" y="5532120"/>
            <a:ext cx="4370832" cy="1170432"/>
          </a:xfrm>
          <a:prstGeom prst="rect">
            <a:avLst/>
          </a:prstGeom>
          <a:solidFill>
            <a:srgbClr val="FFFFFF"/>
          </a:solidFill>
          <a:ln w="9525">
            <a:solidFill>
              <a:srgbClr val="E5E7EB"/>
            </a:solidFill>
            <a:prstDash val="solid"/>
          </a:ln>
        </p:spPr>
        <p:txBody>
          <a:bodyPr/>
          <a:lstStyle/>
          <a:p>
            <a:endParaRPr lang="en-SE"/>
          </a:p>
        </p:txBody>
      </p:sp>
      <p:sp>
        <p:nvSpPr>
          <p:cNvPr id="60" name="Shape 58"/>
          <p:cNvSpPr/>
          <p:nvPr/>
        </p:nvSpPr>
        <p:spPr>
          <a:xfrm>
            <a:off x="7406640" y="5532120"/>
            <a:ext cx="4370832" cy="329184"/>
          </a:xfrm>
          <a:prstGeom prst="rect">
            <a:avLst/>
          </a:prstGeom>
          <a:solidFill>
            <a:srgbClr val="0A1A2F"/>
          </a:solidFill>
          <a:ln/>
        </p:spPr>
        <p:txBody>
          <a:bodyPr/>
          <a:lstStyle/>
          <a:p>
            <a:endParaRPr lang="en-SE"/>
          </a:p>
        </p:txBody>
      </p:sp>
      <p:sp>
        <p:nvSpPr>
          <p:cNvPr id="61" name="Shape 59"/>
          <p:cNvSpPr/>
          <p:nvPr/>
        </p:nvSpPr>
        <p:spPr>
          <a:xfrm>
            <a:off x="7406640" y="5532120"/>
            <a:ext cx="73152" cy="329184"/>
          </a:xfrm>
          <a:prstGeom prst="rect">
            <a:avLst/>
          </a:prstGeom>
          <a:solidFill>
            <a:srgbClr val="2DD4BF"/>
          </a:solidFill>
          <a:ln/>
        </p:spPr>
        <p:txBody>
          <a:bodyPr/>
          <a:lstStyle/>
          <a:p>
            <a:endParaRPr lang="en-SE"/>
          </a:p>
        </p:txBody>
      </p:sp>
      <p:sp>
        <p:nvSpPr>
          <p:cNvPr id="62" name="Text 60"/>
          <p:cNvSpPr/>
          <p:nvPr/>
        </p:nvSpPr>
        <p:spPr>
          <a:xfrm>
            <a:off x="7589520" y="5532120"/>
            <a:ext cx="4187952" cy="329184"/>
          </a:xfrm>
          <a:prstGeom prst="rect">
            <a:avLst/>
          </a:prstGeom>
          <a:noFill/>
          <a:ln/>
        </p:spPr>
        <p:txBody>
          <a:bodyPr wrap="square" lIns="0" tIns="0" rIns="0" bIns="0" rtlCol="0" anchor="ctr"/>
          <a:lstStyle/>
          <a:p>
            <a:pPr marL="0" indent="0">
              <a:buNone/>
            </a:pPr>
            <a:r>
              <a:rPr lang="en-US" sz="1050" b="1" kern="0" spc="400" dirty="0">
                <a:solidFill>
                  <a:srgbClr val="FFFFFF"/>
                </a:solidFill>
                <a:latin typeface="Calibri" pitchFamily="34" charset="0"/>
                <a:ea typeface="Calibri" pitchFamily="34" charset="-122"/>
                <a:cs typeface="Calibri" pitchFamily="34" charset="-120"/>
              </a:rPr>
              <a:t>KEY  STAKEHOLDERS</a:t>
            </a:r>
            <a:endParaRPr lang="en-US" sz="1050" dirty="0"/>
          </a:p>
        </p:txBody>
      </p:sp>
      <p:sp>
        <p:nvSpPr>
          <p:cNvPr id="63" name="Text 61"/>
          <p:cNvSpPr/>
          <p:nvPr/>
        </p:nvSpPr>
        <p:spPr>
          <a:xfrm>
            <a:off x="7571232" y="5934456"/>
            <a:ext cx="4096512" cy="713232"/>
          </a:xfrm>
          <a:prstGeom prst="rect">
            <a:avLst/>
          </a:prstGeom>
          <a:noFill/>
          <a:ln/>
        </p:spPr>
        <p:txBody>
          <a:bodyPr wrap="square" rtlCol="0" anchor="t"/>
          <a:lstStyle/>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Client business sponsors and IT counterparts</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Engagement partners and account managers</a:t>
            </a:r>
            <a:endParaRPr lang="en-US" sz="1000" dirty="0"/>
          </a:p>
          <a:p>
            <a:pPr marL="342900" indent="-342900">
              <a:spcAft>
                <a:spcPts val="200"/>
              </a:spcAft>
              <a:buSzPct val="100000"/>
              <a:buChar char="■"/>
            </a:pPr>
            <a:r>
              <a:rPr lang="en-US" sz="1000" dirty="0">
                <a:solidFill>
                  <a:srgbClr val="111827"/>
                </a:solidFill>
                <a:latin typeface="Calibri" pitchFamily="34" charset="0"/>
                <a:ea typeface="Calibri" pitchFamily="34" charset="-122"/>
                <a:cs typeface="Calibri" pitchFamily="34" charset="-120"/>
              </a:rPr>
              <a:t>End-user communities of the delivered solutions</a:t>
            </a:r>
            <a:endParaRPr lang="en-US" sz="1000" dirty="0"/>
          </a:p>
        </p:txBody>
      </p:sp>
      <p:sp>
        <p:nvSpPr>
          <p:cNvPr id="64" name="Shape 62"/>
          <p:cNvSpPr/>
          <p:nvPr/>
        </p:nvSpPr>
        <p:spPr>
          <a:xfrm>
            <a:off x="457200" y="6547104"/>
            <a:ext cx="11274552" cy="0"/>
          </a:xfrm>
          <a:prstGeom prst="line">
            <a:avLst/>
          </a:prstGeom>
          <a:noFill/>
          <a:ln w="9525">
            <a:solidFill>
              <a:srgbClr val="E5E7EB"/>
            </a:solidFill>
            <a:prstDash val="solid"/>
          </a:ln>
        </p:spPr>
        <p:txBody>
          <a:bodyPr/>
          <a:lstStyle/>
          <a:p>
            <a:endParaRPr lang="en-SE"/>
          </a:p>
        </p:txBody>
      </p:sp>
      <p:sp>
        <p:nvSpPr>
          <p:cNvPr id="65" name="Text 63"/>
          <p:cNvSpPr/>
          <p:nvPr/>
        </p:nvSpPr>
        <p:spPr>
          <a:xfrm>
            <a:off x="457200" y="6592824"/>
            <a:ext cx="7315200" cy="201168"/>
          </a:xfrm>
          <a:prstGeom prst="rect">
            <a:avLst/>
          </a:prstGeom>
          <a:noFill/>
          <a:ln/>
        </p:spPr>
        <p:txBody>
          <a:bodyPr wrap="square" lIns="0" tIns="0" rIns="0" bIns="0" rtlCol="0" anchor="ctr"/>
          <a:lstStyle/>
          <a:p>
            <a:pPr marL="0" indent="0">
              <a:buNone/>
            </a:pPr>
            <a:r>
              <a:rPr lang="en-US" sz="850" b="1" kern="0" spc="400" dirty="0">
                <a:solidFill>
                  <a:srgbClr val="6B7280"/>
                </a:solidFill>
                <a:latin typeface="Calibri" pitchFamily="34" charset="0"/>
                <a:ea typeface="Calibri" pitchFamily="34" charset="-122"/>
                <a:cs typeface="Calibri" pitchFamily="34" charset="-120"/>
              </a:rPr>
              <a:t>GAUTHIER VAN WENT  ·  EXECUTIVE PROFILE</a:t>
            </a:r>
            <a:endParaRPr lang="en-US" sz="850" dirty="0"/>
          </a:p>
        </p:txBody>
      </p:sp>
      <p:sp>
        <p:nvSpPr>
          <p:cNvPr id="66" name="Text 64"/>
          <p:cNvSpPr/>
          <p:nvPr/>
        </p:nvSpPr>
        <p:spPr>
          <a:xfrm>
            <a:off x="8229600" y="6592824"/>
            <a:ext cx="3502152" cy="201168"/>
          </a:xfrm>
          <a:prstGeom prst="rect">
            <a:avLst/>
          </a:prstGeom>
          <a:noFill/>
          <a:ln/>
        </p:spPr>
        <p:txBody>
          <a:bodyPr wrap="square" lIns="0" tIns="0" rIns="0" bIns="0" rtlCol="0" anchor="ctr"/>
          <a:lstStyle/>
          <a:p>
            <a:pPr marL="0" indent="0" algn="r">
              <a:buNone/>
            </a:pPr>
            <a:r>
              <a:rPr lang="en-US" sz="850" b="1" kern="0" spc="400" dirty="0">
                <a:solidFill>
                  <a:srgbClr val="14B8A6"/>
                </a:solidFill>
                <a:latin typeface="Calibri" pitchFamily="34" charset="0"/>
                <a:ea typeface="Calibri" pitchFamily="34" charset="-122"/>
                <a:cs typeface="Calibri" pitchFamily="34" charset="-120"/>
              </a:rPr>
              <a:t>09  /  10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02920"/>
            <a:ext cx="365760" cy="73152"/>
          </a:xfrm>
          <a:prstGeom prst="rect">
            <a:avLst/>
          </a:prstGeom>
          <a:solidFill>
            <a:srgbClr val="2DD4BF"/>
          </a:solidFill>
          <a:ln/>
        </p:spPr>
        <p:txBody>
          <a:bodyPr/>
          <a:lstStyle/>
          <a:p>
            <a:endParaRPr lang="en-SE"/>
          </a:p>
        </p:txBody>
      </p:sp>
      <p:sp>
        <p:nvSpPr>
          <p:cNvPr id="3" name="Text 1"/>
          <p:cNvSpPr/>
          <p:nvPr/>
        </p:nvSpPr>
        <p:spPr>
          <a:xfrm>
            <a:off x="914400" y="411480"/>
            <a:ext cx="10058400" cy="274320"/>
          </a:xfrm>
          <a:prstGeom prst="rect">
            <a:avLst/>
          </a:prstGeom>
          <a:noFill/>
          <a:ln/>
        </p:spPr>
        <p:txBody>
          <a:bodyPr wrap="square" lIns="0" tIns="0" rIns="0" bIns="0" rtlCol="0" anchor="ctr"/>
          <a:lstStyle/>
          <a:p>
            <a:pPr marL="0" indent="0">
              <a:buNone/>
            </a:pPr>
            <a:r>
              <a:rPr lang="en-US" sz="1100" b="1" kern="0" spc="600" dirty="0">
                <a:solidFill>
                  <a:srgbClr val="14B8A6"/>
                </a:solidFill>
                <a:latin typeface="Calibri" pitchFamily="34" charset="0"/>
                <a:ea typeface="Calibri" pitchFamily="34" charset="-122"/>
                <a:cs typeface="Calibri" pitchFamily="34" charset="-120"/>
              </a:rPr>
              <a:t>BACKGROUND  ·  LANGUAGES  ·  CERTIFICATIONS</a:t>
            </a:r>
            <a:endParaRPr lang="en-US" sz="1100" dirty="0"/>
          </a:p>
        </p:txBody>
      </p:sp>
      <p:sp>
        <p:nvSpPr>
          <p:cNvPr id="4" name="Text 2"/>
          <p:cNvSpPr/>
          <p:nvPr/>
        </p:nvSpPr>
        <p:spPr>
          <a:xfrm>
            <a:off x="457200" y="713232"/>
            <a:ext cx="10972800" cy="640080"/>
          </a:xfrm>
          <a:prstGeom prst="rect">
            <a:avLst/>
          </a:prstGeom>
          <a:noFill/>
          <a:ln/>
        </p:spPr>
        <p:txBody>
          <a:bodyPr wrap="square" lIns="0" tIns="0" rIns="0" bIns="0" rtlCol="0" anchor="ctr"/>
          <a:lstStyle/>
          <a:p>
            <a:pPr marL="0" indent="0">
              <a:buNone/>
            </a:pPr>
            <a:r>
              <a:rPr lang="en-US" sz="3200" b="1" dirty="0">
                <a:solidFill>
                  <a:srgbClr val="0A1A2F"/>
                </a:solidFill>
                <a:latin typeface="Calibri" pitchFamily="34" charset="0"/>
                <a:ea typeface="Calibri" pitchFamily="34" charset="-122"/>
                <a:cs typeface="Calibri" pitchFamily="34" charset="-120"/>
              </a:rPr>
              <a:t>Education, Languages &amp; Continuous Learning</a:t>
            </a:r>
            <a:endParaRPr lang="en-US" sz="3200" dirty="0"/>
          </a:p>
        </p:txBody>
      </p:sp>
      <p:sp>
        <p:nvSpPr>
          <p:cNvPr id="5" name="Text 3"/>
          <p:cNvSpPr/>
          <p:nvPr/>
        </p:nvSpPr>
        <p:spPr>
          <a:xfrm>
            <a:off x="457200" y="1371600"/>
            <a:ext cx="11274552" cy="292608"/>
          </a:xfrm>
          <a:prstGeom prst="rect">
            <a:avLst/>
          </a:prstGeom>
          <a:noFill/>
          <a:ln/>
        </p:spPr>
        <p:txBody>
          <a:bodyPr wrap="square" lIns="0" tIns="0" rIns="0" bIns="0" rtlCol="0" anchor="ctr"/>
          <a:lstStyle/>
          <a:p>
            <a:pPr marL="0" indent="0">
              <a:buNone/>
            </a:pPr>
            <a:r>
              <a:rPr lang="en-US" sz="1200" i="1" dirty="0">
                <a:solidFill>
                  <a:srgbClr val="475569"/>
                </a:solidFill>
                <a:latin typeface="Calibri" pitchFamily="34" charset="0"/>
                <a:ea typeface="Calibri" pitchFamily="34" charset="-122"/>
                <a:cs typeface="Calibri" pitchFamily="34" charset="-120"/>
              </a:rPr>
              <a:t>French – Swedish dual-cultural profile  ·  </a:t>
            </a:r>
            <a:r>
              <a:rPr lang="en-US" sz="1200" b="1" i="1" dirty="0">
                <a:solidFill>
                  <a:srgbClr val="0A1A2F"/>
                </a:solidFill>
                <a:latin typeface="Calibri" pitchFamily="34" charset="0"/>
                <a:ea typeface="Calibri" pitchFamily="34" charset="-122"/>
                <a:cs typeface="Calibri" pitchFamily="34" charset="-120"/>
              </a:rPr>
              <a:t>engineering foundations</a:t>
            </a:r>
            <a:r>
              <a:rPr lang="en-US" sz="1200" i="1" dirty="0">
                <a:solidFill>
                  <a:srgbClr val="475569"/>
                </a:solidFill>
                <a:latin typeface="Calibri" pitchFamily="34" charset="0"/>
                <a:ea typeface="Calibri" pitchFamily="34" charset="-122"/>
                <a:cs typeface="Calibri" pitchFamily="34" charset="-120"/>
              </a:rPr>
              <a:t>  ·  </a:t>
            </a:r>
            <a:r>
              <a:rPr lang="en-US" sz="1200" b="1" i="1" dirty="0">
                <a:solidFill>
                  <a:srgbClr val="0A1A2F"/>
                </a:solidFill>
                <a:latin typeface="Calibri" pitchFamily="34" charset="0"/>
                <a:ea typeface="Calibri" pitchFamily="34" charset="-122"/>
                <a:cs typeface="Calibri" pitchFamily="34" charset="-120"/>
              </a:rPr>
              <a:t>two executive leadership programmes</a:t>
            </a:r>
            <a:r>
              <a:rPr lang="en-US" sz="1200" i="1" dirty="0">
                <a:solidFill>
                  <a:srgbClr val="475569"/>
                </a:solidFill>
                <a:latin typeface="Calibri" pitchFamily="34" charset="0"/>
                <a:ea typeface="Calibri" pitchFamily="34" charset="-122"/>
                <a:cs typeface="Calibri" pitchFamily="34" charset="-120"/>
              </a:rPr>
              <a:t>  ·  ongoing </a:t>
            </a:r>
            <a:r>
              <a:rPr lang="en-US" sz="1200" b="1" i="1" dirty="0">
                <a:solidFill>
                  <a:srgbClr val="0A1A2F"/>
                </a:solidFill>
                <a:latin typeface="Calibri" pitchFamily="34" charset="0"/>
                <a:ea typeface="Calibri" pitchFamily="34" charset="-122"/>
                <a:cs typeface="Calibri" pitchFamily="34" charset="-120"/>
              </a:rPr>
              <a:t>AI and modern data</a:t>
            </a:r>
            <a:r>
              <a:rPr lang="en-US" sz="1200" i="1" dirty="0">
                <a:solidFill>
                  <a:srgbClr val="475569"/>
                </a:solidFill>
                <a:latin typeface="Calibri" pitchFamily="34" charset="0"/>
                <a:ea typeface="Calibri" pitchFamily="34" charset="-122"/>
                <a:cs typeface="Calibri" pitchFamily="34" charset="-120"/>
              </a:rPr>
              <a:t> investment.</a:t>
            </a:r>
            <a:endParaRPr lang="en-US" sz="1200" dirty="0"/>
          </a:p>
        </p:txBody>
      </p:sp>
      <p:sp>
        <p:nvSpPr>
          <p:cNvPr id="6" name="Shape 4"/>
          <p:cNvSpPr/>
          <p:nvPr/>
        </p:nvSpPr>
        <p:spPr>
          <a:xfrm>
            <a:off x="457200" y="1691640"/>
            <a:ext cx="5623560" cy="2194560"/>
          </a:xfrm>
          <a:prstGeom prst="rect">
            <a:avLst/>
          </a:prstGeom>
          <a:solidFill>
            <a:srgbClr val="FFFFFF"/>
          </a:solidFill>
          <a:ln w="9525">
            <a:solidFill>
              <a:srgbClr val="E5E7EB"/>
            </a:solidFill>
            <a:prstDash val="solid"/>
          </a:ln>
        </p:spPr>
        <p:txBody>
          <a:bodyPr/>
          <a:lstStyle/>
          <a:p>
            <a:endParaRPr lang="en-SE"/>
          </a:p>
        </p:txBody>
      </p:sp>
      <p:sp>
        <p:nvSpPr>
          <p:cNvPr id="7" name="Shape 5"/>
          <p:cNvSpPr/>
          <p:nvPr/>
        </p:nvSpPr>
        <p:spPr>
          <a:xfrm>
            <a:off x="457200" y="1691640"/>
            <a:ext cx="5623560" cy="594360"/>
          </a:xfrm>
          <a:prstGeom prst="rect">
            <a:avLst/>
          </a:prstGeom>
          <a:solidFill>
            <a:srgbClr val="0A1A2F"/>
          </a:solidFill>
          <a:ln/>
        </p:spPr>
        <p:txBody>
          <a:bodyPr/>
          <a:lstStyle/>
          <a:p>
            <a:endParaRPr lang="en-SE"/>
          </a:p>
        </p:txBody>
      </p:sp>
      <p:sp>
        <p:nvSpPr>
          <p:cNvPr id="8" name="Shape 6"/>
          <p:cNvSpPr/>
          <p:nvPr/>
        </p:nvSpPr>
        <p:spPr>
          <a:xfrm>
            <a:off x="457200" y="2286000"/>
            <a:ext cx="5623560" cy="45720"/>
          </a:xfrm>
          <a:prstGeom prst="rect">
            <a:avLst/>
          </a:prstGeom>
          <a:solidFill>
            <a:srgbClr val="2DD4BF"/>
          </a:solidFill>
          <a:ln/>
        </p:spPr>
        <p:txBody>
          <a:bodyPr/>
          <a:lstStyle/>
          <a:p>
            <a:endParaRPr lang="en-SE"/>
          </a:p>
        </p:txBody>
      </p:sp>
      <p:sp>
        <p:nvSpPr>
          <p:cNvPr id="9" name="Shape 7"/>
          <p:cNvSpPr/>
          <p:nvPr/>
        </p:nvSpPr>
        <p:spPr>
          <a:xfrm>
            <a:off x="658368" y="1815084"/>
            <a:ext cx="347472" cy="347472"/>
          </a:xfrm>
          <a:prstGeom prst="ellipse">
            <a:avLst/>
          </a:prstGeom>
          <a:solidFill>
            <a:srgbClr val="2DD4BF"/>
          </a:solidFill>
          <a:ln/>
        </p:spPr>
        <p:txBody>
          <a:bodyPr/>
          <a:lstStyle/>
          <a:p>
            <a:endParaRPr lang="en-SE"/>
          </a:p>
        </p:txBody>
      </p:sp>
      <p:pic>
        <p:nvPicPr>
          <p:cNvPr id="10" name="Image 0" descr="preencoded.png"/>
          <p:cNvPicPr>
            <a:picLocks noChangeAspect="1"/>
          </p:cNvPicPr>
          <p:nvPr/>
        </p:nvPicPr>
        <p:blipFill>
          <a:blip r:embed="rId3"/>
          <a:stretch>
            <a:fillRect/>
          </a:stretch>
        </p:blipFill>
        <p:spPr>
          <a:xfrm>
            <a:off x="726948" y="1883664"/>
            <a:ext cx="210312" cy="210312"/>
          </a:xfrm>
          <a:prstGeom prst="rect">
            <a:avLst/>
          </a:prstGeom>
        </p:spPr>
      </p:pic>
      <p:sp>
        <p:nvSpPr>
          <p:cNvPr id="11" name="Text 8"/>
          <p:cNvSpPr/>
          <p:nvPr/>
        </p:nvSpPr>
        <p:spPr>
          <a:xfrm>
            <a:off x="1097280" y="1691640"/>
            <a:ext cx="4892040" cy="594360"/>
          </a:xfrm>
          <a:prstGeom prst="rect">
            <a:avLst/>
          </a:prstGeom>
          <a:noFill/>
          <a:ln/>
        </p:spPr>
        <p:txBody>
          <a:bodyPr wrap="square" lIns="0" tIns="0" rIns="0" bIns="0" rtlCol="0" anchor="ctr"/>
          <a:lstStyle/>
          <a:p>
            <a:pPr marL="0" indent="0">
              <a:buNone/>
            </a:pPr>
            <a:r>
              <a:rPr lang="en-US" sz="1250" b="1" kern="0" spc="300" dirty="0">
                <a:solidFill>
                  <a:srgbClr val="FFFFFF"/>
                </a:solidFill>
                <a:latin typeface="Calibri" pitchFamily="34" charset="0"/>
                <a:ea typeface="Calibri" pitchFamily="34" charset="-122"/>
                <a:cs typeface="Calibri" pitchFamily="34" charset="-120"/>
              </a:rPr>
              <a:t>EDUCATION</a:t>
            </a:r>
            <a:endParaRPr lang="en-US" sz="1250" dirty="0"/>
          </a:p>
        </p:txBody>
      </p:sp>
      <p:sp>
        <p:nvSpPr>
          <p:cNvPr id="12" name="Shape 9"/>
          <p:cNvSpPr/>
          <p:nvPr/>
        </p:nvSpPr>
        <p:spPr>
          <a:xfrm>
            <a:off x="685800" y="2587752"/>
            <a:ext cx="118872" cy="118872"/>
          </a:xfrm>
          <a:prstGeom prst="rect">
            <a:avLst/>
          </a:prstGeom>
          <a:solidFill>
            <a:srgbClr val="F59E0B"/>
          </a:solidFill>
          <a:ln/>
        </p:spPr>
        <p:txBody>
          <a:bodyPr/>
          <a:lstStyle/>
          <a:p>
            <a:endParaRPr lang="en-SE"/>
          </a:p>
        </p:txBody>
      </p:sp>
      <p:sp>
        <p:nvSpPr>
          <p:cNvPr id="13" name="Text 10"/>
          <p:cNvSpPr/>
          <p:nvPr/>
        </p:nvSpPr>
        <p:spPr>
          <a:xfrm>
            <a:off x="868680" y="2468880"/>
            <a:ext cx="5074920" cy="292608"/>
          </a:xfrm>
          <a:prstGeom prst="rect">
            <a:avLst/>
          </a:prstGeom>
          <a:noFill/>
          <a:ln/>
        </p:spPr>
        <p:txBody>
          <a:bodyPr wrap="square" lIns="0" tIns="0" rIns="0" bIns="0" rtlCol="0" anchor="ctr"/>
          <a:lstStyle/>
          <a:p>
            <a:pPr marL="0" indent="0">
              <a:buNone/>
            </a:pPr>
            <a:r>
              <a:rPr lang="en-US" sz="1200" b="1" dirty="0">
                <a:solidFill>
                  <a:srgbClr val="0A1A2F"/>
                </a:solidFill>
                <a:latin typeface="Calibri" pitchFamily="34" charset="0"/>
                <a:ea typeface="Calibri" pitchFamily="34" charset="-122"/>
                <a:cs typeface="Calibri" pitchFamily="34" charset="-120"/>
              </a:rPr>
              <a:t>MSc in Engineering</a:t>
            </a:r>
            <a:endParaRPr lang="en-US" sz="1200" dirty="0"/>
          </a:p>
        </p:txBody>
      </p:sp>
      <p:sp>
        <p:nvSpPr>
          <p:cNvPr id="14" name="Text 11"/>
          <p:cNvSpPr/>
          <p:nvPr/>
        </p:nvSpPr>
        <p:spPr>
          <a:xfrm>
            <a:off x="868680" y="2724912"/>
            <a:ext cx="5074920" cy="256032"/>
          </a:xfrm>
          <a:prstGeom prst="rect">
            <a:avLst/>
          </a:prstGeom>
          <a:noFill/>
          <a:ln/>
        </p:spPr>
        <p:txBody>
          <a:bodyPr wrap="square" lIns="0" tIns="0" rIns="0" bIns="0" rtlCol="0" anchor="ctr"/>
          <a:lstStyle/>
          <a:p>
            <a:pPr marL="0" indent="0">
              <a:buNone/>
            </a:pPr>
            <a:r>
              <a:rPr lang="en-US" sz="980" dirty="0">
                <a:solidFill>
                  <a:srgbClr val="6B7280"/>
                </a:solidFill>
                <a:latin typeface="Calibri" pitchFamily="34" charset="0"/>
                <a:ea typeface="Calibri" pitchFamily="34" charset="-122"/>
                <a:cs typeface="Calibri" pitchFamily="34" charset="-120"/>
              </a:rPr>
              <a:t>EIGSI — École d’Ingénieurs de La Rochelle, France</a:t>
            </a:r>
            <a:endParaRPr lang="en-US" sz="980" dirty="0"/>
          </a:p>
        </p:txBody>
      </p:sp>
      <p:sp>
        <p:nvSpPr>
          <p:cNvPr id="15" name="Shape 12"/>
          <p:cNvSpPr/>
          <p:nvPr/>
        </p:nvSpPr>
        <p:spPr>
          <a:xfrm>
            <a:off x="685800" y="3008376"/>
            <a:ext cx="118872" cy="118872"/>
          </a:xfrm>
          <a:prstGeom prst="rect">
            <a:avLst/>
          </a:prstGeom>
          <a:solidFill>
            <a:srgbClr val="F59E0B"/>
          </a:solidFill>
          <a:ln/>
        </p:spPr>
        <p:txBody>
          <a:bodyPr/>
          <a:lstStyle/>
          <a:p>
            <a:endParaRPr lang="en-SE"/>
          </a:p>
        </p:txBody>
      </p:sp>
      <p:sp>
        <p:nvSpPr>
          <p:cNvPr id="16" name="Text 13"/>
          <p:cNvSpPr/>
          <p:nvPr/>
        </p:nvSpPr>
        <p:spPr>
          <a:xfrm>
            <a:off x="868680" y="2889504"/>
            <a:ext cx="5074920" cy="292608"/>
          </a:xfrm>
          <a:prstGeom prst="rect">
            <a:avLst/>
          </a:prstGeom>
          <a:noFill/>
          <a:ln/>
        </p:spPr>
        <p:txBody>
          <a:bodyPr wrap="square" lIns="0" tIns="0" rIns="0" bIns="0" rtlCol="0" anchor="ctr"/>
          <a:lstStyle/>
          <a:p>
            <a:pPr marL="0" indent="0">
              <a:buNone/>
            </a:pPr>
            <a:r>
              <a:rPr lang="en-US" sz="1200" b="1" dirty="0">
                <a:solidFill>
                  <a:srgbClr val="0A1A2F"/>
                </a:solidFill>
                <a:latin typeface="Calibri" pitchFamily="34" charset="0"/>
                <a:ea typeface="Calibri" pitchFamily="34" charset="-122"/>
                <a:cs typeface="Calibri" pitchFamily="34" charset="-120"/>
              </a:rPr>
              <a:t>International Exchange</a:t>
            </a:r>
            <a:endParaRPr lang="en-US" sz="1200" dirty="0"/>
          </a:p>
        </p:txBody>
      </p:sp>
      <p:sp>
        <p:nvSpPr>
          <p:cNvPr id="17" name="Text 14"/>
          <p:cNvSpPr/>
          <p:nvPr/>
        </p:nvSpPr>
        <p:spPr>
          <a:xfrm>
            <a:off x="868680" y="3145536"/>
            <a:ext cx="5074920" cy="256032"/>
          </a:xfrm>
          <a:prstGeom prst="rect">
            <a:avLst/>
          </a:prstGeom>
          <a:noFill/>
          <a:ln/>
        </p:spPr>
        <p:txBody>
          <a:bodyPr wrap="square" lIns="0" tIns="0" rIns="0" bIns="0" rtlCol="0" anchor="ctr"/>
          <a:lstStyle/>
          <a:p>
            <a:pPr marL="0" indent="0">
              <a:buNone/>
            </a:pPr>
            <a:r>
              <a:rPr lang="en-US" sz="980" dirty="0">
                <a:solidFill>
                  <a:srgbClr val="6B7280"/>
                </a:solidFill>
                <a:latin typeface="Calibri" pitchFamily="34" charset="0"/>
                <a:ea typeface="Calibri" pitchFamily="34" charset="-122"/>
                <a:cs typeface="Calibri" pitchFamily="34" charset="-120"/>
              </a:rPr>
              <a:t>ÉTS — École de technologie supérieure, Montréal</a:t>
            </a:r>
            <a:endParaRPr lang="en-US" sz="980" dirty="0"/>
          </a:p>
        </p:txBody>
      </p:sp>
      <p:sp>
        <p:nvSpPr>
          <p:cNvPr id="18" name="Shape 15"/>
          <p:cNvSpPr/>
          <p:nvPr/>
        </p:nvSpPr>
        <p:spPr>
          <a:xfrm>
            <a:off x="685800" y="3429000"/>
            <a:ext cx="118872" cy="118872"/>
          </a:xfrm>
          <a:prstGeom prst="rect">
            <a:avLst/>
          </a:prstGeom>
          <a:solidFill>
            <a:srgbClr val="F59E0B"/>
          </a:solidFill>
          <a:ln/>
        </p:spPr>
        <p:txBody>
          <a:bodyPr/>
          <a:lstStyle/>
          <a:p>
            <a:endParaRPr lang="en-SE"/>
          </a:p>
        </p:txBody>
      </p:sp>
      <p:sp>
        <p:nvSpPr>
          <p:cNvPr id="19" name="Text 16"/>
          <p:cNvSpPr/>
          <p:nvPr/>
        </p:nvSpPr>
        <p:spPr>
          <a:xfrm>
            <a:off x="868680" y="3310128"/>
            <a:ext cx="5074920" cy="292608"/>
          </a:xfrm>
          <a:prstGeom prst="rect">
            <a:avLst/>
          </a:prstGeom>
          <a:noFill/>
          <a:ln/>
        </p:spPr>
        <p:txBody>
          <a:bodyPr wrap="square" lIns="0" tIns="0" rIns="0" bIns="0" rtlCol="0" anchor="ctr"/>
          <a:lstStyle/>
          <a:p>
            <a:pPr marL="0" indent="0">
              <a:buNone/>
            </a:pPr>
            <a:r>
              <a:rPr lang="en-US" sz="1200" b="1" dirty="0">
                <a:solidFill>
                  <a:srgbClr val="0A1A2F"/>
                </a:solidFill>
                <a:latin typeface="Calibri" pitchFamily="34" charset="0"/>
                <a:ea typeface="Calibri" pitchFamily="34" charset="-122"/>
                <a:cs typeface="Calibri" pitchFamily="34" charset="-120"/>
              </a:rPr>
              <a:t>Engineering foundation</a:t>
            </a:r>
            <a:endParaRPr lang="en-US" sz="1200" dirty="0"/>
          </a:p>
        </p:txBody>
      </p:sp>
      <p:sp>
        <p:nvSpPr>
          <p:cNvPr id="20" name="Text 17"/>
          <p:cNvSpPr/>
          <p:nvPr/>
        </p:nvSpPr>
        <p:spPr>
          <a:xfrm>
            <a:off x="868680" y="3566160"/>
            <a:ext cx="5074920" cy="256032"/>
          </a:xfrm>
          <a:prstGeom prst="rect">
            <a:avLst/>
          </a:prstGeom>
          <a:noFill/>
          <a:ln/>
        </p:spPr>
        <p:txBody>
          <a:bodyPr wrap="square" lIns="0" tIns="0" rIns="0" bIns="0" rtlCol="0" anchor="ctr"/>
          <a:lstStyle/>
          <a:p>
            <a:pPr marL="0" indent="0">
              <a:buNone/>
            </a:pPr>
            <a:r>
              <a:rPr lang="en-US" sz="980" dirty="0">
                <a:solidFill>
                  <a:srgbClr val="6B7280"/>
                </a:solidFill>
                <a:latin typeface="Calibri" pitchFamily="34" charset="0"/>
                <a:ea typeface="Calibri" pitchFamily="34" charset="-122"/>
                <a:cs typeface="Calibri" pitchFamily="34" charset="-120"/>
              </a:rPr>
              <a:t>Bridges technical depth with business discipline</a:t>
            </a:r>
            <a:endParaRPr lang="en-US" sz="980" dirty="0"/>
          </a:p>
        </p:txBody>
      </p:sp>
      <p:sp>
        <p:nvSpPr>
          <p:cNvPr id="21" name="Shape 18"/>
          <p:cNvSpPr/>
          <p:nvPr/>
        </p:nvSpPr>
        <p:spPr>
          <a:xfrm>
            <a:off x="6217920" y="1691640"/>
            <a:ext cx="5623560" cy="2194560"/>
          </a:xfrm>
          <a:prstGeom prst="rect">
            <a:avLst/>
          </a:prstGeom>
          <a:solidFill>
            <a:srgbClr val="FFFFFF"/>
          </a:solidFill>
          <a:ln w="9525">
            <a:solidFill>
              <a:srgbClr val="E5E7EB"/>
            </a:solidFill>
            <a:prstDash val="solid"/>
          </a:ln>
        </p:spPr>
        <p:txBody>
          <a:bodyPr/>
          <a:lstStyle/>
          <a:p>
            <a:endParaRPr lang="en-SE"/>
          </a:p>
        </p:txBody>
      </p:sp>
      <p:sp>
        <p:nvSpPr>
          <p:cNvPr id="22" name="Shape 19"/>
          <p:cNvSpPr/>
          <p:nvPr/>
        </p:nvSpPr>
        <p:spPr>
          <a:xfrm>
            <a:off x="6217920" y="1691640"/>
            <a:ext cx="5623560" cy="594360"/>
          </a:xfrm>
          <a:prstGeom prst="rect">
            <a:avLst/>
          </a:prstGeom>
          <a:solidFill>
            <a:srgbClr val="0A1A2F"/>
          </a:solidFill>
          <a:ln/>
        </p:spPr>
        <p:txBody>
          <a:bodyPr/>
          <a:lstStyle/>
          <a:p>
            <a:endParaRPr lang="en-SE"/>
          </a:p>
        </p:txBody>
      </p:sp>
      <p:sp>
        <p:nvSpPr>
          <p:cNvPr id="23" name="Shape 20"/>
          <p:cNvSpPr/>
          <p:nvPr/>
        </p:nvSpPr>
        <p:spPr>
          <a:xfrm>
            <a:off x="6217920" y="2286000"/>
            <a:ext cx="5623560" cy="45720"/>
          </a:xfrm>
          <a:prstGeom prst="rect">
            <a:avLst/>
          </a:prstGeom>
          <a:solidFill>
            <a:srgbClr val="2DD4BF"/>
          </a:solidFill>
          <a:ln/>
        </p:spPr>
        <p:txBody>
          <a:bodyPr/>
          <a:lstStyle/>
          <a:p>
            <a:endParaRPr lang="en-SE"/>
          </a:p>
        </p:txBody>
      </p:sp>
      <p:sp>
        <p:nvSpPr>
          <p:cNvPr id="24" name="Shape 21"/>
          <p:cNvSpPr/>
          <p:nvPr/>
        </p:nvSpPr>
        <p:spPr>
          <a:xfrm>
            <a:off x="6419088" y="1815084"/>
            <a:ext cx="347472" cy="347472"/>
          </a:xfrm>
          <a:prstGeom prst="ellipse">
            <a:avLst/>
          </a:prstGeom>
          <a:solidFill>
            <a:srgbClr val="2DD4BF"/>
          </a:solidFill>
          <a:ln/>
        </p:spPr>
        <p:txBody>
          <a:bodyPr/>
          <a:lstStyle/>
          <a:p>
            <a:endParaRPr lang="en-SE"/>
          </a:p>
        </p:txBody>
      </p:sp>
      <p:pic>
        <p:nvPicPr>
          <p:cNvPr id="25" name="Image 1" descr="preencoded.png"/>
          <p:cNvPicPr>
            <a:picLocks noChangeAspect="1"/>
          </p:cNvPicPr>
          <p:nvPr/>
        </p:nvPicPr>
        <p:blipFill>
          <a:blip r:embed="rId4"/>
          <a:stretch>
            <a:fillRect/>
          </a:stretch>
        </p:blipFill>
        <p:spPr>
          <a:xfrm>
            <a:off x="6487668" y="1883664"/>
            <a:ext cx="210312" cy="210312"/>
          </a:xfrm>
          <a:prstGeom prst="rect">
            <a:avLst/>
          </a:prstGeom>
        </p:spPr>
      </p:pic>
      <p:sp>
        <p:nvSpPr>
          <p:cNvPr id="26" name="Text 22"/>
          <p:cNvSpPr/>
          <p:nvPr/>
        </p:nvSpPr>
        <p:spPr>
          <a:xfrm>
            <a:off x="6858000" y="1691640"/>
            <a:ext cx="4892040" cy="594360"/>
          </a:xfrm>
          <a:prstGeom prst="rect">
            <a:avLst/>
          </a:prstGeom>
          <a:noFill/>
          <a:ln/>
        </p:spPr>
        <p:txBody>
          <a:bodyPr wrap="square" lIns="0" tIns="0" rIns="0" bIns="0" rtlCol="0" anchor="ctr"/>
          <a:lstStyle/>
          <a:p>
            <a:pPr marL="0" indent="0">
              <a:buNone/>
            </a:pPr>
            <a:r>
              <a:rPr lang="en-US" sz="1250" b="1" kern="0" spc="300" dirty="0">
                <a:solidFill>
                  <a:srgbClr val="FFFFFF"/>
                </a:solidFill>
                <a:latin typeface="Calibri" pitchFamily="34" charset="0"/>
                <a:ea typeface="Calibri" pitchFamily="34" charset="-122"/>
                <a:cs typeface="Calibri" pitchFamily="34" charset="-120"/>
              </a:rPr>
              <a:t>LANGUAGES</a:t>
            </a:r>
            <a:endParaRPr lang="en-US" sz="1250" dirty="0"/>
          </a:p>
        </p:txBody>
      </p:sp>
      <p:sp>
        <p:nvSpPr>
          <p:cNvPr id="27" name="Shape 23"/>
          <p:cNvSpPr/>
          <p:nvPr/>
        </p:nvSpPr>
        <p:spPr>
          <a:xfrm>
            <a:off x="6446520" y="2587752"/>
            <a:ext cx="118872" cy="118872"/>
          </a:xfrm>
          <a:prstGeom prst="rect">
            <a:avLst/>
          </a:prstGeom>
          <a:solidFill>
            <a:srgbClr val="F59E0B"/>
          </a:solidFill>
          <a:ln/>
        </p:spPr>
        <p:txBody>
          <a:bodyPr/>
          <a:lstStyle/>
          <a:p>
            <a:endParaRPr lang="en-SE"/>
          </a:p>
        </p:txBody>
      </p:sp>
      <p:sp>
        <p:nvSpPr>
          <p:cNvPr id="28" name="Text 24"/>
          <p:cNvSpPr/>
          <p:nvPr/>
        </p:nvSpPr>
        <p:spPr>
          <a:xfrm>
            <a:off x="6629400" y="2468880"/>
            <a:ext cx="5074920" cy="292608"/>
          </a:xfrm>
          <a:prstGeom prst="rect">
            <a:avLst/>
          </a:prstGeom>
          <a:noFill/>
          <a:ln/>
        </p:spPr>
        <p:txBody>
          <a:bodyPr wrap="square" lIns="0" tIns="0" rIns="0" bIns="0" rtlCol="0" anchor="ctr"/>
          <a:lstStyle/>
          <a:p>
            <a:pPr marL="0" indent="0">
              <a:buNone/>
            </a:pPr>
            <a:r>
              <a:rPr lang="en-US" sz="1200" b="1" dirty="0">
                <a:solidFill>
                  <a:srgbClr val="0A1A2F"/>
                </a:solidFill>
                <a:latin typeface="Calibri" pitchFamily="34" charset="0"/>
                <a:ea typeface="Calibri" pitchFamily="34" charset="-122"/>
                <a:cs typeface="Calibri" pitchFamily="34" charset="-120"/>
              </a:rPr>
              <a:t>French</a:t>
            </a:r>
            <a:endParaRPr lang="en-US" sz="1200" dirty="0"/>
          </a:p>
        </p:txBody>
      </p:sp>
      <p:sp>
        <p:nvSpPr>
          <p:cNvPr id="29" name="Text 25"/>
          <p:cNvSpPr/>
          <p:nvPr/>
        </p:nvSpPr>
        <p:spPr>
          <a:xfrm>
            <a:off x="6629400" y="2724912"/>
            <a:ext cx="5074920" cy="256032"/>
          </a:xfrm>
          <a:prstGeom prst="rect">
            <a:avLst/>
          </a:prstGeom>
          <a:noFill/>
          <a:ln/>
        </p:spPr>
        <p:txBody>
          <a:bodyPr wrap="square" lIns="0" tIns="0" rIns="0" bIns="0" rtlCol="0" anchor="ctr"/>
          <a:lstStyle/>
          <a:p>
            <a:pPr marL="0" indent="0">
              <a:buNone/>
            </a:pPr>
            <a:r>
              <a:rPr lang="en-US" sz="980" dirty="0">
                <a:solidFill>
                  <a:srgbClr val="6B7280"/>
                </a:solidFill>
                <a:latin typeface="Calibri" pitchFamily="34" charset="0"/>
                <a:ea typeface="Calibri" pitchFamily="34" charset="-122"/>
                <a:cs typeface="Calibri" pitchFamily="34" charset="-120"/>
              </a:rPr>
              <a:t>Native</a:t>
            </a:r>
            <a:endParaRPr lang="en-US" sz="980" dirty="0"/>
          </a:p>
        </p:txBody>
      </p:sp>
      <p:sp>
        <p:nvSpPr>
          <p:cNvPr id="30" name="Shape 26"/>
          <p:cNvSpPr/>
          <p:nvPr/>
        </p:nvSpPr>
        <p:spPr>
          <a:xfrm>
            <a:off x="6446520" y="3008376"/>
            <a:ext cx="118872" cy="118872"/>
          </a:xfrm>
          <a:prstGeom prst="rect">
            <a:avLst/>
          </a:prstGeom>
          <a:solidFill>
            <a:srgbClr val="F59E0B"/>
          </a:solidFill>
          <a:ln/>
        </p:spPr>
        <p:txBody>
          <a:bodyPr/>
          <a:lstStyle/>
          <a:p>
            <a:endParaRPr lang="en-SE"/>
          </a:p>
        </p:txBody>
      </p:sp>
      <p:sp>
        <p:nvSpPr>
          <p:cNvPr id="31" name="Text 27"/>
          <p:cNvSpPr/>
          <p:nvPr/>
        </p:nvSpPr>
        <p:spPr>
          <a:xfrm>
            <a:off x="6629400" y="2889504"/>
            <a:ext cx="5074920" cy="292608"/>
          </a:xfrm>
          <a:prstGeom prst="rect">
            <a:avLst/>
          </a:prstGeom>
          <a:noFill/>
          <a:ln/>
        </p:spPr>
        <p:txBody>
          <a:bodyPr wrap="square" lIns="0" tIns="0" rIns="0" bIns="0" rtlCol="0" anchor="ctr"/>
          <a:lstStyle/>
          <a:p>
            <a:pPr marL="0" indent="0">
              <a:buNone/>
            </a:pPr>
            <a:r>
              <a:rPr lang="en-US" sz="1200" b="1" dirty="0">
                <a:solidFill>
                  <a:srgbClr val="0A1A2F"/>
                </a:solidFill>
                <a:latin typeface="Calibri" pitchFamily="34" charset="0"/>
                <a:ea typeface="Calibri" pitchFamily="34" charset="-122"/>
                <a:cs typeface="Calibri" pitchFamily="34" charset="-120"/>
              </a:rPr>
              <a:t>English</a:t>
            </a:r>
            <a:endParaRPr lang="en-US" sz="1200" dirty="0"/>
          </a:p>
        </p:txBody>
      </p:sp>
      <p:sp>
        <p:nvSpPr>
          <p:cNvPr id="32" name="Text 28"/>
          <p:cNvSpPr/>
          <p:nvPr/>
        </p:nvSpPr>
        <p:spPr>
          <a:xfrm>
            <a:off x="6629400" y="3145536"/>
            <a:ext cx="5074920" cy="256032"/>
          </a:xfrm>
          <a:prstGeom prst="rect">
            <a:avLst/>
          </a:prstGeom>
          <a:noFill/>
          <a:ln/>
        </p:spPr>
        <p:txBody>
          <a:bodyPr wrap="square" lIns="0" tIns="0" rIns="0" bIns="0" rtlCol="0" anchor="ctr"/>
          <a:lstStyle/>
          <a:p>
            <a:pPr marL="0" indent="0">
              <a:buNone/>
            </a:pPr>
            <a:r>
              <a:rPr lang="en-US" sz="980" dirty="0">
                <a:solidFill>
                  <a:srgbClr val="6B7280"/>
                </a:solidFill>
                <a:latin typeface="Calibri" pitchFamily="34" charset="0"/>
                <a:ea typeface="Calibri" pitchFamily="34" charset="-122"/>
                <a:cs typeface="Calibri" pitchFamily="34" charset="-120"/>
              </a:rPr>
              <a:t>Excellent — used daily at executive level</a:t>
            </a:r>
            <a:endParaRPr lang="en-US" sz="980" dirty="0"/>
          </a:p>
        </p:txBody>
      </p:sp>
      <p:sp>
        <p:nvSpPr>
          <p:cNvPr id="33" name="Shape 29"/>
          <p:cNvSpPr/>
          <p:nvPr/>
        </p:nvSpPr>
        <p:spPr>
          <a:xfrm>
            <a:off x="6446520" y="3429000"/>
            <a:ext cx="118872" cy="118872"/>
          </a:xfrm>
          <a:prstGeom prst="rect">
            <a:avLst/>
          </a:prstGeom>
          <a:solidFill>
            <a:srgbClr val="F59E0B"/>
          </a:solidFill>
          <a:ln/>
        </p:spPr>
        <p:txBody>
          <a:bodyPr/>
          <a:lstStyle/>
          <a:p>
            <a:endParaRPr lang="en-SE"/>
          </a:p>
        </p:txBody>
      </p:sp>
      <p:sp>
        <p:nvSpPr>
          <p:cNvPr id="34" name="Text 30"/>
          <p:cNvSpPr/>
          <p:nvPr/>
        </p:nvSpPr>
        <p:spPr>
          <a:xfrm>
            <a:off x="6629400" y="3310128"/>
            <a:ext cx="5074920" cy="292608"/>
          </a:xfrm>
          <a:prstGeom prst="rect">
            <a:avLst/>
          </a:prstGeom>
          <a:noFill/>
          <a:ln/>
        </p:spPr>
        <p:txBody>
          <a:bodyPr wrap="square" lIns="0" tIns="0" rIns="0" bIns="0" rtlCol="0" anchor="ctr"/>
          <a:lstStyle/>
          <a:p>
            <a:pPr marL="0" indent="0">
              <a:buNone/>
            </a:pPr>
            <a:r>
              <a:rPr lang="en-US" sz="1200" b="1" dirty="0">
                <a:solidFill>
                  <a:srgbClr val="0A1A2F"/>
                </a:solidFill>
                <a:latin typeface="Calibri" pitchFamily="34" charset="0"/>
                <a:ea typeface="Calibri" pitchFamily="34" charset="-122"/>
                <a:cs typeface="Calibri" pitchFamily="34" charset="-120"/>
              </a:rPr>
              <a:t>Swedish</a:t>
            </a:r>
            <a:endParaRPr lang="en-US" sz="1200" dirty="0"/>
          </a:p>
        </p:txBody>
      </p:sp>
      <p:sp>
        <p:nvSpPr>
          <p:cNvPr id="35" name="Text 31"/>
          <p:cNvSpPr/>
          <p:nvPr/>
        </p:nvSpPr>
        <p:spPr>
          <a:xfrm>
            <a:off x="6629400" y="3566160"/>
            <a:ext cx="5074920" cy="256032"/>
          </a:xfrm>
          <a:prstGeom prst="rect">
            <a:avLst/>
          </a:prstGeom>
          <a:noFill/>
          <a:ln/>
        </p:spPr>
        <p:txBody>
          <a:bodyPr wrap="square" lIns="0" tIns="0" rIns="0" bIns="0" rtlCol="0" anchor="ctr"/>
          <a:lstStyle/>
          <a:p>
            <a:pPr marL="0" indent="0">
              <a:buNone/>
            </a:pPr>
            <a:r>
              <a:rPr lang="en-US" sz="980" dirty="0">
                <a:solidFill>
                  <a:srgbClr val="6B7280"/>
                </a:solidFill>
                <a:latin typeface="Calibri" pitchFamily="34" charset="0"/>
                <a:ea typeface="Calibri" pitchFamily="34" charset="-122"/>
                <a:cs typeface="Calibri" pitchFamily="34" charset="-120"/>
              </a:rPr>
              <a:t>Fluent — interviews and operational meetings</a:t>
            </a:r>
            <a:endParaRPr lang="en-US" sz="980" dirty="0"/>
          </a:p>
        </p:txBody>
      </p:sp>
      <p:sp>
        <p:nvSpPr>
          <p:cNvPr id="36" name="Shape 32"/>
          <p:cNvSpPr/>
          <p:nvPr/>
        </p:nvSpPr>
        <p:spPr>
          <a:xfrm>
            <a:off x="457200" y="4023360"/>
            <a:ext cx="5623560" cy="2194560"/>
          </a:xfrm>
          <a:prstGeom prst="rect">
            <a:avLst/>
          </a:prstGeom>
          <a:solidFill>
            <a:srgbClr val="FFFFFF"/>
          </a:solidFill>
          <a:ln w="9525">
            <a:solidFill>
              <a:srgbClr val="E5E7EB"/>
            </a:solidFill>
            <a:prstDash val="solid"/>
          </a:ln>
        </p:spPr>
        <p:txBody>
          <a:bodyPr/>
          <a:lstStyle/>
          <a:p>
            <a:endParaRPr lang="en-SE"/>
          </a:p>
        </p:txBody>
      </p:sp>
      <p:sp>
        <p:nvSpPr>
          <p:cNvPr id="37" name="Shape 33"/>
          <p:cNvSpPr/>
          <p:nvPr/>
        </p:nvSpPr>
        <p:spPr>
          <a:xfrm>
            <a:off x="457200" y="4023360"/>
            <a:ext cx="5623560" cy="594360"/>
          </a:xfrm>
          <a:prstGeom prst="rect">
            <a:avLst/>
          </a:prstGeom>
          <a:solidFill>
            <a:srgbClr val="0A1A2F"/>
          </a:solidFill>
          <a:ln/>
        </p:spPr>
        <p:txBody>
          <a:bodyPr/>
          <a:lstStyle/>
          <a:p>
            <a:endParaRPr lang="en-SE"/>
          </a:p>
        </p:txBody>
      </p:sp>
      <p:sp>
        <p:nvSpPr>
          <p:cNvPr id="38" name="Shape 34"/>
          <p:cNvSpPr/>
          <p:nvPr/>
        </p:nvSpPr>
        <p:spPr>
          <a:xfrm>
            <a:off x="457200" y="4617720"/>
            <a:ext cx="5623560" cy="45720"/>
          </a:xfrm>
          <a:prstGeom prst="rect">
            <a:avLst/>
          </a:prstGeom>
          <a:solidFill>
            <a:srgbClr val="2DD4BF"/>
          </a:solidFill>
          <a:ln/>
        </p:spPr>
        <p:txBody>
          <a:bodyPr/>
          <a:lstStyle/>
          <a:p>
            <a:endParaRPr lang="en-SE"/>
          </a:p>
        </p:txBody>
      </p:sp>
      <p:sp>
        <p:nvSpPr>
          <p:cNvPr id="39" name="Shape 35"/>
          <p:cNvSpPr/>
          <p:nvPr/>
        </p:nvSpPr>
        <p:spPr>
          <a:xfrm>
            <a:off x="658368" y="4146804"/>
            <a:ext cx="347472" cy="347472"/>
          </a:xfrm>
          <a:prstGeom prst="ellipse">
            <a:avLst/>
          </a:prstGeom>
          <a:solidFill>
            <a:srgbClr val="2DD4BF"/>
          </a:solidFill>
          <a:ln/>
        </p:spPr>
        <p:txBody>
          <a:bodyPr/>
          <a:lstStyle/>
          <a:p>
            <a:endParaRPr lang="en-SE"/>
          </a:p>
        </p:txBody>
      </p:sp>
      <p:pic>
        <p:nvPicPr>
          <p:cNvPr id="40" name="Image 2" descr="preencoded.png"/>
          <p:cNvPicPr>
            <a:picLocks noChangeAspect="1"/>
          </p:cNvPicPr>
          <p:nvPr/>
        </p:nvPicPr>
        <p:blipFill>
          <a:blip r:embed="rId5"/>
          <a:stretch>
            <a:fillRect/>
          </a:stretch>
        </p:blipFill>
        <p:spPr>
          <a:xfrm>
            <a:off x="726948" y="4215384"/>
            <a:ext cx="210312" cy="210312"/>
          </a:xfrm>
          <a:prstGeom prst="rect">
            <a:avLst/>
          </a:prstGeom>
        </p:spPr>
      </p:pic>
      <p:sp>
        <p:nvSpPr>
          <p:cNvPr id="41" name="Text 36"/>
          <p:cNvSpPr/>
          <p:nvPr/>
        </p:nvSpPr>
        <p:spPr>
          <a:xfrm>
            <a:off x="1097280" y="4023360"/>
            <a:ext cx="4892040" cy="594360"/>
          </a:xfrm>
          <a:prstGeom prst="rect">
            <a:avLst/>
          </a:prstGeom>
          <a:noFill/>
          <a:ln/>
        </p:spPr>
        <p:txBody>
          <a:bodyPr wrap="square" lIns="0" tIns="0" rIns="0" bIns="0" rtlCol="0" anchor="ctr"/>
          <a:lstStyle/>
          <a:p>
            <a:pPr marL="0" indent="0">
              <a:buNone/>
            </a:pPr>
            <a:r>
              <a:rPr lang="en-US" sz="1250" b="1" kern="0" spc="300" dirty="0">
                <a:solidFill>
                  <a:srgbClr val="FFFFFF"/>
                </a:solidFill>
                <a:latin typeface="Calibri" pitchFamily="34" charset="0"/>
                <a:ea typeface="Calibri" pitchFamily="34" charset="-122"/>
                <a:cs typeface="Calibri" pitchFamily="34" charset="-120"/>
              </a:rPr>
              <a:t>EXECUTIVE  &amp;  LEADERSHIP  PROGRAMS</a:t>
            </a:r>
            <a:endParaRPr lang="en-US" sz="1250" dirty="0"/>
          </a:p>
        </p:txBody>
      </p:sp>
      <p:sp>
        <p:nvSpPr>
          <p:cNvPr id="42" name="Shape 37"/>
          <p:cNvSpPr/>
          <p:nvPr/>
        </p:nvSpPr>
        <p:spPr>
          <a:xfrm>
            <a:off x="685800" y="4919472"/>
            <a:ext cx="118872" cy="118872"/>
          </a:xfrm>
          <a:prstGeom prst="rect">
            <a:avLst/>
          </a:prstGeom>
          <a:solidFill>
            <a:srgbClr val="F59E0B"/>
          </a:solidFill>
          <a:ln/>
        </p:spPr>
        <p:txBody>
          <a:bodyPr/>
          <a:lstStyle/>
          <a:p>
            <a:endParaRPr lang="en-SE"/>
          </a:p>
        </p:txBody>
      </p:sp>
      <p:sp>
        <p:nvSpPr>
          <p:cNvPr id="43" name="Text 38"/>
          <p:cNvSpPr/>
          <p:nvPr/>
        </p:nvSpPr>
        <p:spPr>
          <a:xfrm>
            <a:off x="868680" y="4800600"/>
            <a:ext cx="5074920" cy="292608"/>
          </a:xfrm>
          <a:prstGeom prst="rect">
            <a:avLst/>
          </a:prstGeom>
          <a:noFill/>
          <a:ln/>
        </p:spPr>
        <p:txBody>
          <a:bodyPr wrap="square" lIns="0" tIns="0" rIns="0" bIns="0" rtlCol="0" anchor="ctr"/>
          <a:lstStyle/>
          <a:p>
            <a:pPr marL="0" indent="0">
              <a:buNone/>
            </a:pPr>
            <a:r>
              <a:rPr lang="en-US" sz="1200" b="1" dirty="0">
                <a:solidFill>
                  <a:srgbClr val="0A1A2F"/>
                </a:solidFill>
                <a:latin typeface="Calibri" pitchFamily="34" charset="0"/>
                <a:ea typeface="Calibri" pitchFamily="34" charset="-122"/>
                <a:cs typeface="Calibri" pitchFamily="34" charset="-120"/>
              </a:rPr>
              <a:t>Pernod Ricard Leadership Programme</a:t>
            </a:r>
            <a:endParaRPr lang="en-US" sz="1200" dirty="0"/>
          </a:p>
        </p:txBody>
      </p:sp>
      <p:sp>
        <p:nvSpPr>
          <p:cNvPr id="44" name="Text 39"/>
          <p:cNvSpPr/>
          <p:nvPr/>
        </p:nvSpPr>
        <p:spPr>
          <a:xfrm>
            <a:off x="868680" y="5056632"/>
            <a:ext cx="5074920" cy="256032"/>
          </a:xfrm>
          <a:prstGeom prst="rect">
            <a:avLst/>
          </a:prstGeom>
          <a:noFill/>
          <a:ln/>
        </p:spPr>
        <p:txBody>
          <a:bodyPr wrap="square" lIns="0" tIns="0" rIns="0" bIns="0" rtlCol="0" anchor="ctr"/>
          <a:lstStyle/>
          <a:p>
            <a:pPr marL="0" indent="0">
              <a:buNone/>
            </a:pPr>
            <a:r>
              <a:rPr lang="en-US" sz="980" dirty="0">
                <a:solidFill>
                  <a:srgbClr val="6B7280"/>
                </a:solidFill>
                <a:latin typeface="Calibri" pitchFamily="34" charset="0"/>
                <a:ea typeface="Calibri" pitchFamily="34" charset="-122"/>
                <a:cs typeface="Calibri" pitchFamily="34" charset="-120"/>
              </a:rPr>
              <a:t>Group flagship for senior leaders</a:t>
            </a:r>
            <a:endParaRPr lang="en-US" sz="980" dirty="0"/>
          </a:p>
        </p:txBody>
      </p:sp>
      <p:sp>
        <p:nvSpPr>
          <p:cNvPr id="45" name="Shape 40"/>
          <p:cNvSpPr/>
          <p:nvPr/>
        </p:nvSpPr>
        <p:spPr>
          <a:xfrm>
            <a:off x="685800" y="5340096"/>
            <a:ext cx="118872" cy="118872"/>
          </a:xfrm>
          <a:prstGeom prst="rect">
            <a:avLst/>
          </a:prstGeom>
          <a:solidFill>
            <a:srgbClr val="F59E0B"/>
          </a:solidFill>
          <a:ln/>
        </p:spPr>
        <p:txBody>
          <a:bodyPr/>
          <a:lstStyle/>
          <a:p>
            <a:endParaRPr lang="en-SE"/>
          </a:p>
        </p:txBody>
      </p:sp>
      <p:sp>
        <p:nvSpPr>
          <p:cNvPr id="46" name="Text 41"/>
          <p:cNvSpPr/>
          <p:nvPr/>
        </p:nvSpPr>
        <p:spPr>
          <a:xfrm>
            <a:off x="868680" y="5221224"/>
            <a:ext cx="5074920" cy="292608"/>
          </a:xfrm>
          <a:prstGeom prst="rect">
            <a:avLst/>
          </a:prstGeom>
          <a:noFill/>
          <a:ln/>
        </p:spPr>
        <p:txBody>
          <a:bodyPr wrap="square" lIns="0" tIns="0" rIns="0" bIns="0" rtlCol="0" anchor="ctr"/>
          <a:lstStyle/>
          <a:p>
            <a:pPr marL="0" indent="0">
              <a:buNone/>
            </a:pPr>
            <a:r>
              <a:rPr lang="en-US" sz="1200" b="1" dirty="0">
                <a:solidFill>
                  <a:srgbClr val="0A1A2F"/>
                </a:solidFill>
                <a:latin typeface="Calibri" pitchFamily="34" charset="0"/>
                <a:ea typeface="Calibri" pitchFamily="34" charset="-122"/>
                <a:cs typeface="Calibri" pitchFamily="34" charset="-120"/>
              </a:rPr>
              <a:t>IFL Executive Programme</a:t>
            </a:r>
            <a:endParaRPr lang="en-US" sz="1200" dirty="0"/>
          </a:p>
        </p:txBody>
      </p:sp>
      <p:sp>
        <p:nvSpPr>
          <p:cNvPr id="47" name="Text 42"/>
          <p:cNvSpPr/>
          <p:nvPr/>
        </p:nvSpPr>
        <p:spPr>
          <a:xfrm>
            <a:off x="868680" y="5477256"/>
            <a:ext cx="5074920" cy="256032"/>
          </a:xfrm>
          <a:prstGeom prst="rect">
            <a:avLst/>
          </a:prstGeom>
          <a:noFill/>
          <a:ln/>
        </p:spPr>
        <p:txBody>
          <a:bodyPr wrap="square" lIns="0" tIns="0" rIns="0" bIns="0" rtlCol="0" anchor="ctr"/>
          <a:lstStyle/>
          <a:p>
            <a:pPr marL="0" indent="0">
              <a:buNone/>
            </a:pPr>
            <a:r>
              <a:rPr lang="en-US" sz="980" dirty="0">
                <a:solidFill>
                  <a:srgbClr val="6B7280"/>
                </a:solidFill>
                <a:latin typeface="Calibri" pitchFamily="34" charset="0"/>
                <a:ea typeface="Calibri" pitchFamily="34" charset="-122"/>
                <a:cs typeface="Calibri" pitchFamily="34" charset="-120"/>
              </a:rPr>
              <a:t>Strategy · leadership · finance</a:t>
            </a:r>
            <a:endParaRPr lang="en-US" sz="980" dirty="0"/>
          </a:p>
        </p:txBody>
      </p:sp>
      <p:sp>
        <p:nvSpPr>
          <p:cNvPr id="48" name="Shape 43"/>
          <p:cNvSpPr/>
          <p:nvPr/>
        </p:nvSpPr>
        <p:spPr>
          <a:xfrm>
            <a:off x="685800" y="5760720"/>
            <a:ext cx="118872" cy="118872"/>
          </a:xfrm>
          <a:prstGeom prst="rect">
            <a:avLst/>
          </a:prstGeom>
          <a:solidFill>
            <a:srgbClr val="F59E0B"/>
          </a:solidFill>
          <a:ln/>
        </p:spPr>
        <p:txBody>
          <a:bodyPr/>
          <a:lstStyle/>
          <a:p>
            <a:endParaRPr lang="en-SE"/>
          </a:p>
        </p:txBody>
      </p:sp>
      <p:sp>
        <p:nvSpPr>
          <p:cNvPr id="49" name="Text 44"/>
          <p:cNvSpPr/>
          <p:nvPr/>
        </p:nvSpPr>
        <p:spPr>
          <a:xfrm>
            <a:off x="868680" y="5641848"/>
            <a:ext cx="5074920" cy="292608"/>
          </a:xfrm>
          <a:prstGeom prst="rect">
            <a:avLst/>
          </a:prstGeom>
          <a:noFill/>
          <a:ln/>
        </p:spPr>
        <p:txBody>
          <a:bodyPr wrap="square" lIns="0" tIns="0" rIns="0" bIns="0" rtlCol="0" anchor="ctr"/>
          <a:lstStyle/>
          <a:p>
            <a:pPr marL="0" indent="0">
              <a:buNone/>
            </a:pPr>
            <a:r>
              <a:rPr lang="en-US" sz="1200" b="1" dirty="0">
                <a:solidFill>
                  <a:srgbClr val="0A1A2F"/>
                </a:solidFill>
                <a:latin typeface="Calibri" pitchFamily="34" charset="0"/>
                <a:ea typeface="Calibri" pitchFamily="34" charset="-122"/>
                <a:cs typeface="Calibri" pitchFamily="34" charset="-120"/>
              </a:rPr>
              <a:t>~20 years tenure at Pernod Ricard</a:t>
            </a:r>
            <a:endParaRPr lang="en-US" sz="1200" dirty="0"/>
          </a:p>
        </p:txBody>
      </p:sp>
      <p:sp>
        <p:nvSpPr>
          <p:cNvPr id="50" name="Text 45"/>
          <p:cNvSpPr/>
          <p:nvPr/>
        </p:nvSpPr>
        <p:spPr>
          <a:xfrm>
            <a:off x="868680" y="5897880"/>
            <a:ext cx="5074920" cy="256032"/>
          </a:xfrm>
          <a:prstGeom prst="rect">
            <a:avLst/>
          </a:prstGeom>
          <a:noFill/>
          <a:ln/>
        </p:spPr>
        <p:txBody>
          <a:bodyPr wrap="square" lIns="0" tIns="0" rIns="0" bIns="0" rtlCol="0" anchor="ctr"/>
          <a:lstStyle/>
          <a:p>
            <a:pPr marL="0" indent="0">
              <a:buNone/>
            </a:pPr>
            <a:r>
              <a:rPr lang="en-US" sz="980" dirty="0">
                <a:solidFill>
                  <a:srgbClr val="6B7280"/>
                </a:solidFill>
                <a:latin typeface="Calibri" pitchFamily="34" charset="0"/>
                <a:ea typeface="Calibri" pitchFamily="34" charset="-122"/>
                <a:cs typeface="Calibri" pitchFamily="34" charset="-120"/>
              </a:rPr>
              <a:t>Deep operating experience in global FMCG</a:t>
            </a:r>
            <a:endParaRPr lang="en-US" sz="980" dirty="0"/>
          </a:p>
        </p:txBody>
      </p:sp>
      <p:sp>
        <p:nvSpPr>
          <p:cNvPr id="51" name="Shape 46"/>
          <p:cNvSpPr/>
          <p:nvPr/>
        </p:nvSpPr>
        <p:spPr>
          <a:xfrm>
            <a:off x="6217920" y="4023360"/>
            <a:ext cx="5623560" cy="2194560"/>
          </a:xfrm>
          <a:prstGeom prst="rect">
            <a:avLst/>
          </a:prstGeom>
          <a:solidFill>
            <a:srgbClr val="FFFFFF"/>
          </a:solidFill>
          <a:ln w="9525">
            <a:solidFill>
              <a:srgbClr val="E5E7EB"/>
            </a:solidFill>
            <a:prstDash val="solid"/>
          </a:ln>
        </p:spPr>
        <p:txBody>
          <a:bodyPr/>
          <a:lstStyle/>
          <a:p>
            <a:endParaRPr lang="en-SE"/>
          </a:p>
        </p:txBody>
      </p:sp>
      <p:sp>
        <p:nvSpPr>
          <p:cNvPr id="52" name="Shape 47"/>
          <p:cNvSpPr/>
          <p:nvPr/>
        </p:nvSpPr>
        <p:spPr>
          <a:xfrm>
            <a:off x="6217920" y="4023360"/>
            <a:ext cx="5623560" cy="594360"/>
          </a:xfrm>
          <a:prstGeom prst="rect">
            <a:avLst/>
          </a:prstGeom>
          <a:solidFill>
            <a:srgbClr val="0A1A2F"/>
          </a:solidFill>
          <a:ln/>
        </p:spPr>
        <p:txBody>
          <a:bodyPr/>
          <a:lstStyle/>
          <a:p>
            <a:endParaRPr lang="en-SE"/>
          </a:p>
        </p:txBody>
      </p:sp>
      <p:sp>
        <p:nvSpPr>
          <p:cNvPr id="53" name="Shape 48"/>
          <p:cNvSpPr/>
          <p:nvPr/>
        </p:nvSpPr>
        <p:spPr>
          <a:xfrm>
            <a:off x="6217920" y="4617720"/>
            <a:ext cx="5623560" cy="45720"/>
          </a:xfrm>
          <a:prstGeom prst="rect">
            <a:avLst/>
          </a:prstGeom>
          <a:solidFill>
            <a:srgbClr val="2DD4BF"/>
          </a:solidFill>
          <a:ln/>
        </p:spPr>
        <p:txBody>
          <a:bodyPr/>
          <a:lstStyle/>
          <a:p>
            <a:endParaRPr lang="en-SE"/>
          </a:p>
        </p:txBody>
      </p:sp>
      <p:sp>
        <p:nvSpPr>
          <p:cNvPr id="54" name="Shape 49"/>
          <p:cNvSpPr/>
          <p:nvPr/>
        </p:nvSpPr>
        <p:spPr>
          <a:xfrm>
            <a:off x="6419088" y="4146804"/>
            <a:ext cx="347472" cy="347472"/>
          </a:xfrm>
          <a:prstGeom prst="ellipse">
            <a:avLst/>
          </a:prstGeom>
          <a:solidFill>
            <a:srgbClr val="2DD4BF"/>
          </a:solidFill>
          <a:ln/>
        </p:spPr>
        <p:txBody>
          <a:bodyPr/>
          <a:lstStyle/>
          <a:p>
            <a:endParaRPr lang="en-SE"/>
          </a:p>
        </p:txBody>
      </p:sp>
      <p:pic>
        <p:nvPicPr>
          <p:cNvPr id="55" name="Image 3" descr="preencoded.png"/>
          <p:cNvPicPr>
            <a:picLocks noChangeAspect="1"/>
          </p:cNvPicPr>
          <p:nvPr/>
        </p:nvPicPr>
        <p:blipFill>
          <a:blip r:embed="rId6"/>
          <a:stretch>
            <a:fillRect/>
          </a:stretch>
        </p:blipFill>
        <p:spPr>
          <a:xfrm>
            <a:off x="6487668" y="4215384"/>
            <a:ext cx="210312" cy="210312"/>
          </a:xfrm>
          <a:prstGeom prst="rect">
            <a:avLst/>
          </a:prstGeom>
        </p:spPr>
      </p:pic>
      <p:sp>
        <p:nvSpPr>
          <p:cNvPr id="56" name="Text 50"/>
          <p:cNvSpPr/>
          <p:nvPr/>
        </p:nvSpPr>
        <p:spPr>
          <a:xfrm>
            <a:off x="6858000" y="4023360"/>
            <a:ext cx="4892040" cy="594360"/>
          </a:xfrm>
          <a:prstGeom prst="rect">
            <a:avLst/>
          </a:prstGeom>
          <a:noFill/>
          <a:ln/>
        </p:spPr>
        <p:txBody>
          <a:bodyPr wrap="square" lIns="0" tIns="0" rIns="0" bIns="0" rtlCol="0" anchor="ctr"/>
          <a:lstStyle/>
          <a:p>
            <a:pPr marL="0" indent="0">
              <a:buNone/>
            </a:pPr>
            <a:r>
              <a:rPr lang="en-US" sz="1250" b="1" kern="0" spc="300" dirty="0">
                <a:solidFill>
                  <a:srgbClr val="FFFFFF"/>
                </a:solidFill>
                <a:latin typeface="Calibri" pitchFamily="34" charset="0"/>
                <a:ea typeface="Calibri" pitchFamily="34" charset="-122"/>
                <a:cs typeface="Calibri" pitchFamily="34" charset="-120"/>
              </a:rPr>
              <a:t>CONTINUOUS  LEARNING  &amp;  TECHNOLOGY</a:t>
            </a:r>
            <a:endParaRPr lang="en-US" sz="1250" dirty="0"/>
          </a:p>
        </p:txBody>
      </p:sp>
      <p:sp>
        <p:nvSpPr>
          <p:cNvPr id="57" name="Shape 51"/>
          <p:cNvSpPr/>
          <p:nvPr/>
        </p:nvSpPr>
        <p:spPr>
          <a:xfrm>
            <a:off x="6446520" y="4919472"/>
            <a:ext cx="118872" cy="118872"/>
          </a:xfrm>
          <a:prstGeom prst="rect">
            <a:avLst/>
          </a:prstGeom>
          <a:solidFill>
            <a:srgbClr val="F59E0B"/>
          </a:solidFill>
          <a:ln/>
        </p:spPr>
        <p:txBody>
          <a:bodyPr/>
          <a:lstStyle/>
          <a:p>
            <a:endParaRPr lang="en-SE"/>
          </a:p>
        </p:txBody>
      </p:sp>
      <p:sp>
        <p:nvSpPr>
          <p:cNvPr id="58" name="Text 52"/>
          <p:cNvSpPr/>
          <p:nvPr/>
        </p:nvSpPr>
        <p:spPr>
          <a:xfrm>
            <a:off x="6629400" y="4800600"/>
            <a:ext cx="5074920" cy="292608"/>
          </a:xfrm>
          <a:prstGeom prst="rect">
            <a:avLst/>
          </a:prstGeom>
          <a:noFill/>
          <a:ln/>
        </p:spPr>
        <p:txBody>
          <a:bodyPr wrap="square" lIns="0" tIns="0" rIns="0" bIns="0" rtlCol="0" anchor="ctr"/>
          <a:lstStyle/>
          <a:p>
            <a:pPr marL="0" indent="0">
              <a:buNone/>
            </a:pPr>
            <a:r>
              <a:rPr lang="en-US" sz="1200" b="1" dirty="0">
                <a:solidFill>
                  <a:srgbClr val="0A1A2F"/>
                </a:solidFill>
                <a:latin typeface="Calibri" pitchFamily="34" charset="0"/>
                <a:ea typeface="Calibri" pitchFamily="34" charset="-122"/>
                <a:cs typeface="Calibri" pitchFamily="34" charset="-120"/>
              </a:rPr>
              <a:t>Generative AI — ongoing programme (2025)</a:t>
            </a:r>
            <a:endParaRPr lang="en-US" sz="1200" dirty="0"/>
          </a:p>
        </p:txBody>
      </p:sp>
      <p:sp>
        <p:nvSpPr>
          <p:cNvPr id="59" name="Text 53"/>
          <p:cNvSpPr/>
          <p:nvPr/>
        </p:nvSpPr>
        <p:spPr>
          <a:xfrm>
            <a:off x="6629400" y="5056632"/>
            <a:ext cx="5074920" cy="256032"/>
          </a:xfrm>
          <a:prstGeom prst="rect">
            <a:avLst/>
          </a:prstGeom>
          <a:noFill/>
          <a:ln/>
        </p:spPr>
        <p:txBody>
          <a:bodyPr wrap="square" lIns="0" tIns="0" rIns="0" bIns="0" rtlCol="0" anchor="ctr"/>
          <a:lstStyle/>
          <a:p>
            <a:pPr marL="0" indent="0">
              <a:buNone/>
            </a:pPr>
            <a:r>
              <a:rPr lang="en-US" sz="980" dirty="0">
                <a:solidFill>
                  <a:srgbClr val="6B7280"/>
                </a:solidFill>
                <a:latin typeface="Calibri" pitchFamily="34" charset="0"/>
                <a:ea typeface="Calibri" pitchFamily="34" charset="-122"/>
                <a:cs typeface="Calibri" pitchFamily="34" charset="-120"/>
              </a:rPr>
              <a:t>Use-case framing, governance and value capture</a:t>
            </a:r>
            <a:endParaRPr lang="en-US" sz="980" dirty="0"/>
          </a:p>
        </p:txBody>
      </p:sp>
      <p:sp>
        <p:nvSpPr>
          <p:cNvPr id="60" name="Shape 54"/>
          <p:cNvSpPr/>
          <p:nvPr/>
        </p:nvSpPr>
        <p:spPr>
          <a:xfrm>
            <a:off x="6446520" y="5340096"/>
            <a:ext cx="118872" cy="118872"/>
          </a:xfrm>
          <a:prstGeom prst="rect">
            <a:avLst/>
          </a:prstGeom>
          <a:solidFill>
            <a:srgbClr val="F59E0B"/>
          </a:solidFill>
          <a:ln/>
        </p:spPr>
        <p:txBody>
          <a:bodyPr/>
          <a:lstStyle/>
          <a:p>
            <a:endParaRPr lang="en-SE"/>
          </a:p>
        </p:txBody>
      </p:sp>
      <p:sp>
        <p:nvSpPr>
          <p:cNvPr id="61" name="Text 55"/>
          <p:cNvSpPr/>
          <p:nvPr/>
        </p:nvSpPr>
        <p:spPr>
          <a:xfrm>
            <a:off x="6629400" y="5221224"/>
            <a:ext cx="5074920" cy="292608"/>
          </a:xfrm>
          <a:prstGeom prst="rect">
            <a:avLst/>
          </a:prstGeom>
          <a:noFill/>
          <a:ln/>
        </p:spPr>
        <p:txBody>
          <a:bodyPr wrap="square" lIns="0" tIns="0" rIns="0" bIns="0" rtlCol="0" anchor="ctr"/>
          <a:lstStyle/>
          <a:p>
            <a:pPr marL="0" indent="0">
              <a:buNone/>
            </a:pPr>
            <a:r>
              <a:rPr lang="en-US" sz="1200" b="1" dirty="0">
                <a:solidFill>
                  <a:srgbClr val="0A1A2F"/>
                </a:solidFill>
                <a:latin typeface="Calibri" pitchFamily="34" charset="0"/>
                <a:ea typeface="Calibri" pitchFamily="34" charset="-122"/>
                <a:cs typeface="Calibri" pitchFamily="34" charset="-120"/>
              </a:rPr>
              <a:t>Modern data stack practitioner</a:t>
            </a:r>
            <a:endParaRPr lang="en-US" sz="1200" dirty="0"/>
          </a:p>
        </p:txBody>
      </p:sp>
      <p:sp>
        <p:nvSpPr>
          <p:cNvPr id="62" name="Text 56"/>
          <p:cNvSpPr/>
          <p:nvPr/>
        </p:nvSpPr>
        <p:spPr>
          <a:xfrm>
            <a:off x="6629400" y="5477256"/>
            <a:ext cx="5074920" cy="256032"/>
          </a:xfrm>
          <a:prstGeom prst="rect">
            <a:avLst/>
          </a:prstGeom>
          <a:noFill/>
          <a:ln/>
        </p:spPr>
        <p:txBody>
          <a:bodyPr wrap="square" lIns="0" tIns="0" rIns="0" bIns="0" rtlCol="0" anchor="ctr"/>
          <a:lstStyle/>
          <a:p>
            <a:pPr marL="0" indent="0">
              <a:buNone/>
            </a:pPr>
            <a:r>
              <a:rPr lang="en-US" sz="980" dirty="0">
                <a:solidFill>
                  <a:srgbClr val="6B7280"/>
                </a:solidFill>
                <a:latin typeface="Calibri" pitchFamily="34" charset="0"/>
                <a:ea typeface="Calibri" pitchFamily="34" charset="-122"/>
                <a:cs typeface="Calibri" pitchFamily="34" charset="-120"/>
              </a:rPr>
              <a:t>Snowflake · DBT · Azure · Power BI</a:t>
            </a:r>
            <a:endParaRPr lang="en-US" sz="980" dirty="0"/>
          </a:p>
        </p:txBody>
      </p:sp>
      <p:sp>
        <p:nvSpPr>
          <p:cNvPr id="63" name="Shape 57"/>
          <p:cNvSpPr/>
          <p:nvPr/>
        </p:nvSpPr>
        <p:spPr>
          <a:xfrm>
            <a:off x="6446520" y="5760720"/>
            <a:ext cx="118872" cy="118872"/>
          </a:xfrm>
          <a:prstGeom prst="rect">
            <a:avLst/>
          </a:prstGeom>
          <a:solidFill>
            <a:srgbClr val="F59E0B"/>
          </a:solidFill>
          <a:ln/>
        </p:spPr>
        <p:txBody>
          <a:bodyPr/>
          <a:lstStyle/>
          <a:p>
            <a:endParaRPr lang="en-SE"/>
          </a:p>
        </p:txBody>
      </p:sp>
      <p:sp>
        <p:nvSpPr>
          <p:cNvPr id="64" name="Text 58"/>
          <p:cNvSpPr/>
          <p:nvPr/>
        </p:nvSpPr>
        <p:spPr>
          <a:xfrm>
            <a:off x="6629400" y="5641848"/>
            <a:ext cx="5074920" cy="292608"/>
          </a:xfrm>
          <a:prstGeom prst="rect">
            <a:avLst/>
          </a:prstGeom>
          <a:noFill/>
          <a:ln/>
        </p:spPr>
        <p:txBody>
          <a:bodyPr wrap="square" lIns="0" tIns="0" rIns="0" bIns="0" rtlCol="0" anchor="ctr"/>
          <a:lstStyle/>
          <a:p>
            <a:pPr marL="0" indent="0">
              <a:buNone/>
            </a:pPr>
            <a:r>
              <a:rPr lang="en-US" sz="1200" b="1" dirty="0">
                <a:solidFill>
                  <a:srgbClr val="0A1A2F"/>
                </a:solidFill>
                <a:latin typeface="Calibri" pitchFamily="34" charset="0"/>
                <a:ea typeface="Calibri" pitchFamily="34" charset="-122"/>
                <a:cs typeface="Calibri" pitchFamily="34" charset="-120"/>
              </a:rPr>
              <a:t>IoT &amp; edge data</a:t>
            </a:r>
            <a:endParaRPr lang="en-US" sz="1200" dirty="0"/>
          </a:p>
        </p:txBody>
      </p:sp>
      <p:sp>
        <p:nvSpPr>
          <p:cNvPr id="65" name="Text 59"/>
          <p:cNvSpPr/>
          <p:nvPr/>
        </p:nvSpPr>
        <p:spPr>
          <a:xfrm>
            <a:off x="6629400" y="5897880"/>
            <a:ext cx="5074920" cy="256032"/>
          </a:xfrm>
          <a:prstGeom prst="rect">
            <a:avLst/>
          </a:prstGeom>
          <a:noFill/>
          <a:ln/>
        </p:spPr>
        <p:txBody>
          <a:bodyPr wrap="square" lIns="0" tIns="0" rIns="0" bIns="0" rtlCol="0" anchor="ctr"/>
          <a:lstStyle/>
          <a:p>
            <a:pPr marL="0" indent="0">
              <a:buNone/>
            </a:pPr>
            <a:r>
              <a:rPr lang="en-US" sz="980" dirty="0">
                <a:solidFill>
                  <a:srgbClr val="6B7280"/>
                </a:solidFill>
                <a:latin typeface="Calibri" pitchFamily="34" charset="0"/>
                <a:ea typeface="Calibri" pitchFamily="34" charset="-122"/>
                <a:cs typeface="Calibri" pitchFamily="34" charset="-120"/>
              </a:rPr>
              <a:t>Production efficiency + B2C consumer behaviour</a:t>
            </a:r>
            <a:endParaRPr lang="en-US" sz="980" dirty="0"/>
          </a:p>
        </p:txBody>
      </p:sp>
      <p:sp>
        <p:nvSpPr>
          <p:cNvPr id="66" name="Text 60"/>
          <p:cNvSpPr/>
          <p:nvPr/>
        </p:nvSpPr>
        <p:spPr>
          <a:xfrm>
            <a:off x="457200" y="6263640"/>
            <a:ext cx="11274552" cy="256032"/>
          </a:xfrm>
          <a:prstGeom prst="rect">
            <a:avLst/>
          </a:prstGeom>
          <a:noFill/>
          <a:ln/>
        </p:spPr>
        <p:txBody>
          <a:bodyPr wrap="square" lIns="0" tIns="0" rIns="0" bIns="0" rtlCol="0" anchor="ctr"/>
          <a:lstStyle/>
          <a:p>
            <a:pPr marL="0" indent="0">
              <a:buNone/>
            </a:pPr>
            <a:r>
              <a:rPr lang="en-US" sz="1100" b="1" kern="0" spc="500" dirty="0">
                <a:solidFill>
                  <a:srgbClr val="F59E0B"/>
                </a:solidFill>
                <a:latin typeface="Calibri" pitchFamily="34" charset="0"/>
                <a:ea typeface="Calibri" pitchFamily="34" charset="-122"/>
                <a:cs typeface="Calibri" pitchFamily="34" charset="-120"/>
              </a:rPr>
              <a:t>TARGETING   </a:t>
            </a:r>
            <a:r>
              <a:rPr lang="en-US" sz="1100" b="1" dirty="0">
                <a:solidFill>
                  <a:srgbClr val="0A1A2F"/>
                </a:solidFill>
                <a:latin typeface="Calibri" pitchFamily="34" charset="0"/>
                <a:ea typeface="Calibri" pitchFamily="34" charset="-122"/>
                <a:cs typeface="Calibri" pitchFamily="34" charset="-120"/>
              </a:rPr>
              <a:t>CDO  ·  CIO  ·  Senior Transformation Leadership</a:t>
            </a:r>
            <a:r>
              <a:rPr lang="en-US" sz="1100" dirty="0">
                <a:solidFill>
                  <a:srgbClr val="E5E7EB"/>
                </a:solidFill>
                <a:latin typeface="Calibri" pitchFamily="34" charset="0"/>
                <a:ea typeface="Calibri" pitchFamily="34" charset="-122"/>
                <a:cs typeface="Calibri" pitchFamily="34" charset="-120"/>
              </a:rPr>
              <a:t>       |       </a:t>
            </a:r>
            <a:r>
              <a:rPr lang="en-US" sz="1100" i="1" dirty="0">
                <a:solidFill>
                  <a:srgbClr val="6B7280"/>
                </a:solidFill>
                <a:latin typeface="Calibri" pitchFamily="34" charset="0"/>
                <a:ea typeface="Calibri" pitchFamily="34" charset="-122"/>
                <a:cs typeface="Calibri" pitchFamily="34" charset="-120"/>
              </a:rPr>
              <a:t>Based in Stockholm — open to Nordics &amp; Europe</a:t>
            </a:r>
            <a:endParaRPr lang="en-US" sz="1100" dirty="0"/>
          </a:p>
        </p:txBody>
      </p:sp>
      <p:sp>
        <p:nvSpPr>
          <p:cNvPr id="67" name="Shape 61"/>
          <p:cNvSpPr/>
          <p:nvPr/>
        </p:nvSpPr>
        <p:spPr>
          <a:xfrm>
            <a:off x="457200" y="6547104"/>
            <a:ext cx="11274552" cy="0"/>
          </a:xfrm>
          <a:prstGeom prst="line">
            <a:avLst/>
          </a:prstGeom>
          <a:noFill/>
          <a:ln w="9525">
            <a:solidFill>
              <a:srgbClr val="E5E7EB"/>
            </a:solidFill>
            <a:prstDash val="solid"/>
          </a:ln>
        </p:spPr>
        <p:txBody>
          <a:bodyPr/>
          <a:lstStyle/>
          <a:p>
            <a:endParaRPr lang="en-SE"/>
          </a:p>
        </p:txBody>
      </p:sp>
      <p:sp>
        <p:nvSpPr>
          <p:cNvPr id="68" name="Text 62"/>
          <p:cNvSpPr/>
          <p:nvPr/>
        </p:nvSpPr>
        <p:spPr>
          <a:xfrm>
            <a:off x="457200" y="6592824"/>
            <a:ext cx="7315200" cy="201168"/>
          </a:xfrm>
          <a:prstGeom prst="rect">
            <a:avLst/>
          </a:prstGeom>
          <a:noFill/>
          <a:ln/>
        </p:spPr>
        <p:txBody>
          <a:bodyPr wrap="square" lIns="0" tIns="0" rIns="0" bIns="0" rtlCol="0" anchor="ctr"/>
          <a:lstStyle/>
          <a:p>
            <a:pPr marL="0" indent="0">
              <a:buNone/>
            </a:pPr>
            <a:r>
              <a:rPr lang="en-US" sz="850" b="1" kern="0" spc="400" dirty="0">
                <a:solidFill>
                  <a:srgbClr val="6B7280"/>
                </a:solidFill>
                <a:latin typeface="Calibri" pitchFamily="34" charset="0"/>
                <a:ea typeface="Calibri" pitchFamily="34" charset="-122"/>
                <a:cs typeface="Calibri" pitchFamily="34" charset="-120"/>
              </a:rPr>
              <a:t>GAUTHIER VAN WENT  ·  EXECUTIVE PROFILE</a:t>
            </a:r>
            <a:endParaRPr lang="en-US" sz="850" dirty="0"/>
          </a:p>
        </p:txBody>
      </p:sp>
      <p:sp>
        <p:nvSpPr>
          <p:cNvPr id="69" name="Text 63"/>
          <p:cNvSpPr/>
          <p:nvPr/>
        </p:nvSpPr>
        <p:spPr>
          <a:xfrm>
            <a:off x="8229600" y="6592824"/>
            <a:ext cx="3502152" cy="201168"/>
          </a:xfrm>
          <a:prstGeom prst="rect">
            <a:avLst/>
          </a:prstGeom>
          <a:noFill/>
          <a:ln/>
        </p:spPr>
        <p:txBody>
          <a:bodyPr wrap="square" lIns="0" tIns="0" rIns="0" bIns="0" rtlCol="0" anchor="ctr"/>
          <a:lstStyle/>
          <a:p>
            <a:pPr marL="0" indent="0" algn="r">
              <a:buNone/>
            </a:pPr>
            <a:r>
              <a:rPr lang="en-US" sz="850" b="1" kern="0" spc="400" dirty="0">
                <a:solidFill>
                  <a:srgbClr val="14B8A6"/>
                </a:solidFill>
                <a:latin typeface="Calibri" pitchFamily="34" charset="0"/>
                <a:ea typeface="Calibri" pitchFamily="34" charset="-122"/>
                <a:cs typeface="Calibri" pitchFamily="34" charset="-120"/>
              </a:rPr>
              <a:t>10  /  10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2175</TotalTime>
  <Words>2567</Words>
  <Application>Microsoft Office PowerPoint</Application>
  <PresentationFormat>Widescreen</PresentationFormat>
  <Paragraphs>366</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Profile — Gauthier Van Went</dc:title>
  <dc:subject>PptxGenJS Presentation</dc:subject>
  <dc:creator>Gauthier Van Went</dc:creator>
  <cp:lastModifiedBy>Gauthier VAN WENT</cp:lastModifiedBy>
  <cp:revision>3</cp:revision>
  <dcterms:created xsi:type="dcterms:W3CDTF">2026-05-06T18:38:57Z</dcterms:created>
  <dcterms:modified xsi:type="dcterms:W3CDTF">2026-05-11T15:20:24Z</dcterms:modified>
</cp:coreProperties>
</file>